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fae2347-936e-064f-8ed4-a0998c01a1d7}">
          <p14:sldIdLst>
            <p14:sldId id="256"/>
            <p14:sldId id="257"/>
            <p14:sldId id="258"/>
            <p14:sldId id="259"/>
            <p14:sldId id="260"/>
          </p14:sldIdLst>
        </p14:section>
        <p14:section name="Problem and Solution" id="{cbae0573-2a2d-505c-8571-f96a142b03ec}">
          <p14:sldIdLst>
            <p14:sldId id="261"/>
            <p14:sldId id="262"/>
            <p14:sldId id="263"/>
            <p14:sldId id="264"/>
          </p14:sldIdLst>
        </p14:section>
        <p14:section name="Design and Implementation" id="{8cf14231-e1cd-9b72-4eb7-4b8524fef667}">
          <p14:sldIdLst>
            <p14:sldId id="265"/>
            <p14:sldId id="266"/>
            <p14:sldId id="267"/>
            <p14:sldId id="268"/>
          </p14:sldIdLst>
        </p14:section>
        <p14:section name="Results" id="{1a9dbbfa-07a6-53ce-cb52-fee2276a8a35}">
          <p14:sldIdLst>
            <p14:sldId id="269"/>
            <p14:sldId id="270"/>
            <p14:sldId id="271"/>
            <p14:sldId id="272"/>
          </p14:sldIdLst>
        </p14:section>
        <p14:section name="Conclusion" id="{35a17518-b886-3ed5-fc20-9962f7f60af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Niraimathi M, a seventh-semester B.Tech Information Technology student. This review covers my one-month summer internship at Astonish InfoTech and the project I built: the Smart Course Enrollment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follows the project from background to results: where I interned, the problem, the design, the working output, testing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Astonish InfoTech is a Trichy-based software and web solutions company. Its four-step process of Discuss, Design, Develop and Deploy is the same lifecycle I followed for my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ran for 30 days in June 2026. I owned the project end to end: interface, backend, database integration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 days split into five phases. The first week was requirements and setup, then study and design, then building the foundation, the feature modules, and finally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training centres still use paper forms and spreadsheets. These eight limitations, from scattered course information to long queues, motivated a centralized web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guided the work. Together they cover the technology, the data model, the learner experience and the administrative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has six modules, from browsing categories through to the dashboard, all on one centralized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Python end to end on the server, with FastAPI for routing, Jinja2 for templates, MySQL for storage and Uvicorn to serve it. I developed it in Visual Studio Code and verified data in MySQL Workbench.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sends a request, a FastAPI route validates it, runs a SQL query on MySQL, renders a Jinja2 template and returns the HTML page. This separation makes the system easier to maintain and 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hold everything. Courses link to categories through a foreign key. Enrollments store the course and category by name, which is simple but is one of the improvements I list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enrollment algorithm. The browser validates first, the server cleans the values and inserts a Pending record, and the learner immediately sees either a success or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snippets show the engineering choices: parameterised queries so user input never becomes raw SQL, simple server-side login validation with an HTTP 303 redirect, and an init function that creates tables, upgrades older ones and seeds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home and login screens running locally on FastAPI with Uvicorn. The interface uses a dark gradient theme with card-based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category card links to the course catalog already filtered for that category. The catalog joins the courses and categories tables. In this capture each course appears twice because the sample data was seeded twice, which I document in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learner fills a short form and gets confirmation immediately. Every new enrollment is stored with Pending status and an automatic timestamp so staff can review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was done module by module, including edge cases such as empty fields and a stopped database. Testing also exposed six improvements, which feed directly into the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addresses the limitations found in testing: real authentication, an admin panel, seat management, notifications and payments, plus automated tests and cloud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the project replaced a manual process with a working, tested full stack application, and the internship gave me hands-on experience of the complete software development life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would be happy to take any questions about the project, the technology choices or the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Smart Course Enrollment System  |  Summer Internship Review</a:t>
            </a:r>
            <a:endParaRPr lang="en-US" sz="11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828800"/>
            <a:ext cx="713232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1"/>
          <p:cNvSpPr/>
          <p:nvPr>
            <p:ph idx="102" type="body" hasCustomPrompt="1"/>
          </p:nvPr>
        </p:nvSpPr>
        <p:spPr>
          <a:xfrm>
            <a:off x="731520" y="3703320"/>
            <a:ext cx="7132320" cy="5486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914400" y="2468880"/>
            <a:ext cx="10362895" cy="1188720"/>
          </a:xfrm>
          <a:prstGeom prst="rect">
            <a:avLst/>
          </a:prstGeom>
          <a:noFill/>
          <a:ln/>
        </p:spPr>
        <p:txBody>
          <a:bodyPr wrap="square" rtlCol="0"/>
          <a:lstStyle>
            <a:lvl1pPr algn="ctr" indent="0" marL="0">
              <a:buNone/>
              <a:defRPr lang="en-US" sz="5600" b="1" dirty="0">
                <a:solidFill>
                  <a:schemeClr val="bg1"/>
                </a:solidFill>
              </a:defRPr>
            </a:lvl1pPr>
          </a:lstStyle>
          <a:p>
            <a:pPr algn="ctr" indent="0" marL="0">
              <a:buNone/>
            </a:pPr>
            <a:endParaRPr lang="en-US" sz="5600" dirty="0"/>
          </a:p>
        </p:txBody>
      </p:sp>
      <p:sp>
        <p:nvSpPr>
          <p:cNvPr id="4" name="Text 1"/>
          <p:cNvSpPr/>
          <p:nvPr>
            <p:ph idx="102" type="body" hasCustomPrompt="1"/>
          </p:nvPr>
        </p:nvSpPr>
        <p:spPr>
          <a:xfrm>
            <a:off x="914400" y="3749040"/>
            <a:ext cx="10362895" cy="548640"/>
          </a:xfrm>
          <a:prstGeom prst="rect">
            <a:avLst/>
          </a:prstGeom>
          <a:noFill/>
          <a:ln/>
        </p:spPr>
        <p:txBody>
          <a:bodyPr wrap="square" rtlCol="0"/>
          <a:lstStyle>
            <a:lvl1pPr algn="ctr" indent="0" marL="0">
              <a:buNone/>
              <a:defRPr lang="en-US" sz="2400" dirty="0">
                <a:solidFill>
                  <a:schemeClr val="bg2"/>
                </a:solidFill>
              </a:defRPr>
            </a:lvl1pPr>
          </a:lstStyle>
          <a:p>
            <a:pPr algn="ct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34440"/>
            <a:ext cx="7132320" cy="365760"/>
          </a:xfrm>
          <a:prstGeom prst="rect">
            <a:avLst/>
          </a:prstGeom>
          <a:noFill/>
          <a:ln/>
        </p:spPr>
        <p:txBody>
          <a:bodyPr wrap="square" lIns="0" tIns="0" rIns="0" bIns="0" rtlCol="0" anchor="t"/>
          <a:lstStyle/>
          <a:p>
            <a:pPr indent="0" marL="0">
              <a:buNone/>
            </a:pPr>
            <a:r>
              <a:rPr lang="en-US" sz="1400" b="1" spc="400" kern="0" dirty="0">
                <a:solidFill>
                  <a:schemeClr val="accent2"/>
                </a:solidFill>
              </a:rPr>
              <a:t>SUMMER INTERNSHIP REVIEW  |  IT3711</a:t>
            </a:r>
            <a:endParaRPr lang="en-US" sz="1400" dirty="0"/>
          </a:p>
        </p:txBody>
      </p:sp>
      <p:sp>
        <p:nvSpPr>
          <p:cNvPr id="3" name="Text 1"/>
          <p:cNvSpPr/>
          <p:nvPr>
            <p:ph idx="101" type="title" hasCustomPrompt="1"/>
          </p:nvPr>
        </p:nvSpPr>
        <p:spPr>
          <a:xfrm>
            <a:off x="731520" y="1828800"/>
            <a:ext cx="7132320" cy="1737360"/>
          </a:xfrm>
          <a:prstGeom prst="rect">
            <a:avLst/>
          </a:prstGeom>
          <a:noFill/>
          <a:ln/>
        </p:spPr>
        <p:txBody>
          <a:bodyPr wrap="square" lIns="0" tIns="0" rIns="0" bIns="0" rtlCol="0" anchor="b"/>
          <a:lstStyle/>
          <a:p>
            <a:pPr algn="l" indent="0" marL="0">
              <a:buNone/>
            </a:pPr>
            <a:r>
              <a:rPr lang="en-US" sz="4600" b="1" dirty="0">
                <a:solidFill>
                  <a:schemeClr val="bg1"/>
                </a:solidFill>
              </a:rPr>
              <a:t>Smart Course Enrollment System</a:t>
            </a:r>
            <a:endParaRPr lang="en-US" sz="4600" dirty="0"/>
          </a:p>
        </p:txBody>
      </p:sp>
      <p:sp>
        <p:nvSpPr>
          <p:cNvPr id="4" name="Text 1"/>
          <p:cNvSpPr/>
          <p:nvPr>
            <p:ph idx="102" type="body" hasCustomPrompt="1"/>
          </p:nvPr>
        </p:nvSpPr>
        <p:spPr>
          <a:xfrm>
            <a:off x="731520" y="3703320"/>
            <a:ext cx="7132320" cy="548640"/>
          </a:xfrm>
          <a:prstGeom prst="rect">
            <a:avLst/>
          </a:prstGeom>
          <a:noFill/>
          <a:ln/>
        </p:spPr>
        <p:txBody>
          <a:bodyPr wrap="square" lIns="0" tIns="0" rIns="0" bIns="0" rtlCol="0" anchor="t"/>
          <a:lstStyle/>
          <a:p>
            <a:pPr algn="l" indent="0" marL="0">
              <a:buNone/>
            </a:pPr>
            <a:r>
              <a:rPr lang="en-US" sz="2200" dirty="0">
                <a:solidFill>
                  <a:schemeClr val="bg2"/>
                </a:solidFill>
              </a:rPr>
              <a:t>A Python Full Stack Web Application</a:t>
            </a:r>
            <a:endParaRPr lang="en-US" sz="2200" dirty="0"/>
          </a:p>
        </p:txBody>
      </p:sp>
      <p:sp>
        <p:nvSpPr>
          <p:cNvPr id="5" name="Text 3"/>
          <p:cNvSpPr txBox="1"/>
          <p:nvPr/>
        </p:nvSpPr>
        <p:spPr>
          <a:xfrm>
            <a:off x="731520" y="4709160"/>
            <a:ext cx="7315200" cy="365760"/>
          </a:xfrm>
          <a:prstGeom prst="rect">
            <a:avLst/>
          </a:prstGeom>
          <a:noFill/>
          <a:ln/>
        </p:spPr>
        <p:txBody>
          <a:bodyPr wrap="square" lIns="0" tIns="0" rIns="0" bIns="0" rtlCol="0" anchor="t"/>
          <a:lstStyle/>
          <a:p>
            <a:pPr indent="0" marL="0">
              <a:buNone/>
            </a:pPr>
            <a:r>
              <a:rPr lang="en-US" sz="2200" b="1" dirty="0">
                <a:solidFill>
                  <a:schemeClr val="bg1"/>
                </a:solidFill>
              </a:rPr>
              <a:t>Niraimathi M  |  810023205046</a:t>
            </a:r>
            <a:endParaRPr lang="en-US" sz="2200" dirty="0"/>
          </a:p>
        </p:txBody>
      </p:sp>
      <p:sp>
        <p:nvSpPr>
          <p:cNvPr id="6" name="Text 4"/>
          <p:cNvSpPr txBox="1"/>
          <p:nvPr/>
        </p:nvSpPr>
        <p:spPr>
          <a:xfrm>
            <a:off x="731520" y="5166360"/>
            <a:ext cx="7315200" cy="274320"/>
          </a:xfrm>
          <a:prstGeom prst="rect">
            <a:avLst/>
          </a:prstGeom>
          <a:noFill/>
          <a:ln/>
        </p:spPr>
        <p:txBody>
          <a:bodyPr wrap="square" lIns="0" tIns="0" rIns="0" bIns="0" rtlCol="0" anchor="t"/>
          <a:lstStyle/>
          <a:p>
            <a:pPr indent="0" marL="0">
              <a:buNone/>
            </a:pPr>
            <a:r>
              <a:rPr lang="en-US" sz="1500" dirty="0">
                <a:solidFill>
                  <a:schemeClr val="bg2"/>
                </a:solidFill>
              </a:rPr>
              <a:t>B.Tech Information Technology, VII Semester</a:t>
            </a:r>
            <a:endParaRPr lang="en-US" sz="1500" dirty="0"/>
          </a:p>
        </p:txBody>
      </p:sp>
      <p:sp>
        <p:nvSpPr>
          <p:cNvPr id="7" name="Text 5"/>
          <p:cNvSpPr txBox="1"/>
          <p:nvPr/>
        </p:nvSpPr>
        <p:spPr>
          <a:xfrm>
            <a:off x="731520" y="5486400"/>
            <a:ext cx="7315200" cy="274320"/>
          </a:xfrm>
          <a:prstGeom prst="rect">
            <a:avLst/>
          </a:prstGeom>
          <a:noFill/>
          <a:ln/>
        </p:spPr>
        <p:txBody>
          <a:bodyPr wrap="square" lIns="0" tIns="0" rIns="0" bIns="0" rtlCol="0" anchor="t"/>
          <a:lstStyle/>
          <a:p>
            <a:pPr indent="0" marL="0">
              <a:buNone/>
            </a:pPr>
            <a:r>
              <a:rPr lang="en-US" sz="1500" dirty="0">
                <a:solidFill>
                  <a:schemeClr val="bg2"/>
                </a:solidFill>
              </a:rPr>
              <a:t>University College of Engineering (BIT Campus), Anna University, Tiruchirappalli</a:t>
            </a:r>
            <a:endParaRPr lang="en-US" sz="1500" dirty="0"/>
          </a:p>
        </p:txBody>
      </p:sp>
      <p:sp>
        <p:nvSpPr>
          <p:cNvPr id="8" name="Text 6"/>
          <p:cNvSpPr txBox="1"/>
          <p:nvPr/>
        </p:nvSpPr>
        <p:spPr>
          <a:xfrm>
            <a:off x="731520" y="5806440"/>
            <a:ext cx="7315200" cy="274320"/>
          </a:xfrm>
          <a:prstGeom prst="rect">
            <a:avLst/>
          </a:prstGeom>
          <a:noFill/>
          <a:ln/>
        </p:spPr>
        <p:txBody>
          <a:bodyPr wrap="square" lIns="0" tIns="0" rIns="0" bIns="0" rtlCol="0" anchor="t"/>
          <a:lstStyle/>
          <a:p>
            <a:pPr indent="0" marL="0">
              <a:buNone/>
            </a:pPr>
            <a:r>
              <a:rPr lang="en-US" sz="1500" dirty="0">
                <a:solidFill>
                  <a:schemeClr val="bg2"/>
                </a:solidFill>
              </a:rPr>
              <a:t>Internship at Astonish InfoTech Private Limited  |  01 Jun to 30 Jun 2026</a:t>
            </a:r>
            <a:endParaRPr lang="en-US" sz="1500" dirty="0"/>
          </a:p>
        </p:txBody>
      </p:sp>
      <p:sp>
        <p:nvSpPr>
          <p:cNvPr id="9" name="Logo frame"/>
          <p:cNvSpPr/>
          <p:nvPr/>
        </p:nvSpPr>
        <p:spPr>
          <a:xfrm>
            <a:off x="8549640" y="1783080"/>
            <a:ext cx="3017520" cy="3017520"/>
          </a:xfrm>
          <a:prstGeom prst="roundRect">
            <a:avLst>
              <a:gd name="adj" fmla="val 4545"/>
            </a:avLst>
          </a:prstGeom>
          <a:solidFill>
            <a:schemeClr val="bg1"/>
          </a:solidFill>
          <a:ln/>
        </p:spPr>
      </p:sp>
      <p:pic>
        <p:nvPicPr>
          <p:cNvPr id="10" name="Image 0" descr="Anna University logo">    </p:cNvPr>
          <p:cNvPicPr>
            <a:picLocks noChangeAspect="1"/>
          </p:cNvPicPr>
          <p:nvPr/>
        </p:nvPicPr>
        <p:blipFill>
          <a:blip r:embed="rId1"/>
          <a:stretch>
            <a:fillRect/>
          </a:stretch>
        </p:blipFill>
        <p:spPr>
          <a:xfrm>
            <a:off x="8686800" y="1938528"/>
            <a:ext cx="2743200" cy="26932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Agenda</a:t>
            </a:r>
            <a:endParaRPr lang="en-US" sz="3400" dirty="0"/>
          </a:p>
        </p:txBody>
      </p:sp>
      <p:sp>
        <p:nvSpPr>
          <p:cNvPr id="3" name="Agenda item 1"/>
          <p:cNvSpPr/>
          <p:nvPr/>
        </p:nvSpPr>
        <p:spPr>
          <a:xfrm>
            <a:off x="548640" y="1417320"/>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4" name="Step 1"/>
          <p:cNvSpPr/>
          <p:nvPr/>
        </p:nvSpPr>
        <p:spPr>
          <a:xfrm>
            <a:off x="713232" y="1572768"/>
            <a:ext cx="457200" cy="457200"/>
          </a:xfrm>
          <a:prstGeom prst="ellipse">
            <a:avLst/>
          </a:prstGeom>
          <a:solidFill>
            <a:schemeClr val="accent1"/>
          </a:solidFill>
          <a:ln/>
        </p:spPr>
      </p:sp>
      <p:sp>
        <p:nvSpPr>
          <p:cNvPr id="5" name="Text 3"/>
          <p:cNvSpPr txBox="1"/>
          <p:nvPr/>
        </p:nvSpPr>
        <p:spPr>
          <a:xfrm>
            <a:off x="713232" y="1572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71600" y="1508760"/>
            <a:ext cx="4480560" cy="274320"/>
          </a:xfrm>
          <a:prstGeom prst="rect">
            <a:avLst/>
          </a:prstGeom>
          <a:noFill/>
          <a:ln/>
        </p:spPr>
        <p:txBody>
          <a:bodyPr wrap="square" lIns="0" tIns="0" rIns="0" bIns="0" rtlCol="0" anchor="t"/>
          <a:lstStyle/>
          <a:p>
            <a:pPr indent="0" marL="0">
              <a:buNone/>
            </a:pPr>
            <a:r>
              <a:rPr lang="en-US" sz="1700" b="1" dirty="0">
                <a:solidFill>
                  <a:schemeClr val="tx2"/>
                </a:solidFill>
              </a:rPr>
              <a:t>Company and Internship</a:t>
            </a:r>
            <a:endParaRPr lang="en-US" sz="1700" dirty="0"/>
          </a:p>
        </p:txBody>
      </p:sp>
      <p:sp>
        <p:nvSpPr>
          <p:cNvPr id="7" name="Text 5"/>
          <p:cNvSpPr txBox="1"/>
          <p:nvPr/>
        </p:nvSpPr>
        <p:spPr>
          <a:xfrm>
            <a:off x="1371600" y="1828800"/>
            <a:ext cx="4480560" cy="274320"/>
          </a:xfrm>
          <a:prstGeom prst="rect">
            <a:avLst/>
          </a:prstGeom>
          <a:noFill/>
          <a:ln/>
        </p:spPr>
        <p:txBody>
          <a:bodyPr wrap="square" lIns="0" tIns="0" rIns="0" bIns="0" rtlCol="0" anchor="t"/>
          <a:lstStyle/>
          <a:p>
            <a:pPr indent="0" marL="0">
              <a:buNone/>
            </a:pPr>
            <a:r>
              <a:rPr lang="en-US" sz="1400" dirty="0">
                <a:solidFill>
                  <a:schemeClr val="accent4"/>
                </a:solidFill>
              </a:rPr>
              <a:t>Profile, duration and 30-day plan</a:t>
            </a:r>
            <a:endParaRPr lang="en-US" sz="1400" dirty="0"/>
          </a:p>
        </p:txBody>
      </p:sp>
      <p:sp>
        <p:nvSpPr>
          <p:cNvPr id="8" name="Agenda item 2"/>
          <p:cNvSpPr/>
          <p:nvPr/>
        </p:nvSpPr>
        <p:spPr>
          <a:xfrm>
            <a:off x="548640" y="2322576"/>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9" name="Step 2"/>
          <p:cNvSpPr/>
          <p:nvPr/>
        </p:nvSpPr>
        <p:spPr>
          <a:xfrm>
            <a:off x="713232" y="2478024"/>
            <a:ext cx="457200" cy="457200"/>
          </a:xfrm>
          <a:prstGeom prst="ellipse">
            <a:avLst/>
          </a:prstGeom>
          <a:solidFill>
            <a:schemeClr val="accent1"/>
          </a:solidFill>
          <a:ln/>
        </p:spPr>
      </p:sp>
      <p:sp>
        <p:nvSpPr>
          <p:cNvPr id="10" name="Text 8"/>
          <p:cNvSpPr txBox="1"/>
          <p:nvPr/>
        </p:nvSpPr>
        <p:spPr>
          <a:xfrm>
            <a:off x="713232" y="247802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1371600" y="2414016"/>
            <a:ext cx="4480560" cy="274320"/>
          </a:xfrm>
          <a:prstGeom prst="rect">
            <a:avLst/>
          </a:prstGeom>
          <a:noFill/>
          <a:ln/>
        </p:spPr>
        <p:txBody>
          <a:bodyPr wrap="square" lIns="0" tIns="0" rIns="0" bIns="0" rtlCol="0" anchor="t"/>
          <a:lstStyle/>
          <a:p>
            <a:pPr indent="0" marL="0">
              <a:buNone/>
            </a:pPr>
            <a:r>
              <a:rPr lang="en-US" sz="1700" b="1" dirty="0">
                <a:solidFill>
                  <a:schemeClr val="tx2"/>
                </a:solidFill>
              </a:rPr>
              <a:t>Problem Statement</a:t>
            </a:r>
            <a:endParaRPr lang="en-US" sz="1700" dirty="0"/>
          </a:p>
        </p:txBody>
      </p:sp>
      <p:sp>
        <p:nvSpPr>
          <p:cNvPr id="12" name="Text 10"/>
          <p:cNvSpPr txBox="1"/>
          <p:nvPr/>
        </p:nvSpPr>
        <p:spPr>
          <a:xfrm>
            <a:off x="1371600" y="2734056"/>
            <a:ext cx="4480560" cy="274320"/>
          </a:xfrm>
          <a:prstGeom prst="rect">
            <a:avLst/>
          </a:prstGeom>
          <a:noFill/>
          <a:ln/>
        </p:spPr>
        <p:txBody>
          <a:bodyPr wrap="square" lIns="0" tIns="0" rIns="0" bIns="0" rtlCol="0" anchor="t"/>
          <a:lstStyle/>
          <a:p>
            <a:pPr indent="0" marL="0">
              <a:buNone/>
            </a:pPr>
            <a:r>
              <a:rPr lang="en-US" sz="1400" dirty="0">
                <a:solidFill>
                  <a:schemeClr val="accent4"/>
                </a:solidFill>
              </a:rPr>
              <a:t>Limits of the existing system</a:t>
            </a:r>
            <a:endParaRPr lang="en-US" sz="1400" dirty="0"/>
          </a:p>
        </p:txBody>
      </p:sp>
      <p:sp>
        <p:nvSpPr>
          <p:cNvPr id="13" name="Agenda item 3"/>
          <p:cNvSpPr/>
          <p:nvPr/>
        </p:nvSpPr>
        <p:spPr>
          <a:xfrm>
            <a:off x="548640" y="3227832"/>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14" name="Step 3"/>
          <p:cNvSpPr/>
          <p:nvPr/>
        </p:nvSpPr>
        <p:spPr>
          <a:xfrm>
            <a:off x="713232" y="3383280"/>
            <a:ext cx="457200" cy="457200"/>
          </a:xfrm>
          <a:prstGeom prst="ellipse">
            <a:avLst/>
          </a:prstGeom>
          <a:solidFill>
            <a:schemeClr val="accent1"/>
          </a:solidFill>
          <a:ln/>
        </p:spPr>
      </p:sp>
      <p:sp>
        <p:nvSpPr>
          <p:cNvPr id="15" name="Text 13"/>
          <p:cNvSpPr txBox="1"/>
          <p:nvPr/>
        </p:nvSpPr>
        <p:spPr>
          <a:xfrm>
            <a:off x="713232" y="3383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1371600" y="3319272"/>
            <a:ext cx="4480560" cy="274320"/>
          </a:xfrm>
          <a:prstGeom prst="rect">
            <a:avLst/>
          </a:prstGeom>
          <a:noFill/>
          <a:ln/>
        </p:spPr>
        <p:txBody>
          <a:bodyPr wrap="square" lIns="0" tIns="0" rIns="0" bIns="0" rtlCol="0" anchor="t"/>
          <a:lstStyle/>
          <a:p>
            <a:pPr indent="0" marL="0">
              <a:buNone/>
            </a:pPr>
            <a:r>
              <a:rPr lang="en-US" sz="1700" b="1" dirty="0">
                <a:solidFill>
                  <a:schemeClr val="tx2"/>
                </a:solidFill>
              </a:rPr>
              <a:t>Objectives</a:t>
            </a:r>
            <a:endParaRPr lang="en-US" sz="1700" dirty="0"/>
          </a:p>
        </p:txBody>
      </p:sp>
      <p:sp>
        <p:nvSpPr>
          <p:cNvPr id="17" name="Text 15"/>
          <p:cNvSpPr txBox="1"/>
          <p:nvPr/>
        </p:nvSpPr>
        <p:spPr>
          <a:xfrm>
            <a:off x="1371600" y="3639312"/>
            <a:ext cx="4480560" cy="274320"/>
          </a:xfrm>
          <a:prstGeom prst="rect">
            <a:avLst/>
          </a:prstGeom>
          <a:noFill/>
          <a:ln/>
        </p:spPr>
        <p:txBody>
          <a:bodyPr wrap="square" lIns="0" tIns="0" rIns="0" bIns="0" rtlCol="0" anchor="t"/>
          <a:lstStyle/>
          <a:p>
            <a:pPr indent="0" marL="0">
              <a:buNone/>
            </a:pPr>
            <a:r>
              <a:rPr lang="en-US" sz="1400" dirty="0">
                <a:solidFill>
                  <a:schemeClr val="accent4"/>
                </a:solidFill>
              </a:rPr>
              <a:t>What the project set out to do</a:t>
            </a:r>
            <a:endParaRPr lang="en-US" sz="1400" dirty="0"/>
          </a:p>
        </p:txBody>
      </p:sp>
      <p:sp>
        <p:nvSpPr>
          <p:cNvPr id="18" name="Agenda item 4"/>
          <p:cNvSpPr/>
          <p:nvPr/>
        </p:nvSpPr>
        <p:spPr>
          <a:xfrm>
            <a:off x="548640" y="4133088"/>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19" name="Step 4"/>
          <p:cNvSpPr/>
          <p:nvPr/>
        </p:nvSpPr>
        <p:spPr>
          <a:xfrm>
            <a:off x="713232" y="4288536"/>
            <a:ext cx="457200" cy="457200"/>
          </a:xfrm>
          <a:prstGeom prst="ellipse">
            <a:avLst/>
          </a:prstGeom>
          <a:solidFill>
            <a:schemeClr val="accent1"/>
          </a:solidFill>
          <a:ln/>
        </p:spPr>
      </p:sp>
      <p:sp>
        <p:nvSpPr>
          <p:cNvPr id="20" name="Text 18"/>
          <p:cNvSpPr txBox="1"/>
          <p:nvPr/>
        </p:nvSpPr>
        <p:spPr>
          <a:xfrm>
            <a:off x="713232" y="42885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1371600" y="4224528"/>
            <a:ext cx="4480560" cy="274320"/>
          </a:xfrm>
          <a:prstGeom prst="rect">
            <a:avLst/>
          </a:prstGeom>
          <a:noFill/>
          <a:ln/>
        </p:spPr>
        <p:txBody>
          <a:bodyPr wrap="square" lIns="0" tIns="0" rIns="0" bIns="0" rtlCol="0" anchor="t"/>
          <a:lstStyle/>
          <a:p>
            <a:pPr indent="0" marL="0">
              <a:buNone/>
            </a:pPr>
            <a:r>
              <a:rPr lang="en-US" sz="1700" b="1" dirty="0">
                <a:solidFill>
                  <a:schemeClr val="tx2"/>
                </a:solidFill>
              </a:rPr>
              <a:t>Proposed System</a:t>
            </a:r>
            <a:endParaRPr lang="en-US" sz="1700" dirty="0"/>
          </a:p>
        </p:txBody>
      </p:sp>
      <p:sp>
        <p:nvSpPr>
          <p:cNvPr id="22" name="Text 20"/>
          <p:cNvSpPr txBox="1"/>
          <p:nvPr/>
        </p:nvSpPr>
        <p:spPr>
          <a:xfrm>
            <a:off x="1371600" y="4544568"/>
            <a:ext cx="4480560" cy="274320"/>
          </a:xfrm>
          <a:prstGeom prst="rect">
            <a:avLst/>
          </a:prstGeom>
          <a:noFill/>
          <a:ln/>
        </p:spPr>
        <p:txBody>
          <a:bodyPr wrap="square" lIns="0" tIns="0" rIns="0" bIns="0" rtlCol="0" anchor="t"/>
          <a:lstStyle/>
          <a:p>
            <a:pPr indent="0" marL="0">
              <a:buNone/>
            </a:pPr>
            <a:r>
              <a:rPr lang="en-US" sz="1400" dirty="0">
                <a:solidFill>
                  <a:schemeClr val="accent4"/>
                </a:solidFill>
              </a:rPr>
              <a:t>Six core modules</a:t>
            </a:r>
            <a:endParaRPr lang="en-US" sz="1400" dirty="0"/>
          </a:p>
        </p:txBody>
      </p:sp>
      <p:sp>
        <p:nvSpPr>
          <p:cNvPr id="23" name="Agenda item 5"/>
          <p:cNvSpPr/>
          <p:nvPr/>
        </p:nvSpPr>
        <p:spPr>
          <a:xfrm>
            <a:off x="548640" y="5038344"/>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24" name="Step 5"/>
          <p:cNvSpPr/>
          <p:nvPr/>
        </p:nvSpPr>
        <p:spPr>
          <a:xfrm>
            <a:off x="713232" y="5193792"/>
            <a:ext cx="457200" cy="457200"/>
          </a:xfrm>
          <a:prstGeom prst="ellipse">
            <a:avLst/>
          </a:prstGeom>
          <a:solidFill>
            <a:schemeClr val="accent1"/>
          </a:solidFill>
          <a:ln/>
        </p:spPr>
      </p:sp>
      <p:sp>
        <p:nvSpPr>
          <p:cNvPr id="25" name="Text 23"/>
          <p:cNvSpPr txBox="1"/>
          <p:nvPr/>
        </p:nvSpPr>
        <p:spPr>
          <a:xfrm>
            <a:off x="713232" y="51937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1371600" y="5129784"/>
            <a:ext cx="4480560" cy="274320"/>
          </a:xfrm>
          <a:prstGeom prst="rect">
            <a:avLst/>
          </a:prstGeom>
          <a:noFill/>
          <a:ln/>
        </p:spPr>
        <p:txBody>
          <a:bodyPr wrap="square" lIns="0" tIns="0" rIns="0" bIns="0" rtlCol="0" anchor="t"/>
          <a:lstStyle/>
          <a:p>
            <a:pPr indent="0" marL="0">
              <a:buNone/>
            </a:pPr>
            <a:r>
              <a:rPr lang="en-US" sz="1700" b="1" dirty="0">
                <a:solidFill>
                  <a:schemeClr val="tx2"/>
                </a:solidFill>
              </a:rPr>
              <a:t>Technology Stack</a:t>
            </a:r>
            <a:endParaRPr lang="en-US" sz="1700" dirty="0"/>
          </a:p>
        </p:txBody>
      </p:sp>
      <p:sp>
        <p:nvSpPr>
          <p:cNvPr id="27" name="Text 25"/>
          <p:cNvSpPr txBox="1"/>
          <p:nvPr/>
        </p:nvSpPr>
        <p:spPr>
          <a:xfrm>
            <a:off x="1371600" y="5449824"/>
            <a:ext cx="4480560" cy="274320"/>
          </a:xfrm>
          <a:prstGeom prst="rect">
            <a:avLst/>
          </a:prstGeom>
          <a:noFill/>
          <a:ln/>
        </p:spPr>
        <p:txBody>
          <a:bodyPr wrap="square" lIns="0" tIns="0" rIns="0" bIns="0" rtlCol="0" anchor="t"/>
          <a:lstStyle/>
          <a:p>
            <a:pPr indent="0" marL="0">
              <a:buNone/>
            </a:pPr>
            <a:r>
              <a:rPr lang="en-US" sz="1400" dirty="0">
                <a:solidFill>
                  <a:schemeClr val="accent4"/>
                </a:solidFill>
              </a:rPr>
              <a:t>Tools, frameworks and database</a:t>
            </a:r>
            <a:endParaRPr lang="en-US" sz="1400" dirty="0"/>
          </a:p>
        </p:txBody>
      </p:sp>
      <p:sp>
        <p:nvSpPr>
          <p:cNvPr id="28" name="Agenda item 6"/>
          <p:cNvSpPr/>
          <p:nvPr/>
        </p:nvSpPr>
        <p:spPr>
          <a:xfrm>
            <a:off x="6172200" y="1417320"/>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29" name="Step 6"/>
          <p:cNvSpPr/>
          <p:nvPr/>
        </p:nvSpPr>
        <p:spPr>
          <a:xfrm>
            <a:off x="6336792" y="1572768"/>
            <a:ext cx="457200" cy="457200"/>
          </a:xfrm>
          <a:prstGeom prst="ellipse">
            <a:avLst/>
          </a:prstGeom>
          <a:solidFill>
            <a:schemeClr val="accent1"/>
          </a:solidFill>
          <a:ln/>
        </p:spPr>
      </p:sp>
      <p:sp>
        <p:nvSpPr>
          <p:cNvPr id="30" name="Text 28"/>
          <p:cNvSpPr txBox="1"/>
          <p:nvPr/>
        </p:nvSpPr>
        <p:spPr>
          <a:xfrm>
            <a:off x="6336792" y="1572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 29"/>
          <p:cNvSpPr txBox="1"/>
          <p:nvPr/>
        </p:nvSpPr>
        <p:spPr>
          <a:xfrm>
            <a:off x="6995160" y="1508760"/>
            <a:ext cx="4480560" cy="274320"/>
          </a:xfrm>
          <a:prstGeom prst="rect">
            <a:avLst/>
          </a:prstGeom>
          <a:noFill/>
          <a:ln/>
        </p:spPr>
        <p:txBody>
          <a:bodyPr wrap="square" lIns="0" tIns="0" rIns="0" bIns="0" rtlCol="0" anchor="t"/>
          <a:lstStyle/>
          <a:p>
            <a:pPr indent="0" marL="0">
              <a:buNone/>
            </a:pPr>
            <a:r>
              <a:rPr lang="en-US" sz="1700" b="1" dirty="0">
                <a:solidFill>
                  <a:schemeClr val="tx2"/>
                </a:solidFill>
              </a:rPr>
              <a:t>Architecture and Database</a:t>
            </a:r>
            <a:endParaRPr lang="en-US" sz="1700" dirty="0"/>
          </a:p>
        </p:txBody>
      </p:sp>
      <p:sp>
        <p:nvSpPr>
          <p:cNvPr id="32" name="Text 30"/>
          <p:cNvSpPr txBox="1"/>
          <p:nvPr/>
        </p:nvSpPr>
        <p:spPr>
          <a:xfrm>
            <a:off x="6995160" y="1828800"/>
            <a:ext cx="4480560" cy="274320"/>
          </a:xfrm>
          <a:prstGeom prst="rect">
            <a:avLst/>
          </a:prstGeom>
          <a:noFill/>
          <a:ln/>
        </p:spPr>
        <p:txBody>
          <a:bodyPr wrap="square" lIns="0" tIns="0" rIns="0" bIns="0" rtlCol="0" anchor="t"/>
          <a:lstStyle/>
          <a:p>
            <a:pPr indent="0" marL="0">
              <a:buNone/>
            </a:pPr>
            <a:r>
              <a:rPr lang="en-US" sz="1400" dirty="0">
                <a:solidFill>
                  <a:schemeClr val="accent4"/>
                </a:solidFill>
              </a:rPr>
              <a:t>Three-tier design and tables</a:t>
            </a:r>
            <a:endParaRPr lang="en-US" sz="1400" dirty="0"/>
          </a:p>
        </p:txBody>
      </p:sp>
      <p:sp>
        <p:nvSpPr>
          <p:cNvPr id="33" name="Agenda item 7"/>
          <p:cNvSpPr/>
          <p:nvPr/>
        </p:nvSpPr>
        <p:spPr>
          <a:xfrm>
            <a:off x="6172200" y="2322576"/>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34" name="Step 7"/>
          <p:cNvSpPr/>
          <p:nvPr/>
        </p:nvSpPr>
        <p:spPr>
          <a:xfrm>
            <a:off x="6336792" y="2478024"/>
            <a:ext cx="457200" cy="457200"/>
          </a:xfrm>
          <a:prstGeom prst="ellipse">
            <a:avLst/>
          </a:prstGeom>
          <a:solidFill>
            <a:schemeClr val="accent1"/>
          </a:solidFill>
          <a:ln/>
        </p:spPr>
      </p:sp>
      <p:sp>
        <p:nvSpPr>
          <p:cNvPr id="35" name="Text 33"/>
          <p:cNvSpPr txBox="1"/>
          <p:nvPr/>
        </p:nvSpPr>
        <p:spPr>
          <a:xfrm>
            <a:off x="6336792" y="247802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6" name="Text 34"/>
          <p:cNvSpPr txBox="1"/>
          <p:nvPr/>
        </p:nvSpPr>
        <p:spPr>
          <a:xfrm>
            <a:off x="6995160" y="2414016"/>
            <a:ext cx="4480560" cy="274320"/>
          </a:xfrm>
          <a:prstGeom prst="rect">
            <a:avLst/>
          </a:prstGeom>
          <a:noFill/>
          <a:ln/>
        </p:spPr>
        <p:txBody>
          <a:bodyPr wrap="square" lIns="0" tIns="0" rIns="0" bIns="0" rtlCol="0" anchor="t"/>
          <a:lstStyle/>
          <a:p>
            <a:pPr indent="0" marL="0">
              <a:buNone/>
            </a:pPr>
            <a:r>
              <a:rPr lang="en-US" sz="1700" b="1" dirty="0">
                <a:solidFill>
                  <a:schemeClr val="tx2"/>
                </a:solidFill>
              </a:rPr>
              <a:t>Workflow and Code</a:t>
            </a:r>
            <a:endParaRPr lang="en-US" sz="1700" dirty="0"/>
          </a:p>
        </p:txBody>
      </p:sp>
      <p:sp>
        <p:nvSpPr>
          <p:cNvPr id="37" name="Text 35"/>
          <p:cNvSpPr txBox="1"/>
          <p:nvPr/>
        </p:nvSpPr>
        <p:spPr>
          <a:xfrm>
            <a:off x="6995160" y="2734056"/>
            <a:ext cx="4480560" cy="274320"/>
          </a:xfrm>
          <a:prstGeom prst="rect">
            <a:avLst/>
          </a:prstGeom>
          <a:noFill/>
          <a:ln/>
        </p:spPr>
        <p:txBody>
          <a:bodyPr wrap="square" lIns="0" tIns="0" rIns="0" bIns="0" rtlCol="0" anchor="t"/>
          <a:lstStyle/>
          <a:p>
            <a:pPr indent="0" marL="0">
              <a:buNone/>
            </a:pPr>
            <a:r>
              <a:rPr lang="en-US" sz="1400" dirty="0">
                <a:solidFill>
                  <a:schemeClr val="accent4"/>
                </a:solidFill>
              </a:rPr>
              <a:t>Enrollment flow and key snippets</a:t>
            </a:r>
            <a:endParaRPr lang="en-US" sz="1400" dirty="0"/>
          </a:p>
        </p:txBody>
      </p:sp>
      <p:sp>
        <p:nvSpPr>
          <p:cNvPr id="38" name="Agenda item 8"/>
          <p:cNvSpPr/>
          <p:nvPr/>
        </p:nvSpPr>
        <p:spPr>
          <a:xfrm>
            <a:off x="6172200" y="3227832"/>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39" name="Step 8"/>
          <p:cNvSpPr/>
          <p:nvPr/>
        </p:nvSpPr>
        <p:spPr>
          <a:xfrm>
            <a:off x="6336792" y="3383280"/>
            <a:ext cx="457200" cy="457200"/>
          </a:xfrm>
          <a:prstGeom prst="ellipse">
            <a:avLst/>
          </a:prstGeom>
          <a:solidFill>
            <a:schemeClr val="accent1"/>
          </a:solidFill>
          <a:ln/>
        </p:spPr>
      </p:sp>
      <p:sp>
        <p:nvSpPr>
          <p:cNvPr id="40" name="Text 38"/>
          <p:cNvSpPr txBox="1"/>
          <p:nvPr/>
        </p:nvSpPr>
        <p:spPr>
          <a:xfrm>
            <a:off x="6336792" y="3383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41" name="Text 39"/>
          <p:cNvSpPr txBox="1"/>
          <p:nvPr/>
        </p:nvSpPr>
        <p:spPr>
          <a:xfrm>
            <a:off x="6995160" y="3319272"/>
            <a:ext cx="4480560" cy="274320"/>
          </a:xfrm>
          <a:prstGeom prst="rect">
            <a:avLst/>
          </a:prstGeom>
          <a:noFill/>
          <a:ln/>
        </p:spPr>
        <p:txBody>
          <a:bodyPr wrap="square" lIns="0" tIns="0" rIns="0" bIns="0" rtlCol="0" anchor="t"/>
          <a:lstStyle/>
          <a:p>
            <a:pPr indent="0" marL="0">
              <a:buNone/>
            </a:pPr>
            <a:r>
              <a:rPr lang="en-US" sz="1700" b="1" dirty="0">
                <a:solidFill>
                  <a:schemeClr val="tx2"/>
                </a:solidFill>
              </a:rPr>
              <a:t>Sample Output</a:t>
            </a:r>
            <a:endParaRPr lang="en-US" sz="1700" dirty="0"/>
          </a:p>
        </p:txBody>
      </p:sp>
      <p:sp>
        <p:nvSpPr>
          <p:cNvPr id="42" name="Text 40"/>
          <p:cNvSpPr txBox="1"/>
          <p:nvPr/>
        </p:nvSpPr>
        <p:spPr>
          <a:xfrm>
            <a:off x="6995160" y="3639312"/>
            <a:ext cx="4480560" cy="274320"/>
          </a:xfrm>
          <a:prstGeom prst="rect">
            <a:avLst/>
          </a:prstGeom>
          <a:noFill/>
          <a:ln/>
        </p:spPr>
        <p:txBody>
          <a:bodyPr wrap="square" lIns="0" tIns="0" rIns="0" bIns="0" rtlCol="0" anchor="t"/>
          <a:lstStyle/>
          <a:p>
            <a:pPr indent="0" marL="0">
              <a:buNone/>
            </a:pPr>
            <a:r>
              <a:rPr lang="en-US" sz="1400" dirty="0">
                <a:solidFill>
                  <a:schemeClr val="accent4"/>
                </a:solidFill>
              </a:rPr>
              <a:t>Working screens of the application</a:t>
            </a:r>
            <a:endParaRPr lang="en-US" sz="1400" dirty="0"/>
          </a:p>
        </p:txBody>
      </p:sp>
      <p:sp>
        <p:nvSpPr>
          <p:cNvPr id="43" name="Agenda item 9"/>
          <p:cNvSpPr/>
          <p:nvPr/>
        </p:nvSpPr>
        <p:spPr>
          <a:xfrm>
            <a:off x="6172200" y="4133088"/>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44" name="Step 9"/>
          <p:cNvSpPr/>
          <p:nvPr/>
        </p:nvSpPr>
        <p:spPr>
          <a:xfrm>
            <a:off x="6336792" y="4288536"/>
            <a:ext cx="457200" cy="457200"/>
          </a:xfrm>
          <a:prstGeom prst="ellipse">
            <a:avLst/>
          </a:prstGeom>
          <a:solidFill>
            <a:schemeClr val="accent1"/>
          </a:solidFill>
          <a:ln/>
        </p:spPr>
      </p:sp>
      <p:sp>
        <p:nvSpPr>
          <p:cNvPr id="45" name="Text 43"/>
          <p:cNvSpPr txBox="1"/>
          <p:nvPr/>
        </p:nvSpPr>
        <p:spPr>
          <a:xfrm>
            <a:off x="6336792" y="428853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46" name="Text 44"/>
          <p:cNvSpPr txBox="1"/>
          <p:nvPr/>
        </p:nvSpPr>
        <p:spPr>
          <a:xfrm>
            <a:off x="6995160" y="4224528"/>
            <a:ext cx="4480560" cy="274320"/>
          </a:xfrm>
          <a:prstGeom prst="rect">
            <a:avLst/>
          </a:prstGeom>
          <a:noFill/>
          <a:ln/>
        </p:spPr>
        <p:txBody>
          <a:bodyPr wrap="square" lIns="0" tIns="0" rIns="0" bIns="0" rtlCol="0" anchor="t"/>
          <a:lstStyle/>
          <a:p>
            <a:pPr indent="0" marL="0">
              <a:buNone/>
            </a:pPr>
            <a:r>
              <a:rPr lang="en-US" sz="1700" b="1" dirty="0">
                <a:solidFill>
                  <a:schemeClr val="tx2"/>
                </a:solidFill>
              </a:rPr>
              <a:t>Testing and Analysis</a:t>
            </a:r>
            <a:endParaRPr lang="en-US" sz="1700" dirty="0"/>
          </a:p>
        </p:txBody>
      </p:sp>
      <p:sp>
        <p:nvSpPr>
          <p:cNvPr id="47" name="Text 45"/>
          <p:cNvSpPr txBox="1"/>
          <p:nvPr/>
        </p:nvSpPr>
        <p:spPr>
          <a:xfrm>
            <a:off x="6995160" y="4544568"/>
            <a:ext cx="4480560" cy="274320"/>
          </a:xfrm>
          <a:prstGeom prst="rect">
            <a:avLst/>
          </a:prstGeom>
          <a:noFill/>
          <a:ln/>
        </p:spPr>
        <p:txBody>
          <a:bodyPr wrap="square" lIns="0" tIns="0" rIns="0" bIns="0" rtlCol="0" anchor="t"/>
          <a:lstStyle/>
          <a:p>
            <a:pPr indent="0" marL="0">
              <a:buNone/>
            </a:pPr>
            <a:r>
              <a:rPr lang="en-US" sz="1400" dirty="0">
                <a:solidFill>
                  <a:schemeClr val="accent4"/>
                </a:solidFill>
              </a:rPr>
              <a:t>Observations and improvements</a:t>
            </a:r>
            <a:endParaRPr lang="en-US" sz="1400" dirty="0"/>
          </a:p>
        </p:txBody>
      </p:sp>
      <p:sp>
        <p:nvSpPr>
          <p:cNvPr id="48" name="Agenda item 10"/>
          <p:cNvSpPr/>
          <p:nvPr/>
        </p:nvSpPr>
        <p:spPr>
          <a:xfrm>
            <a:off x="6172200" y="5038344"/>
            <a:ext cx="5440680" cy="777240"/>
          </a:xfrm>
          <a:prstGeom prst="roundRect">
            <a:avLst>
              <a:gd name="adj" fmla="val 14118"/>
            </a:avLst>
          </a:prstGeom>
          <a:solidFill>
            <a:schemeClr val="bg2"/>
          </a:solidFill>
          <a:ln/>
          <a:effectLst>
            <a:outerShdw sx="100000" sy="100000" kx="0" ky="0" algn="bl" rotWithShape="0" blurRad="101600" dist="25400" dir="5400000">
              <a:srgbClr val="000000">
                <a:alpha val="12000"/>
              </a:srgbClr>
            </a:outerShdw>
          </a:effectLst>
        </p:spPr>
      </p:sp>
      <p:sp>
        <p:nvSpPr>
          <p:cNvPr id="49" name="Step 10"/>
          <p:cNvSpPr/>
          <p:nvPr/>
        </p:nvSpPr>
        <p:spPr>
          <a:xfrm>
            <a:off x="6336792" y="5193792"/>
            <a:ext cx="457200" cy="457200"/>
          </a:xfrm>
          <a:prstGeom prst="ellipse">
            <a:avLst/>
          </a:prstGeom>
          <a:solidFill>
            <a:schemeClr val="accent1"/>
          </a:solidFill>
          <a:ln/>
        </p:spPr>
      </p:sp>
      <p:sp>
        <p:nvSpPr>
          <p:cNvPr id="50" name="Text 48"/>
          <p:cNvSpPr txBox="1"/>
          <p:nvPr/>
        </p:nvSpPr>
        <p:spPr>
          <a:xfrm>
            <a:off x="6336792" y="51937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10</a:t>
            </a:r>
            <a:endParaRPr lang="en-US" sz="1500" dirty="0"/>
          </a:p>
        </p:txBody>
      </p:sp>
      <p:sp>
        <p:nvSpPr>
          <p:cNvPr id="51" name="Text 49"/>
          <p:cNvSpPr txBox="1"/>
          <p:nvPr/>
        </p:nvSpPr>
        <p:spPr>
          <a:xfrm>
            <a:off x="6995160" y="5129784"/>
            <a:ext cx="4480560" cy="274320"/>
          </a:xfrm>
          <a:prstGeom prst="rect">
            <a:avLst/>
          </a:prstGeom>
          <a:noFill/>
          <a:ln/>
        </p:spPr>
        <p:txBody>
          <a:bodyPr wrap="square" lIns="0" tIns="0" rIns="0" bIns="0" rtlCol="0" anchor="t"/>
          <a:lstStyle/>
          <a:p>
            <a:pPr indent="0" marL="0">
              <a:buNone/>
            </a:pPr>
            <a:r>
              <a:rPr lang="en-US" sz="1700" b="1" dirty="0">
                <a:solidFill>
                  <a:schemeClr val="tx2"/>
                </a:solidFill>
              </a:rPr>
              <a:t>Future Work and Conclusion</a:t>
            </a:r>
            <a:endParaRPr lang="en-US" sz="1700" dirty="0"/>
          </a:p>
        </p:txBody>
      </p:sp>
      <p:sp>
        <p:nvSpPr>
          <p:cNvPr id="52" name="Text 50"/>
          <p:cNvSpPr txBox="1"/>
          <p:nvPr/>
        </p:nvSpPr>
        <p:spPr>
          <a:xfrm>
            <a:off x="6995160" y="5449824"/>
            <a:ext cx="4480560" cy="274320"/>
          </a:xfrm>
          <a:prstGeom prst="rect">
            <a:avLst/>
          </a:prstGeom>
          <a:noFill/>
          <a:ln/>
        </p:spPr>
        <p:txBody>
          <a:bodyPr wrap="square" lIns="0" tIns="0" rIns="0" bIns="0" rtlCol="0" anchor="t"/>
          <a:lstStyle/>
          <a:p>
            <a:pPr indent="0" marL="0">
              <a:buNone/>
            </a:pPr>
            <a:r>
              <a:rPr lang="en-US" sz="1400" dirty="0">
                <a:solidFill>
                  <a:schemeClr val="accent4"/>
                </a:solidFill>
              </a:rPr>
              <a:t>Roadmap and key learnings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About the Company</a:t>
            </a:r>
            <a:endParaRPr lang="en-US" sz="3400" dirty="0"/>
          </a:p>
        </p:txBody>
      </p:sp>
      <p:pic>
        <p:nvPicPr>
          <p:cNvPr id="3" name="Image 0" descr="Astonish InfoTech logo">    </p:cNvPr>
          <p:cNvPicPr>
            <a:picLocks noChangeAspect="1"/>
          </p:cNvPicPr>
          <p:nvPr/>
        </p:nvPicPr>
        <p:blipFill>
          <a:blip r:embed="rId1"/>
          <a:stretch>
            <a:fillRect/>
          </a:stretch>
        </p:blipFill>
        <p:spPr>
          <a:xfrm>
            <a:off x="548640" y="1417320"/>
            <a:ext cx="2834640" cy="914400"/>
          </a:xfrm>
          <a:prstGeom prst="rect">
            <a:avLst/>
          </a:prstGeom>
        </p:spPr>
      </p:pic>
      <p:sp>
        <p:nvSpPr>
          <p:cNvPr id="4" name="Text 1"/>
          <p:cNvSpPr txBox="1"/>
          <p:nvPr/>
        </p:nvSpPr>
        <p:spPr>
          <a:xfrm>
            <a:off x="548640" y="2560320"/>
            <a:ext cx="5394960" cy="1188720"/>
          </a:xfrm>
          <a:prstGeom prst="rect">
            <a:avLst/>
          </a:prstGeom>
          <a:noFill/>
          <a:ln/>
        </p:spPr>
        <p:txBody>
          <a:bodyPr wrap="square" lIns="0" tIns="0" rIns="0" bIns="0" rtlCol="0" anchor="t"/>
          <a:lstStyle/>
          <a:p>
            <a:pPr indent="0" marL="0">
              <a:buNone/>
            </a:pPr>
            <a:r>
              <a:rPr lang="en-US" sz="1400" dirty="0">
                <a:solidFill>
                  <a:schemeClr val="tx1"/>
                </a:solidFill>
              </a:rPr>
              <a:t>Astonish InfoTech Private Limited is a software development and web solutions company in Tiruchirappalli (Trichy), Tamil Nadu. It builds responsive websites, ERP and CRM systems, mobile apps and cloud-ready solutions for startups, institutions and businesses.</a:t>
            </a:r>
            <a:endParaRPr lang="en-US" sz="1400" dirty="0"/>
          </a:p>
        </p:txBody>
      </p:sp>
      <p:sp>
        <p:nvSpPr>
          <p:cNvPr id="5" name="Icon circle FaIndustry"/>
          <p:cNvSpPr/>
          <p:nvPr/>
        </p:nvSpPr>
        <p:spPr>
          <a:xfrm>
            <a:off x="548640" y="3931920"/>
            <a:ext cx="457200" cy="457200"/>
          </a:xfrm>
          <a:prstGeom prst="ellipse">
            <a:avLst/>
          </a:prstGeom>
          <a:solidFill>
            <a:schemeClr val="accent1"/>
          </a:solidFill>
          <a:ln/>
        </p:spPr>
      </p:sp>
      <p:pic>
        <p:nvPicPr>
          <p:cNvPr id="6" name="Image 1" descr="Industry icon">    </p:cNvPr>
          <p:cNvPicPr>
            <a:picLocks noChangeAspect="1"/>
          </p:cNvPicPr>
          <p:nvPr/>
        </p:nvPicPr>
        <p:blipFill>
          <a:blip r:embed="rId2"/>
          <a:stretch>
            <a:fillRect/>
          </a:stretch>
        </p:blipFill>
        <p:spPr>
          <a:xfrm>
            <a:off x="667512" y="4050792"/>
            <a:ext cx="219456" cy="219456"/>
          </a:xfrm>
          <a:prstGeom prst="rect">
            <a:avLst/>
          </a:prstGeom>
        </p:spPr>
      </p:pic>
      <p:sp>
        <p:nvSpPr>
          <p:cNvPr id="7" name="Text 3"/>
          <p:cNvSpPr txBox="1"/>
          <p:nvPr/>
        </p:nvSpPr>
        <p:spPr>
          <a:xfrm>
            <a:off x="1188720" y="3931920"/>
            <a:ext cx="4754880" cy="457200"/>
          </a:xfrm>
          <a:prstGeom prst="rect">
            <a:avLst/>
          </a:prstGeom>
          <a:noFill/>
          <a:ln/>
        </p:spPr>
        <p:txBody>
          <a:bodyPr wrap="square" lIns="0" tIns="0" rIns="0" bIns="0" rtlCol="0" anchor="ctr"/>
          <a:lstStyle/>
          <a:p>
            <a:pPr indent="0" marL="0">
              <a:buNone/>
            </a:pPr>
            <a:r>
              <a:rPr lang="en-US" sz="1400" dirty="0">
                <a:solidFill>
                  <a:schemeClr val="tx1"/>
                </a:solidFill>
              </a:rPr>
              <a:t>Industry: IT services, software and web development</a:t>
            </a:r>
            <a:endParaRPr lang="en-US" sz="1400" dirty="0"/>
          </a:p>
        </p:txBody>
      </p:sp>
      <p:sp>
        <p:nvSpPr>
          <p:cNvPr id="8" name="Icon circle FaMapMarkerAlt"/>
          <p:cNvSpPr/>
          <p:nvPr/>
        </p:nvSpPr>
        <p:spPr>
          <a:xfrm>
            <a:off x="548640" y="4526280"/>
            <a:ext cx="457200" cy="457200"/>
          </a:xfrm>
          <a:prstGeom prst="ellipse">
            <a:avLst/>
          </a:prstGeom>
          <a:solidFill>
            <a:schemeClr val="accent1"/>
          </a:solidFill>
          <a:ln/>
        </p:spPr>
      </p:sp>
      <p:pic>
        <p:nvPicPr>
          <p:cNvPr id="9" name="Image 2" descr="MapMarkerAlt icon">    </p:cNvPr>
          <p:cNvPicPr>
            <a:picLocks noChangeAspect="1"/>
          </p:cNvPicPr>
          <p:nvPr/>
        </p:nvPicPr>
        <p:blipFill>
          <a:blip r:embed="rId3"/>
          <a:stretch>
            <a:fillRect/>
          </a:stretch>
        </p:blipFill>
        <p:spPr>
          <a:xfrm>
            <a:off x="667512" y="4645152"/>
            <a:ext cx="219456" cy="219456"/>
          </a:xfrm>
          <a:prstGeom prst="rect">
            <a:avLst/>
          </a:prstGeom>
        </p:spPr>
      </p:pic>
      <p:sp>
        <p:nvSpPr>
          <p:cNvPr id="10" name="Text 5"/>
          <p:cNvSpPr txBox="1"/>
          <p:nvPr/>
        </p:nvSpPr>
        <p:spPr>
          <a:xfrm>
            <a:off x="1188720" y="4526280"/>
            <a:ext cx="4754880" cy="457200"/>
          </a:xfrm>
          <a:prstGeom prst="rect">
            <a:avLst/>
          </a:prstGeom>
          <a:noFill/>
          <a:ln/>
        </p:spPr>
        <p:txBody>
          <a:bodyPr wrap="square" lIns="0" tIns="0" rIns="0" bIns="0" rtlCol="0" anchor="ctr"/>
          <a:lstStyle/>
          <a:p>
            <a:pPr indent="0" marL="0">
              <a:buNone/>
            </a:pPr>
            <a:r>
              <a:rPr lang="en-US" sz="1400" dirty="0">
                <a:solidFill>
                  <a:schemeClr val="tx1"/>
                </a:solidFill>
              </a:rPr>
              <a:t>Location: Technology Park (BUTP), Kajamalai Campus, Trichy – 620 023</a:t>
            </a:r>
            <a:endParaRPr lang="en-US" sz="1400" dirty="0"/>
          </a:p>
        </p:txBody>
      </p:sp>
      <p:sp>
        <p:nvSpPr>
          <p:cNvPr id="11" name="Text 6"/>
          <p:cNvSpPr txBox="1"/>
          <p:nvPr/>
        </p:nvSpPr>
        <p:spPr>
          <a:xfrm>
            <a:off x="6309360" y="1371600"/>
            <a:ext cx="5303520" cy="320040"/>
          </a:xfrm>
          <a:prstGeom prst="rect">
            <a:avLst/>
          </a:prstGeom>
          <a:noFill/>
          <a:ln/>
        </p:spPr>
        <p:txBody>
          <a:bodyPr wrap="square" lIns="0" tIns="0" rIns="0" bIns="0" rtlCol="0" anchor="t"/>
          <a:lstStyle/>
          <a:p>
            <a:pPr indent="0" marL="0">
              <a:buNone/>
            </a:pPr>
            <a:r>
              <a:rPr lang="en-US" sz="1800" b="1" dirty="0">
                <a:solidFill>
                  <a:schemeClr val="tx2"/>
                </a:solidFill>
              </a:rPr>
              <a:t>Services</a:t>
            </a:r>
            <a:endParaRPr lang="en-US" sz="1800" dirty="0"/>
          </a:p>
        </p:txBody>
      </p:sp>
      <p:sp>
        <p:nvSpPr>
          <p:cNvPr id="12" name="Service Web Development"/>
          <p:cNvSpPr/>
          <p:nvPr/>
        </p:nvSpPr>
        <p:spPr>
          <a:xfrm>
            <a:off x="6309360" y="17830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13" name="Icon circle FaLaptopCode"/>
          <p:cNvSpPr/>
          <p:nvPr/>
        </p:nvSpPr>
        <p:spPr>
          <a:xfrm>
            <a:off x="6419088" y="1883664"/>
            <a:ext cx="420624" cy="420624"/>
          </a:xfrm>
          <a:prstGeom prst="ellipse">
            <a:avLst/>
          </a:prstGeom>
          <a:solidFill>
            <a:schemeClr val="accent1"/>
          </a:solidFill>
          <a:ln/>
        </p:spPr>
      </p:sp>
      <p:pic>
        <p:nvPicPr>
          <p:cNvPr id="14" name="Image 3" descr="LaptopCode icon">    </p:cNvPr>
          <p:cNvPicPr>
            <a:picLocks noChangeAspect="1"/>
          </p:cNvPicPr>
          <p:nvPr/>
        </p:nvPicPr>
        <p:blipFill>
          <a:blip r:embed="rId4"/>
          <a:stretch>
            <a:fillRect/>
          </a:stretch>
        </p:blipFill>
        <p:spPr>
          <a:xfrm>
            <a:off x="6528450" y="1993026"/>
            <a:ext cx="201900" cy="201900"/>
          </a:xfrm>
          <a:prstGeom prst="rect">
            <a:avLst/>
          </a:prstGeom>
        </p:spPr>
      </p:pic>
      <p:sp>
        <p:nvSpPr>
          <p:cNvPr id="15" name="Text 9"/>
          <p:cNvSpPr txBox="1"/>
          <p:nvPr/>
        </p:nvSpPr>
        <p:spPr>
          <a:xfrm>
            <a:off x="6949440" y="18196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Web Development</a:t>
            </a:r>
            <a:endParaRPr lang="en-US" sz="1400" dirty="0"/>
          </a:p>
        </p:txBody>
      </p:sp>
      <p:sp>
        <p:nvSpPr>
          <p:cNvPr id="16" name="Service Software Development"/>
          <p:cNvSpPr/>
          <p:nvPr/>
        </p:nvSpPr>
        <p:spPr>
          <a:xfrm>
            <a:off x="9025128" y="17830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17" name="Icon circle FaCode"/>
          <p:cNvSpPr/>
          <p:nvPr/>
        </p:nvSpPr>
        <p:spPr>
          <a:xfrm>
            <a:off x="9134856" y="1883664"/>
            <a:ext cx="420624" cy="420624"/>
          </a:xfrm>
          <a:prstGeom prst="ellipse">
            <a:avLst/>
          </a:prstGeom>
          <a:solidFill>
            <a:schemeClr val="accent1"/>
          </a:solidFill>
          <a:ln/>
        </p:spPr>
      </p:sp>
      <p:pic>
        <p:nvPicPr>
          <p:cNvPr id="18" name="Image 4" descr="Code icon">    </p:cNvPr>
          <p:cNvPicPr>
            <a:picLocks noChangeAspect="1"/>
          </p:cNvPicPr>
          <p:nvPr/>
        </p:nvPicPr>
        <p:blipFill>
          <a:blip r:embed="rId5"/>
          <a:stretch>
            <a:fillRect/>
          </a:stretch>
        </p:blipFill>
        <p:spPr>
          <a:xfrm>
            <a:off x="9244218" y="1993026"/>
            <a:ext cx="201900" cy="201900"/>
          </a:xfrm>
          <a:prstGeom prst="rect">
            <a:avLst/>
          </a:prstGeom>
        </p:spPr>
      </p:pic>
      <p:sp>
        <p:nvSpPr>
          <p:cNvPr id="19" name="Text 12"/>
          <p:cNvSpPr txBox="1"/>
          <p:nvPr/>
        </p:nvSpPr>
        <p:spPr>
          <a:xfrm>
            <a:off x="9665208" y="18196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Software Development</a:t>
            </a:r>
            <a:endParaRPr lang="en-US" sz="1400" dirty="0"/>
          </a:p>
        </p:txBody>
      </p:sp>
      <p:sp>
        <p:nvSpPr>
          <p:cNvPr id="20" name="Service Mobile App Development"/>
          <p:cNvSpPr/>
          <p:nvPr/>
        </p:nvSpPr>
        <p:spPr>
          <a:xfrm>
            <a:off x="6309360" y="24688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21" name="Icon circle FaMobileAlt"/>
          <p:cNvSpPr/>
          <p:nvPr/>
        </p:nvSpPr>
        <p:spPr>
          <a:xfrm>
            <a:off x="6419088" y="2569464"/>
            <a:ext cx="420624" cy="420624"/>
          </a:xfrm>
          <a:prstGeom prst="ellipse">
            <a:avLst/>
          </a:prstGeom>
          <a:solidFill>
            <a:schemeClr val="accent1"/>
          </a:solidFill>
          <a:ln/>
        </p:spPr>
      </p:sp>
      <p:pic>
        <p:nvPicPr>
          <p:cNvPr id="22" name="Image 5" descr="MobileAlt icon">    </p:cNvPr>
          <p:cNvPicPr>
            <a:picLocks noChangeAspect="1"/>
          </p:cNvPicPr>
          <p:nvPr/>
        </p:nvPicPr>
        <p:blipFill>
          <a:blip r:embed="rId6"/>
          <a:stretch>
            <a:fillRect/>
          </a:stretch>
        </p:blipFill>
        <p:spPr>
          <a:xfrm>
            <a:off x="6528450" y="2678826"/>
            <a:ext cx="201900" cy="201900"/>
          </a:xfrm>
          <a:prstGeom prst="rect">
            <a:avLst/>
          </a:prstGeom>
        </p:spPr>
      </p:pic>
      <p:sp>
        <p:nvSpPr>
          <p:cNvPr id="23" name="Text 15"/>
          <p:cNvSpPr txBox="1"/>
          <p:nvPr/>
        </p:nvSpPr>
        <p:spPr>
          <a:xfrm>
            <a:off x="6949440" y="25054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Mobile App Development</a:t>
            </a:r>
            <a:endParaRPr lang="en-US" sz="1400" dirty="0"/>
          </a:p>
        </p:txBody>
      </p:sp>
      <p:sp>
        <p:nvSpPr>
          <p:cNvPr id="24" name="Service ERP Solutions"/>
          <p:cNvSpPr/>
          <p:nvPr/>
        </p:nvSpPr>
        <p:spPr>
          <a:xfrm>
            <a:off x="9025128" y="24688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25" name="Icon circle FaBuilding"/>
          <p:cNvSpPr/>
          <p:nvPr/>
        </p:nvSpPr>
        <p:spPr>
          <a:xfrm>
            <a:off x="9134856" y="2569464"/>
            <a:ext cx="420624" cy="420624"/>
          </a:xfrm>
          <a:prstGeom prst="ellipse">
            <a:avLst/>
          </a:prstGeom>
          <a:solidFill>
            <a:schemeClr val="accent1"/>
          </a:solidFill>
          <a:ln/>
        </p:spPr>
      </p:sp>
      <p:pic>
        <p:nvPicPr>
          <p:cNvPr id="26" name="Image 6" descr="Building icon">    </p:cNvPr>
          <p:cNvPicPr>
            <a:picLocks noChangeAspect="1"/>
          </p:cNvPicPr>
          <p:nvPr/>
        </p:nvPicPr>
        <p:blipFill>
          <a:blip r:embed="rId7"/>
          <a:stretch>
            <a:fillRect/>
          </a:stretch>
        </p:blipFill>
        <p:spPr>
          <a:xfrm>
            <a:off x="9244218" y="2678826"/>
            <a:ext cx="201900" cy="201900"/>
          </a:xfrm>
          <a:prstGeom prst="rect">
            <a:avLst/>
          </a:prstGeom>
        </p:spPr>
      </p:pic>
      <p:sp>
        <p:nvSpPr>
          <p:cNvPr id="27" name="Text 18"/>
          <p:cNvSpPr txBox="1"/>
          <p:nvPr/>
        </p:nvSpPr>
        <p:spPr>
          <a:xfrm>
            <a:off x="9665208" y="25054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ERP Solutions</a:t>
            </a:r>
            <a:endParaRPr lang="en-US" sz="1400" dirty="0"/>
          </a:p>
        </p:txBody>
      </p:sp>
      <p:sp>
        <p:nvSpPr>
          <p:cNvPr id="28" name="Service CRM Solutions"/>
          <p:cNvSpPr/>
          <p:nvPr/>
        </p:nvSpPr>
        <p:spPr>
          <a:xfrm>
            <a:off x="6309360" y="31546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29" name="Icon circle FaUsers"/>
          <p:cNvSpPr/>
          <p:nvPr/>
        </p:nvSpPr>
        <p:spPr>
          <a:xfrm>
            <a:off x="6419088" y="3255264"/>
            <a:ext cx="420624" cy="420624"/>
          </a:xfrm>
          <a:prstGeom prst="ellipse">
            <a:avLst/>
          </a:prstGeom>
          <a:solidFill>
            <a:schemeClr val="accent1"/>
          </a:solidFill>
          <a:ln/>
        </p:spPr>
      </p:sp>
      <p:pic>
        <p:nvPicPr>
          <p:cNvPr id="30" name="Image 7" descr="Users icon">    </p:cNvPr>
          <p:cNvPicPr>
            <a:picLocks noChangeAspect="1"/>
          </p:cNvPicPr>
          <p:nvPr/>
        </p:nvPicPr>
        <p:blipFill>
          <a:blip r:embed="rId8"/>
          <a:stretch>
            <a:fillRect/>
          </a:stretch>
        </p:blipFill>
        <p:spPr>
          <a:xfrm>
            <a:off x="6528450" y="3364626"/>
            <a:ext cx="201900" cy="201900"/>
          </a:xfrm>
          <a:prstGeom prst="rect">
            <a:avLst/>
          </a:prstGeom>
        </p:spPr>
      </p:pic>
      <p:sp>
        <p:nvSpPr>
          <p:cNvPr id="31" name="Text 21"/>
          <p:cNvSpPr txBox="1"/>
          <p:nvPr/>
        </p:nvSpPr>
        <p:spPr>
          <a:xfrm>
            <a:off x="6949440" y="31912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CRM Solutions</a:t>
            </a:r>
            <a:endParaRPr lang="en-US" sz="1400" dirty="0"/>
          </a:p>
        </p:txBody>
      </p:sp>
      <p:sp>
        <p:nvSpPr>
          <p:cNvPr id="32" name="Service Domain and Hosting"/>
          <p:cNvSpPr/>
          <p:nvPr/>
        </p:nvSpPr>
        <p:spPr>
          <a:xfrm>
            <a:off x="9025128" y="3154680"/>
            <a:ext cx="2606040" cy="621792"/>
          </a:xfrm>
          <a:prstGeom prst="roundRect">
            <a:avLst>
              <a:gd name="adj" fmla="val 17647"/>
            </a:avLst>
          </a:prstGeom>
          <a:solidFill>
            <a:schemeClr val="bg2"/>
          </a:solidFill>
          <a:ln/>
          <a:effectLst>
            <a:outerShdw sx="100000" sy="100000" kx="0" ky="0" algn="bl" rotWithShape="0" blurRad="101600" dist="25400" dir="5400000">
              <a:srgbClr val="000000">
                <a:alpha val="12000"/>
              </a:srgbClr>
            </a:outerShdw>
          </a:effectLst>
        </p:spPr>
      </p:sp>
      <p:sp>
        <p:nvSpPr>
          <p:cNvPr id="33" name="Icon circle FaGlobe"/>
          <p:cNvSpPr/>
          <p:nvPr/>
        </p:nvSpPr>
        <p:spPr>
          <a:xfrm>
            <a:off x="9134856" y="3255264"/>
            <a:ext cx="420624" cy="420624"/>
          </a:xfrm>
          <a:prstGeom prst="ellipse">
            <a:avLst/>
          </a:prstGeom>
          <a:solidFill>
            <a:schemeClr val="accent1"/>
          </a:solidFill>
          <a:ln/>
        </p:spPr>
      </p:sp>
      <p:pic>
        <p:nvPicPr>
          <p:cNvPr id="34" name="Image 8" descr="Globe icon">    </p:cNvPr>
          <p:cNvPicPr>
            <a:picLocks noChangeAspect="1"/>
          </p:cNvPicPr>
          <p:nvPr/>
        </p:nvPicPr>
        <p:blipFill>
          <a:blip r:embed="rId9"/>
          <a:stretch>
            <a:fillRect/>
          </a:stretch>
        </p:blipFill>
        <p:spPr>
          <a:xfrm>
            <a:off x="9244218" y="3364626"/>
            <a:ext cx="201900" cy="201900"/>
          </a:xfrm>
          <a:prstGeom prst="rect">
            <a:avLst/>
          </a:prstGeom>
        </p:spPr>
      </p:pic>
      <p:sp>
        <p:nvSpPr>
          <p:cNvPr id="35" name="Text 24"/>
          <p:cNvSpPr txBox="1"/>
          <p:nvPr/>
        </p:nvSpPr>
        <p:spPr>
          <a:xfrm>
            <a:off x="9665208" y="3191256"/>
            <a:ext cx="1874520" cy="548640"/>
          </a:xfrm>
          <a:prstGeom prst="rect">
            <a:avLst/>
          </a:prstGeom>
          <a:noFill/>
          <a:ln/>
        </p:spPr>
        <p:txBody>
          <a:bodyPr wrap="square" lIns="0" tIns="0" rIns="0" bIns="0" rtlCol="0" anchor="ctr"/>
          <a:lstStyle/>
          <a:p>
            <a:pPr indent="0" marL="0">
              <a:buNone/>
            </a:pPr>
            <a:r>
              <a:rPr lang="en-US" sz="1400" b="1" dirty="0">
                <a:solidFill>
                  <a:schemeClr val="tx2"/>
                </a:solidFill>
              </a:rPr>
              <a:t>Domain and Hosting</a:t>
            </a:r>
            <a:endParaRPr lang="en-US" sz="1400" dirty="0"/>
          </a:p>
        </p:txBody>
      </p:sp>
      <p:sp>
        <p:nvSpPr>
          <p:cNvPr id="36" name="Text 25"/>
          <p:cNvSpPr txBox="1"/>
          <p:nvPr/>
        </p:nvSpPr>
        <p:spPr>
          <a:xfrm>
            <a:off x="6309360" y="3931920"/>
            <a:ext cx="5303520" cy="320040"/>
          </a:xfrm>
          <a:prstGeom prst="rect">
            <a:avLst/>
          </a:prstGeom>
          <a:noFill/>
          <a:ln/>
        </p:spPr>
        <p:txBody>
          <a:bodyPr wrap="square" lIns="0" tIns="0" rIns="0" bIns="0" rtlCol="0" anchor="t"/>
          <a:lstStyle/>
          <a:p>
            <a:pPr indent="0" marL="0">
              <a:buNone/>
            </a:pPr>
            <a:r>
              <a:rPr lang="en-US" sz="1800" b="1" dirty="0">
                <a:solidFill>
                  <a:schemeClr val="tx2"/>
                </a:solidFill>
              </a:rPr>
              <a:t>Technical Domains</a:t>
            </a:r>
            <a:endParaRPr lang="en-US" sz="1800" dirty="0"/>
          </a:p>
        </p:txBody>
      </p:sp>
      <p:sp>
        <p:nvSpPr>
          <p:cNvPr id="37" name="Pill AI and ML"/>
          <p:cNvSpPr/>
          <p:nvPr/>
        </p:nvSpPr>
        <p:spPr>
          <a:xfrm>
            <a:off x="6309360" y="4315968"/>
            <a:ext cx="1700784" cy="365760"/>
          </a:xfrm>
          <a:prstGeom prst="roundRect">
            <a:avLst>
              <a:gd name="adj" fmla="val 50000"/>
            </a:avLst>
          </a:prstGeom>
          <a:solidFill>
            <a:schemeClr val="accent1"/>
          </a:solidFill>
          <a:ln/>
        </p:spPr>
      </p:sp>
      <p:sp>
        <p:nvSpPr>
          <p:cNvPr id="38" name="Text 27"/>
          <p:cNvSpPr txBox="1"/>
          <p:nvPr/>
        </p:nvSpPr>
        <p:spPr>
          <a:xfrm>
            <a:off x="6309360" y="43159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AI and ML</a:t>
            </a:r>
            <a:endParaRPr lang="en-US" sz="1300" dirty="0"/>
          </a:p>
        </p:txBody>
      </p:sp>
      <p:sp>
        <p:nvSpPr>
          <p:cNvPr id="39" name="Pill Embedded Systems"/>
          <p:cNvSpPr/>
          <p:nvPr/>
        </p:nvSpPr>
        <p:spPr>
          <a:xfrm>
            <a:off x="8119872" y="4315968"/>
            <a:ext cx="1700784" cy="365760"/>
          </a:xfrm>
          <a:prstGeom prst="roundRect">
            <a:avLst>
              <a:gd name="adj" fmla="val 50000"/>
            </a:avLst>
          </a:prstGeom>
          <a:solidFill>
            <a:schemeClr val="accent1"/>
          </a:solidFill>
          <a:ln/>
        </p:spPr>
      </p:sp>
      <p:sp>
        <p:nvSpPr>
          <p:cNvPr id="40" name="Text 29"/>
          <p:cNvSpPr txBox="1"/>
          <p:nvPr/>
        </p:nvSpPr>
        <p:spPr>
          <a:xfrm>
            <a:off x="8119872" y="43159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Embedded Systems</a:t>
            </a:r>
            <a:endParaRPr lang="en-US" sz="1300" dirty="0"/>
          </a:p>
        </p:txBody>
      </p:sp>
      <p:sp>
        <p:nvSpPr>
          <p:cNvPr id="41" name="Pill IoT Solutions"/>
          <p:cNvSpPr/>
          <p:nvPr/>
        </p:nvSpPr>
        <p:spPr>
          <a:xfrm>
            <a:off x="9930384" y="4315968"/>
            <a:ext cx="1700784" cy="365760"/>
          </a:xfrm>
          <a:prstGeom prst="roundRect">
            <a:avLst>
              <a:gd name="adj" fmla="val 50000"/>
            </a:avLst>
          </a:prstGeom>
          <a:solidFill>
            <a:schemeClr val="accent1"/>
          </a:solidFill>
          <a:ln/>
        </p:spPr>
      </p:sp>
      <p:sp>
        <p:nvSpPr>
          <p:cNvPr id="42" name="Text 31"/>
          <p:cNvSpPr txBox="1"/>
          <p:nvPr/>
        </p:nvSpPr>
        <p:spPr>
          <a:xfrm>
            <a:off x="9930384" y="43159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IoT Solutions</a:t>
            </a:r>
            <a:endParaRPr lang="en-US" sz="1300" dirty="0"/>
          </a:p>
        </p:txBody>
      </p:sp>
      <p:sp>
        <p:nvSpPr>
          <p:cNvPr id="43" name="Pill VLSI Support"/>
          <p:cNvSpPr/>
          <p:nvPr/>
        </p:nvSpPr>
        <p:spPr>
          <a:xfrm>
            <a:off x="6309360" y="4773168"/>
            <a:ext cx="1700784" cy="365760"/>
          </a:xfrm>
          <a:prstGeom prst="roundRect">
            <a:avLst>
              <a:gd name="adj" fmla="val 50000"/>
            </a:avLst>
          </a:prstGeom>
          <a:solidFill>
            <a:schemeClr val="accent1"/>
          </a:solidFill>
          <a:ln/>
        </p:spPr>
      </p:sp>
      <p:sp>
        <p:nvSpPr>
          <p:cNvPr id="44" name="Text 33"/>
          <p:cNvSpPr txBox="1"/>
          <p:nvPr/>
        </p:nvSpPr>
        <p:spPr>
          <a:xfrm>
            <a:off x="6309360" y="47731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VLSI Support</a:t>
            </a:r>
            <a:endParaRPr lang="en-US" sz="1300" dirty="0"/>
          </a:p>
        </p:txBody>
      </p:sp>
      <p:sp>
        <p:nvSpPr>
          <p:cNvPr id="45" name="Pill Cloud Solutions"/>
          <p:cNvSpPr/>
          <p:nvPr/>
        </p:nvSpPr>
        <p:spPr>
          <a:xfrm>
            <a:off x="8119872" y="4773168"/>
            <a:ext cx="1700784" cy="365760"/>
          </a:xfrm>
          <a:prstGeom prst="roundRect">
            <a:avLst>
              <a:gd name="adj" fmla="val 50000"/>
            </a:avLst>
          </a:prstGeom>
          <a:solidFill>
            <a:schemeClr val="accent1"/>
          </a:solidFill>
          <a:ln/>
        </p:spPr>
      </p:sp>
      <p:sp>
        <p:nvSpPr>
          <p:cNvPr id="46" name="Text 35"/>
          <p:cNvSpPr txBox="1"/>
          <p:nvPr/>
        </p:nvSpPr>
        <p:spPr>
          <a:xfrm>
            <a:off x="8119872" y="47731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Cloud Solutions</a:t>
            </a:r>
            <a:endParaRPr lang="en-US" sz="1300" dirty="0"/>
          </a:p>
        </p:txBody>
      </p:sp>
      <p:sp>
        <p:nvSpPr>
          <p:cNvPr id="47" name="Pill Cyber Security"/>
          <p:cNvSpPr/>
          <p:nvPr/>
        </p:nvSpPr>
        <p:spPr>
          <a:xfrm>
            <a:off x="9930384" y="4773168"/>
            <a:ext cx="1700784" cy="365760"/>
          </a:xfrm>
          <a:prstGeom prst="roundRect">
            <a:avLst>
              <a:gd name="adj" fmla="val 50000"/>
            </a:avLst>
          </a:prstGeom>
          <a:solidFill>
            <a:schemeClr val="accent1"/>
          </a:solidFill>
          <a:ln/>
        </p:spPr>
      </p:sp>
      <p:sp>
        <p:nvSpPr>
          <p:cNvPr id="48" name="Text 37"/>
          <p:cNvSpPr txBox="1"/>
          <p:nvPr/>
        </p:nvSpPr>
        <p:spPr>
          <a:xfrm>
            <a:off x="9930384" y="4773168"/>
            <a:ext cx="1700784" cy="365760"/>
          </a:xfrm>
          <a:prstGeom prst="rect">
            <a:avLst/>
          </a:prstGeom>
          <a:noFill/>
          <a:ln/>
        </p:spPr>
        <p:txBody>
          <a:bodyPr wrap="square" lIns="0" tIns="0" rIns="0" bIns="0" rtlCol="0" anchor="ctr"/>
          <a:lstStyle/>
          <a:p>
            <a:pPr algn="ctr" indent="0" marL="0">
              <a:buNone/>
            </a:pPr>
            <a:r>
              <a:rPr lang="en-US" sz="1300" b="1" dirty="0">
                <a:solidFill>
                  <a:schemeClr val="bg1"/>
                </a:solidFill>
              </a:rPr>
              <a:t>Cyber Security</a:t>
            </a:r>
            <a:endParaRPr lang="en-US" sz="1300" dirty="0"/>
          </a:p>
        </p:txBody>
      </p:sp>
      <p:sp>
        <p:nvSpPr>
          <p:cNvPr id="49" name="Process Discuss"/>
          <p:cNvSpPr/>
          <p:nvPr/>
        </p:nvSpPr>
        <p:spPr>
          <a:xfrm>
            <a:off x="548640" y="5440680"/>
            <a:ext cx="2560320" cy="713232"/>
          </a:xfrm>
          <a:prstGeom prst="roundRect">
            <a:avLst>
              <a:gd name="adj" fmla="val 15385"/>
            </a:avLst>
          </a:prstGeom>
          <a:solidFill>
            <a:schemeClr val="bg2"/>
          </a:solidFill>
          <a:ln/>
          <a:effectLst>
            <a:outerShdw sx="100000" sy="100000" kx="0" ky="0" algn="bl" rotWithShape="0" blurRad="101600" dist="25400" dir="5400000">
              <a:srgbClr val="000000">
                <a:alpha val="12000"/>
              </a:srgbClr>
            </a:outerShdw>
          </a:effectLst>
        </p:spPr>
      </p:sp>
      <p:sp>
        <p:nvSpPr>
          <p:cNvPr id="50" name="Text 39"/>
          <p:cNvSpPr txBox="1"/>
          <p:nvPr/>
        </p:nvSpPr>
        <p:spPr>
          <a:xfrm>
            <a:off x="731520" y="5504688"/>
            <a:ext cx="2194560" cy="274320"/>
          </a:xfrm>
          <a:prstGeom prst="rect">
            <a:avLst/>
          </a:prstGeom>
          <a:noFill/>
          <a:ln/>
        </p:spPr>
        <p:txBody>
          <a:bodyPr wrap="square" lIns="0" tIns="0" rIns="0" bIns="0" rtlCol="0" anchor="t"/>
          <a:lstStyle/>
          <a:p>
            <a:pPr indent="0" marL="0">
              <a:buNone/>
            </a:pPr>
            <a:r>
              <a:rPr lang="en-US" sz="1600" b="1" dirty="0">
                <a:solidFill>
                  <a:schemeClr val="accent1"/>
                </a:solidFill>
              </a:rPr>
              <a:t>Discuss</a:t>
            </a:r>
            <a:endParaRPr lang="en-US" sz="1600" dirty="0"/>
          </a:p>
        </p:txBody>
      </p:sp>
      <p:sp>
        <p:nvSpPr>
          <p:cNvPr id="51" name="Text 40"/>
          <p:cNvSpPr txBox="1"/>
          <p:nvPr/>
        </p:nvSpPr>
        <p:spPr>
          <a:xfrm>
            <a:off x="731520" y="5806440"/>
            <a:ext cx="2194560" cy="274320"/>
          </a:xfrm>
          <a:prstGeom prst="rect">
            <a:avLst/>
          </a:prstGeom>
          <a:noFill/>
          <a:ln/>
        </p:spPr>
        <p:txBody>
          <a:bodyPr wrap="square" lIns="0" tIns="0" rIns="0" bIns="0" rtlCol="0" anchor="t"/>
          <a:lstStyle/>
          <a:p>
            <a:pPr indent="0" marL="0">
              <a:buNone/>
            </a:pPr>
            <a:r>
              <a:rPr lang="en-US" sz="1400" dirty="0">
                <a:solidFill>
                  <a:schemeClr val="accent4"/>
                </a:solidFill>
              </a:rPr>
              <a:t>Requirement analysis</a:t>
            </a:r>
            <a:endParaRPr lang="en-US" sz="1400" dirty="0"/>
          </a:p>
        </p:txBody>
      </p:sp>
      <p:sp>
        <p:nvSpPr>
          <p:cNvPr id="52" name="Process arrow"/>
          <p:cNvSpPr/>
          <p:nvPr/>
        </p:nvSpPr>
        <p:spPr>
          <a:xfrm>
            <a:off x="3154680" y="5669280"/>
            <a:ext cx="182880" cy="256032"/>
          </a:xfrm>
          <a:prstGeom prst="chevron">
            <a:avLst/>
          </a:prstGeom>
          <a:solidFill>
            <a:schemeClr val="accent4"/>
          </a:solidFill>
          <a:ln/>
        </p:spPr>
      </p:sp>
      <p:sp>
        <p:nvSpPr>
          <p:cNvPr id="53" name="Process Design"/>
          <p:cNvSpPr/>
          <p:nvPr/>
        </p:nvSpPr>
        <p:spPr>
          <a:xfrm>
            <a:off x="3383280" y="5440680"/>
            <a:ext cx="2560320" cy="713232"/>
          </a:xfrm>
          <a:prstGeom prst="roundRect">
            <a:avLst>
              <a:gd name="adj" fmla="val 15385"/>
            </a:avLst>
          </a:prstGeom>
          <a:solidFill>
            <a:schemeClr val="bg2"/>
          </a:solidFill>
          <a:ln/>
          <a:effectLst>
            <a:outerShdw sx="100000" sy="100000" kx="0" ky="0" algn="bl" rotWithShape="0" blurRad="101600" dist="25400" dir="5400000">
              <a:srgbClr val="000000">
                <a:alpha val="12000"/>
              </a:srgbClr>
            </a:outerShdw>
          </a:effectLst>
        </p:spPr>
      </p:sp>
      <p:sp>
        <p:nvSpPr>
          <p:cNvPr id="54" name="Text 43"/>
          <p:cNvSpPr txBox="1"/>
          <p:nvPr/>
        </p:nvSpPr>
        <p:spPr>
          <a:xfrm>
            <a:off x="3566160" y="5504688"/>
            <a:ext cx="2194560" cy="274320"/>
          </a:xfrm>
          <a:prstGeom prst="rect">
            <a:avLst/>
          </a:prstGeom>
          <a:noFill/>
          <a:ln/>
        </p:spPr>
        <p:txBody>
          <a:bodyPr wrap="square" lIns="0" tIns="0" rIns="0" bIns="0" rtlCol="0" anchor="t"/>
          <a:lstStyle/>
          <a:p>
            <a:pPr indent="0" marL="0">
              <a:buNone/>
            </a:pPr>
            <a:r>
              <a:rPr lang="en-US" sz="1600" b="1" dirty="0">
                <a:solidFill>
                  <a:schemeClr val="accent1"/>
                </a:solidFill>
              </a:rPr>
              <a:t>Design</a:t>
            </a:r>
            <a:endParaRPr lang="en-US" sz="1600" dirty="0"/>
          </a:p>
        </p:txBody>
      </p:sp>
      <p:sp>
        <p:nvSpPr>
          <p:cNvPr id="55" name="Text 44"/>
          <p:cNvSpPr txBox="1"/>
          <p:nvPr/>
        </p:nvSpPr>
        <p:spPr>
          <a:xfrm>
            <a:off x="3566160" y="5806440"/>
            <a:ext cx="2194560" cy="274320"/>
          </a:xfrm>
          <a:prstGeom prst="rect">
            <a:avLst/>
          </a:prstGeom>
          <a:noFill/>
          <a:ln/>
        </p:spPr>
        <p:txBody>
          <a:bodyPr wrap="square" lIns="0" tIns="0" rIns="0" bIns="0" rtlCol="0" anchor="t"/>
          <a:lstStyle/>
          <a:p>
            <a:pPr indent="0" marL="0">
              <a:buNone/>
            </a:pPr>
            <a:r>
              <a:rPr lang="en-US" sz="1400" dirty="0">
                <a:solidFill>
                  <a:schemeClr val="accent4"/>
                </a:solidFill>
              </a:rPr>
              <a:t>UI/UX and planning</a:t>
            </a:r>
            <a:endParaRPr lang="en-US" sz="1400" dirty="0"/>
          </a:p>
        </p:txBody>
      </p:sp>
      <p:sp>
        <p:nvSpPr>
          <p:cNvPr id="56" name="Process arrow"/>
          <p:cNvSpPr/>
          <p:nvPr/>
        </p:nvSpPr>
        <p:spPr>
          <a:xfrm>
            <a:off x="5989320" y="5669280"/>
            <a:ext cx="182880" cy="256032"/>
          </a:xfrm>
          <a:prstGeom prst="chevron">
            <a:avLst/>
          </a:prstGeom>
          <a:solidFill>
            <a:schemeClr val="accent4"/>
          </a:solidFill>
          <a:ln/>
        </p:spPr>
      </p:sp>
      <p:sp>
        <p:nvSpPr>
          <p:cNvPr id="57" name="Process Develop"/>
          <p:cNvSpPr/>
          <p:nvPr/>
        </p:nvSpPr>
        <p:spPr>
          <a:xfrm>
            <a:off x="6217920" y="5440680"/>
            <a:ext cx="2560320" cy="713232"/>
          </a:xfrm>
          <a:prstGeom prst="roundRect">
            <a:avLst>
              <a:gd name="adj" fmla="val 15385"/>
            </a:avLst>
          </a:prstGeom>
          <a:solidFill>
            <a:schemeClr val="bg2"/>
          </a:solidFill>
          <a:ln/>
          <a:effectLst>
            <a:outerShdw sx="100000" sy="100000" kx="0" ky="0" algn="bl" rotWithShape="0" blurRad="101600" dist="25400" dir="5400000">
              <a:srgbClr val="000000">
                <a:alpha val="12000"/>
              </a:srgbClr>
            </a:outerShdw>
          </a:effectLst>
        </p:spPr>
      </p:sp>
      <p:sp>
        <p:nvSpPr>
          <p:cNvPr id="58" name="Text 47"/>
          <p:cNvSpPr txBox="1"/>
          <p:nvPr/>
        </p:nvSpPr>
        <p:spPr>
          <a:xfrm>
            <a:off x="6400800" y="5504688"/>
            <a:ext cx="2194560" cy="274320"/>
          </a:xfrm>
          <a:prstGeom prst="rect">
            <a:avLst/>
          </a:prstGeom>
          <a:noFill/>
          <a:ln/>
        </p:spPr>
        <p:txBody>
          <a:bodyPr wrap="square" lIns="0" tIns="0" rIns="0" bIns="0" rtlCol="0" anchor="t"/>
          <a:lstStyle/>
          <a:p>
            <a:pPr indent="0" marL="0">
              <a:buNone/>
            </a:pPr>
            <a:r>
              <a:rPr lang="en-US" sz="1600" b="1" dirty="0">
                <a:solidFill>
                  <a:schemeClr val="accent1"/>
                </a:solidFill>
              </a:rPr>
              <a:t>Develop</a:t>
            </a:r>
            <a:endParaRPr lang="en-US" sz="1600" dirty="0"/>
          </a:p>
        </p:txBody>
      </p:sp>
      <p:sp>
        <p:nvSpPr>
          <p:cNvPr id="59" name="Text 48"/>
          <p:cNvSpPr txBox="1"/>
          <p:nvPr/>
        </p:nvSpPr>
        <p:spPr>
          <a:xfrm>
            <a:off x="6400800" y="5806440"/>
            <a:ext cx="2194560" cy="274320"/>
          </a:xfrm>
          <a:prstGeom prst="rect">
            <a:avLst/>
          </a:prstGeom>
          <a:noFill/>
          <a:ln/>
        </p:spPr>
        <p:txBody>
          <a:bodyPr wrap="square" lIns="0" tIns="0" rIns="0" bIns="0" rtlCol="0" anchor="t"/>
          <a:lstStyle/>
          <a:p>
            <a:pPr indent="0" marL="0">
              <a:buNone/>
            </a:pPr>
            <a:r>
              <a:rPr lang="en-US" sz="1400" dirty="0">
                <a:solidFill>
                  <a:schemeClr val="accent4"/>
                </a:solidFill>
              </a:rPr>
              <a:t>Coding and testing</a:t>
            </a:r>
            <a:endParaRPr lang="en-US" sz="1400" dirty="0"/>
          </a:p>
        </p:txBody>
      </p:sp>
      <p:sp>
        <p:nvSpPr>
          <p:cNvPr id="60" name="Process arrow"/>
          <p:cNvSpPr/>
          <p:nvPr/>
        </p:nvSpPr>
        <p:spPr>
          <a:xfrm>
            <a:off x="8823960" y="5669280"/>
            <a:ext cx="182880" cy="256032"/>
          </a:xfrm>
          <a:prstGeom prst="chevron">
            <a:avLst/>
          </a:prstGeom>
          <a:solidFill>
            <a:schemeClr val="accent4"/>
          </a:solidFill>
          <a:ln/>
        </p:spPr>
      </p:sp>
      <p:sp>
        <p:nvSpPr>
          <p:cNvPr id="61" name="Process Deploy"/>
          <p:cNvSpPr/>
          <p:nvPr/>
        </p:nvSpPr>
        <p:spPr>
          <a:xfrm>
            <a:off x="9052560" y="5440680"/>
            <a:ext cx="2560320" cy="713232"/>
          </a:xfrm>
          <a:prstGeom prst="roundRect">
            <a:avLst>
              <a:gd name="adj" fmla="val 15385"/>
            </a:avLst>
          </a:prstGeom>
          <a:solidFill>
            <a:schemeClr val="bg2"/>
          </a:solidFill>
          <a:ln/>
          <a:effectLst>
            <a:outerShdw sx="100000" sy="100000" kx="0" ky="0" algn="bl" rotWithShape="0" blurRad="101600" dist="25400" dir="5400000">
              <a:srgbClr val="000000">
                <a:alpha val="12000"/>
              </a:srgbClr>
            </a:outerShdw>
          </a:effectLst>
        </p:spPr>
      </p:sp>
      <p:sp>
        <p:nvSpPr>
          <p:cNvPr id="62" name="Text 51"/>
          <p:cNvSpPr txBox="1"/>
          <p:nvPr/>
        </p:nvSpPr>
        <p:spPr>
          <a:xfrm>
            <a:off x="9235440" y="5504688"/>
            <a:ext cx="2194560" cy="274320"/>
          </a:xfrm>
          <a:prstGeom prst="rect">
            <a:avLst/>
          </a:prstGeom>
          <a:noFill/>
          <a:ln/>
        </p:spPr>
        <p:txBody>
          <a:bodyPr wrap="square" lIns="0" tIns="0" rIns="0" bIns="0" rtlCol="0" anchor="t"/>
          <a:lstStyle/>
          <a:p>
            <a:pPr indent="0" marL="0">
              <a:buNone/>
            </a:pPr>
            <a:r>
              <a:rPr lang="en-US" sz="1600" b="1" dirty="0">
                <a:solidFill>
                  <a:schemeClr val="accent1"/>
                </a:solidFill>
              </a:rPr>
              <a:t>Deploy</a:t>
            </a:r>
            <a:endParaRPr lang="en-US" sz="1600" dirty="0"/>
          </a:p>
        </p:txBody>
      </p:sp>
      <p:sp>
        <p:nvSpPr>
          <p:cNvPr id="63" name="Text 52"/>
          <p:cNvSpPr txBox="1"/>
          <p:nvPr/>
        </p:nvSpPr>
        <p:spPr>
          <a:xfrm>
            <a:off x="9235440" y="5806440"/>
            <a:ext cx="2194560" cy="274320"/>
          </a:xfrm>
          <a:prstGeom prst="rect">
            <a:avLst/>
          </a:prstGeom>
          <a:noFill/>
          <a:ln/>
        </p:spPr>
        <p:txBody>
          <a:bodyPr wrap="square" lIns="0" tIns="0" rIns="0" bIns="0" rtlCol="0" anchor="t"/>
          <a:lstStyle/>
          <a:p>
            <a:pPr indent="0" marL="0">
              <a:buNone/>
            </a:pPr>
            <a:r>
              <a:rPr lang="en-US" sz="1400" dirty="0">
                <a:solidFill>
                  <a:schemeClr val="accent4"/>
                </a:solidFill>
              </a:rPr>
              <a:t>Launch and support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Internship at a Glance</a:t>
            </a:r>
            <a:endParaRPr lang="en-US" sz="3400" dirty="0"/>
          </a:p>
        </p:txBody>
      </p:sp>
      <p:sp>
        <p:nvSpPr>
          <p:cNvPr id="3" name="Stat Working days"/>
          <p:cNvSpPr/>
          <p:nvPr/>
        </p:nvSpPr>
        <p:spPr>
          <a:xfrm>
            <a:off x="548640" y="1417320"/>
            <a:ext cx="2606040" cy="1737360"/>
          </a:xfrm>
          <a:prstGeom prst="roundRect">
            <a:avLst>
              <a:gd name="adj" fmla="val 6316"/>
            </a:avLst>
          </a:prstGeom>
          <a:solidFill>
            <a:schemeClr val="bg2"/>
          </a:solidFill>
          <a:ln/>
          <a:effectLst>
            <a:outerShdw sx="100000" sy="100000" kx="0" ky="0" algn="bl" rotWithShape="0" blurRad="101600" dist="25400" dir="5400000">
              <a:srgbClr val="000000">
                <a:alpha val="12000"/>
              </a:srgbClr>
            </a:outerShdw>
          </a:effectLst>
        </p:spPr>
      </p:sp>
      <p:sp>
        <p:nvSpPr>
          <p:cNvPr id="4" name="Text 2"/>
          <p:cNvSpPr txBox="1"/>
          <p:nvPr/>
        </p:nvSpPr>
        <p:spPr>
          <a:xfrm>
            <a:off x="548640" y="1463040"/>
            <a:ext cx="2606040" cy="868680"/>
          </a:xfrm>
          <a:prstGeom prst="rect">
            <a:avLst/>
          </a:prstGeom>
          <a:noFill/>
          <a:ln/>
        </p:spPr>
        <p:txBody>
          <a:bodyPr wrap="square" lIns="0" tIns="0" rIns="0" bIns="0" rtlCol="0" anchor="ctr"/>
          <a:lstStyle/>
          <a:p>
            <a:pPr algn="ctr" indent="0" marL="0">
              <a:buNone/>
            </a:pPr>
            <a:r>
              <a:rPr lang="en-US" sz="5400" b="1" dirty="0">
                <a:solidFill>
                  <a:schemeClr val="accent1"/>
                </a:solidFill>
              </a:rPr>
              <a:t>30</a:t>
            </a:r>
            <a:endParaRPr lang="en-US" sz="5400" dirty="0"/>
          </a:p>
        </p:txBody>
      </p:sp>
      <p:sp>
        <p:nvSpPr>
          <p:cNvPr id="5" name="Text 3"/>
          <p:cNvSpPr txBox="1"/>
          <p:nvPr/>
        </p:nvSpPr>
        <p:spPr>
          <a:xfrm>
            <a:off x="548640" y="2359152"/>
            <a:ext cx="2606040" cy="274320"/>
          </a:xfrm>
          <a:prstGeom prst="rect">
            <a:avLst/>
          </a:prstGeom>
          <a:noFill/>
          <a:ln/>
        </p:spPr>
        <p:txBody>
          <a:bodyPr wrap="square" lIns="0" tIns="0" rIns="0" bIns="0" rtlCol="0" anchor="t"/>
          <a:lstStyle/>
          <a:p>
            <a:pPr algn="ctr" indent="0" marL="0">
              <a:buNone/>
            </a:pPr>
            <a:r>
              <a:rPr lang="en-US" sz="1600" b="1" dirty="0">
                <a:solidFill>
                  <a:schemeClr val="tx2"/>
                </a:solidFill>
              </a:rPr>
              <a:t>Working days</a:t>
            </a:r>
            <a:endParaRPr lang="en-US" sz="1600" dirty="0"/>
          </a:p>
        </p:txBody>
      </p:sp>
      <p:sp>
        <p:nvSpPr>
          <p:cNvPr id="6" name="Text 4"/>
          <p:cNvSpPr txBox="1"/>
          <p:nvPr/>
        </p:nvSpPr>
        <p:spPr>
          <a:xfrm>
            <a:off x="640080" y="2670048"/>
            <a:ext cx="2423160" cy="365760"/>
          </a:xfrm>
          <a:prstGeom prst="rect">
            <a:avLst/>
          </a:prstGeom>
          <a:noFill/>
          <a:ln/>
        </p:spPr>
        <p:txBody>
          <a:bodyPr wrap="square" lIns="0" tIns="0" rIns="0" bIns="0" rtlCol="0" anchor="t"/>
          <a:lstStyle/>
          <a:p>
            <a:pPr algn="ctr" indent="0" marL="0">
              <a:buNone/>
            </a:pPr>
            <a:r>
              <a:rPr lang="en-US" sz="1300" dirty="0">
                <a:solidFill>
                  <a:schemeClr val="accent4"/>
                </a:solidFill>
              </a:rPr>
              <a:t>01 Jun to 30 Jun 2026</a:t>
            </a:r>
            <a:endParaRPr lang="en-US" sz="1300" dirty="0"/>
          </a:p>
        </p:txBody>
      </p:sp>
      <p:sp>
        <p:nvSpPr>
          <p:cNvPr id="7" name="Stat Architecture tiers"/>
          <p:cNvSpPr/>
          <p:nvPr/>
        </p:nvSpPr>
        <p:spPr>
          <a:xfrm>
            <a:off x="3368010" y="1417320"/>
            <a:ext cx="2606040" cy="1737360"/>
          </a:xfrm>
          <a:prstGeom prst="roundRect">
            <a:avLst>
              <a:gd name="adj" fmla="val 6316"/>
            </a:avLst>
          </a:prstGeom>
          <a:solidFill>
            <a:schemeClr val="bg2"/>
          </a:solidFill>
          <a:ln/>
          <a:effectLst>
            <a:outerShdw sx="100000" sy="100000" kx="0" ky="0" algn="bl" rotWithShape="0" blurRad="101600" dist="25400" dir="5400000">
              <a:srgbClr val="000000">
                <a:alpha val="12000"/>
              </a:srgbClr>
            </a:outerShdw>
          </a:effectLst>
        </p:spPr>
      </p:sp>
      <p:sp>
        <p:nvSpPr>
          <p:cNvPr id="8" name="Text 6"/>
          <p:cNvSpPr txBox="1"/>
          <p:nvPr/>
        </p:nvSpPr>
        <p:spPr>
          <a:xfrm>
            <a:off x="3368010" y="1463040"/>
            <a:ext cx="2606040" cy="868680"/>
          </a:xfrm>
          <a:prstGeom prst="rect">
            <a:avLst/>
          </a:prstGeom>
          <a:noFill/>
          <a:ln/>
        </p:spPr>
        <p:txBody>
          <a:bodyPr wrap="square" lIns="0" tIns="0" rIns="0" bIns="0" rtlCol="0" anchor="ctr"/>
          <a:lstStyle/>
          <a:p>
            <a:pPr algn="ctr" indent="0" marL="0">
              <a:buNone/>
            </a:pPr>
            <a:r>
              <a:rPr lang="en-US" sz="5400" b="1" dirty="0">
                <a:solidFill>
                  <a:schemeClr val="accent1"/>
                </a:solidFill>
              </a:rPr>
              <a:t>3</a:t>
            </a:r>
            <a:endParaRPr lang="en-US" sz="5400" dirty="0"/>
          </a:p>
        </p:txBody>
      </p:sp>
      <p:sp>
        <p:nvSpPr>
          <p:cNvPr id="9" name="Text 7"/>
          <p:cNvSpPr txBox="1"/>
          <p:nvPr/>
        </p:nvSpPr>
        <p:spPr>
          <a:xfrm>
            <a:off x="3368010" y="2359152"/>
            <a:ext cx="2606040" cy="274320"/>
          </a:xfrm>
          <a:prstGeom prst="rect">
            <a:avLst/>
          </a:prstGeom>
          <a:noFill/>
          <a:ln/>
        </p:spPr>
        <p:txBody>
          <a:bodyPr wrap="square" lIns="0" tIns="0" rIns="0" bIns="0" rtlCol="0" anchor="t"/>
          <a:lstStyle/>
          <a:p>
            <a:pPr algn="ctr" indent="0" marL="0">
              <a:buNone/>
            </a:pPr>
            <a:r>
              <a:rPr lang="en-US" sz="1600" b="1" dirty="0">
                <a:solidFill>
                  <a:schemeClr val="tx2"/>
                </a:solidFill>
              </a:rPr>
              <a:t>Architecture tiers</a:t>
            </a:r>
            <a:endParaRPr lang="en-US" sz="1600" dirty="0"/>
          </a:p>
        </p:txBody>
      </p:sp>
      <p:sp>
        <p:nvSpPr>
          <p:cNvPr id="10" name="Text 8"/>
          <p:cNvSpPr txBox="1"/>
          <p:nvPr/>
        </p:nvSpPr>
        <p:spPr>
          <a:xfrm>
            <a:off x="3459450" y="2670048"/>
            <a:ext cx="2423160" cy="365760"/>
          </a:xfrm>
          <a:prstGeom prst="rect">
            <a:avLst/>
          </a:prstGeom>
          <a:noFill/>
          <a:ln/>
        </p:spPr>
        <p:txBody>
          <a:bodyPr wrap="square" lIns="0" tIns="0" rIns="0" bIns="0" rtlCol="0" anchor="t"/>
          <a:lstStyle/>
          <a:p>
            <a:pPr algn="ctr" indent="0" marL="0">
              <a:buNone/>
            </a:pPr>
            <a:r>
              <a:rPr lang="en-US" sz="1300" dirty="0">
                <a:solidFill>
                  <a:schemeClr val="accent4"/>
                </a:solidFill>
              </a:rPr>
              <a:t>Presentation, logic, data</a:t>
            </a:r>
            <a:endParaRPr lang="en-US" sz="1300" dirty="0"/>
          </a:p>
        </p:txBody>
      </p:sp>
      <p:sp>
        <p:nvSpPr>
          <p:cNvPr id="11" name="Stat Core modules"/>
          <p:cNvSpPr/>
          <p:nvPr/>
        </p:nvSpPr>
        <p:spPr>
          <a:xfrm>
            <a:off x="6187379" y="1417320"/>
            <a:ext cx="2606040" cy="1737360"/>
          </a:xfrm>
          <a:prstGeom prst="roundRect">
            <a:avLst>
              <a:gd name="adj" fmla="val 6316"/>
            </a:avLst>
          </a:prstGeom>
          <a:solidFill>
            <a:schemeClr val="bg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6187379" y="1463040"/>
            <a:ext cx="2606040" cy="868680"/>
          </a:xfrm>
          <a:prstGeom prst="rect">
            <a:avLst/>
          </a:prstGeom>
          <a:noFill/>
          <a:ln/>
        </p:spPr>
        <p:txBody>
          <a:bodyPr wrap="square" lIns="0" tIns="0" rIns="0" bIns="0" rtlCol="0" anchor="ctr"/>
          <a:lstStyle/>
          <a:p>
            <a:pPr algn="ctr" indent="0" marL="0">
              <a:buNone/>
            </a:pPr>
            <a:r>
              <a:rPr lang="en-US" sz="5400" b="1" dirty="0">
                <a:solidFill>
                  <a:schemeClr val="accent1"/>
                </a:solidFill>
              </a:rPr>
              <a:t>6</a:t>
            </a:r>
            <a:endParaRPr lang="en-US" sz="5400" dirty="0"/>
          </a:p>
        </p:txBody>
      </p:sp>
      <p:sp>
        <p:nvSpPr>
          <p:cNvPr id="13" name="Text 11"/>
          <p:cNvSpPr txBox="1"/>
          <p:nvPr/>
        </p:nvSpPr>
        <p:spPr>
          <a:xfrm>
            <a:off x="6187379" y="2359152"/>
            <a:ext cx="2606040" cy="274320"/>
          </a:xfrm>
          <a:prstGeom prst="rect">
            <a:avLst/>
          </a:prstGeom>
          <a:noFill/>
          <a:ln/>
        </p:spPr>
        <p:txBody>
          <a:bodyPr wrap="square" lIns="0" tIns="0" rIns="0" bIns="0" rtlCol="0" anchor="t"/>
          <a:lstStyle/>
          <a:p>
            <a:pPr algn="ctr" indent="0" marL="0">
              <a:buNone/>
            </a:pPr>
            <a:r>
              <a:rPr lang="en-US" sz="1600" b="1" dirty="0">
                <a:solidFill>
                  <a:schemeClr val="tx2"/>
                </a:solidFill>
              </a:rPr>
              <a:t>Core modules</a:t>
            </a:r>
            <a:endParaRPr lang="en-US" sz="1600" dirty="0"/>
          </a:p>
        </p:txBody>
      </p:sp>
      <p:sp>
        <p:nvSpPr>
          <p:cNvPr id="14" name="Text 12"/>
          <p:cNvSpPr txBox="1"/>
          <p:nvPr/>
        </p:nvSpPr>
        <p:spPr>
          <a:xfrm>
            <a:off x="6278819" y="2670048"/>
            <a:ext cx="2423160" cy="365760"/>
          </a:xfrm>
          <a:prstGeom prst="rect">
            <a:avLst/>
          </a:prstGeom>
          <a:noFill/>
          <a:ln/>
        </p:spPr>
        <p:txBody>
          <a:bodyPr wrap="square" lIns="0" tIns="0" rIns="0" bIns="0" rtlCol="0" anchor="t"/>
          <a:lstStyle/>
          <a:p>
            <a:pPr algn="ctr" indent="0" marL="0">
              <a:buNone/>
            </a:pPr>
            <a:r>
              <a:rPr lang="en-US" sz="1300" dirty="0">
                <a:solidFill>
                  <a:schemeClr val="accent4"/>
                </a:solidFill>
              </a:rPr>
              <a:t>From browsing to dashboard</a:t>
            </a:r>
            <a:endParaRPr lang="en-US" sz="1300" dirty="0"/>
          </a:p>
        </p:txBody>
      </p:sp>
      <p:sp>
        <p:nvSpPr>
          <p:cNvPr id="15" name="Stat Database tables"/>
          <p:cNvSpPr/>
          <p:nvPr/>
        </p:nvSpPr>
        <p:spPr>
          <a:xfrm>
            <a:off x="9006749" y="1417320"/>
            <a:ext cx="2606040" cy="1737360"/>
          </a:xfrm>
          <a:prstGeom prst="roundRect">
            <a:avLst>
              <a:gd name="adj" fmla="val 6316"/>
            </a:avLst>
          </a:prstGeom>
          <a:solidFill>
            <a:schemeClr val="bg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006749" y="1463040"/>
            <a:ext cx="2606040" cy="868680"/>
          </a:xfrm>
          <a:prstGeom prst="rect">
            <a:avLst/>
          </a:prstGeom>
          <a:noFill/>
          <a:ln/>
        </p:spPr>
        <p:txBody>
          <a:bodyPr wrap="square" lIns="0" tIns="0" rIns="0" bIns="0" rtlCol="0" anchor="ctr"/>
          <a:lstStyle/>
          <a:p>
            <a:pPr algn="ctr" indent="0" marL="0">
              <a:buNone/>
            </a:pPr>
            <a:r>
              <a:rPr lang="en-US" sz="5400" b="1" dirty="0">
                <a:solidFill>
                  <a:schemeClr val="accent1"/>
                </a:solidFill>
              </a:rPr>
              <a:t>3</a:t>
            </a:r>
            <a:endParaRPr lang="en-US" sz="5400" dirty="0"/>
          </a:p>
        </p:txBody>
      </p:sp>
      <p:sp>
        <p:nvSpPr>
          <p:cNvPr id="17" name="Text 15"/>
          <p:cNvSpPr txBox="1"/>
          <p:nvPr/>
        </p:nvSpPr>
        <p:spPr>
          <a:xfrm>
            <a:off x="9006749" y="2359152"/>
            <a:ext cx="2606040" cy="274320"/>
          </a:xfrm>
          <a:prstGeom prst="rect">
            <a:avLst/>
          </a:prstGeom>
          <a:noFill/>
          <a:ln/>
        </p:spPr>
        <p:txBody>
          <a:bodyPr wrap="square" lIns="0" tIns="0" rIns="0" bIns="0" rtlCol="0" anchor="t"/>
          <a:lstStyle/>
          <a:p>
            <a:pPr algn="ctr" indent="0" marL="0">
              <a:buNone/>
            </a:pPr>
            <a:r>
              <a:rPr lang="en-US" sz="1600" b="1" dirty="0">
                <a:solidFill>
                  <a:schemeClr val="tx2"/>
                </a:solidFill>
              </a:rPr>
              <a:t>Database tables</a:t>
            </a:r>
            <a:endParaRPr lang="en-US" sz="1600" dirty="0"/>
          </a:p>
        </p:txBody>
      </p:sp>
      <p:sp>
        <p:nvSpPr>
          <p:cNvPr id="18" name="Text 16"/>
          <p:cNvSpPr txBox="1"/>
          <p:nvPr/>
        </p:nvSpPr>
        <p:spPr>
          <a:xfrm>
            <a:off x="9098189" y="2670048"/>
            <a:ext cx="2423160" cy="365760"/>
          </a:xfrm>
          <a:prstGeom prst="rect">
            <a:avLst/>
          </a:prstGeom>
          <a:noFill/>
          <a:ln/>
        </p:spPr>
        <p:txBody>
          <a:bodyPr wrap="square" lIns="0" tIns="0" rIns="0" bIns="0" rtlCol="0" anchor="t"/>
          <a:lstStyle/>
          <a:p>
            <a:pPr algn="ctr" indent="0" marL="0">
              <a:buNone/>
            </a:pPr>
            <a:r>
              <a:rPr lang="en-US" sz="1300" dirty="0">
                <a:solidFill>
                  <a:schemeClr val="accent4"/>
                </a:solidFill>
              </a:rPr>
              <a:t>Categories, courses, enrollments</a:t>
            </a:r>
            <a:endParaRPr lang="en-US" sz="1300" dirty="0"/>
          </a:p>
        </p:txBody>
      </p:sp>
      <p:sp>
        <p:nvSpPr>
          <p:cNvPr id="19" name="Project card"/>
          <p:cNvSpPr/>
          <p:nvPr/>
        </p:nvSpPr>
        <p:spPr>
          <a:xfrm>
            <a:off x="548640" y="3383280"/>
            <a:ext cx="5394960" cy="2743200"/>
          </a:xfrm>
          <a:prstGeom prst="roundRect">
            <a:avLst>
              <a:gd name="adj" fmla="val 4000"/>
            </a:avLst>
          </a:prstGeom>
          <a:solidFill>
            <a:schemeClr val="bg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822960" y="3566160"/>
            <a:ext cx="484632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PROJECT ASSIGNED</a:t>
            </a:r>
            <a:endParaRPr lang="en-US" sz="1300" dirty="0"/>
          </a:p>
        </p:txBody>
      </p:sp>
      <p:sp>
        <p:nvSpPr>
          <p:cNvPr id="21" name="Text 19"/>
          <p:cNvSpPr txBox="1"/>
          <p:nvPr/>
        </p:nvSpPr>
        <p:spPr>
          <a:xfrm>
            <a:off x="822960" y="3886200"/>
            <a:ext cx="4846320" cy="365760"/>
          </a:xfrm>
          <a:prstGeom prst="rect">
            <a:avLst/>
          </a:prstGeom>
          <a:noFill/>
          <a:ln/>
        </p:spPr>
        <p:txBody>
          <a:bodyPr wrap="square" lIns="0" tIns="0" rIns="0" bIns="0" rtlCol="0" anchor="t"/>
          <a:lstStyle/>
          <a:p>
            <a:pPr indent="0" marL="0">
              <a:buNone/>
            </a:pPr>
            <a:r>
              <a:rPr lang="en-US" sz="2200" b="1" dirty="0">
                <a:solidFill>
                  <a:schemeClr val="tx2"/>
                </a:solidFill>
              </a:rPr>
              <a:t>Smart Course Enrollment System</a:t>
            </a:r>
            <a:endParaRPr lang="en-US" sz="2200" dirty="0"/>
          </a:p>
        </p:txBody>
      </p:sp>
      <p:sp>
        <p:nvSpPr>
          <p:cNvPr id="22" name="Text 20"/>
          <p:cNvSpPr txBox="1"/>
          <p:nvPr/>
        </p:nvSpPr>
        <p:spPr>
          <a:xfrm>
            <a:off x="822960" y="4389120"/>
            <a:ext cx="4846320" cy="822960"/>
          </a:xfrm>
          <a:prstGeom prst="rect">
            <a:avLst/>
          </a:prstGeom>
          <a:noFill/>
          <a:ln/>
        </p:spPr>
        <p:txBody>
          <a:bodyPr wrap="square" lIns="0" tIns="0" rIns="0" bIns="0" rtlCol="0" anchor="t"/>
          <a:lstStyle/>
          <a:p>
            <a:pPr indent="0" marL="0">
              <a:buNone/>
            </a:pPr>
            <a:r>
              <a:rPr lang="en-US" sz="1400" dirty="0">
                <a:solidFill>
                  <a:schemeClr val="tx1"/>
                </a:solidFill>
              </a:rPr>
              <a:t>A Python full stack web application that digitizes course discovery, category filtering and online enrollment for training institutions.</a:t>
            </a:r>
            <a:endParaRPr lang="en-US" sz="1400" dirty="0"/>
          </a:p>
        </p:txBody>
      </p:sp>
      <p:sp>
        <p:nvSpPr>
          <p:cNvPr id="23" name="Pill FastAPI"/>
          <p:cNvSpPr/>
          <p:nvPr/>
        </p:nvSpPr>
        <p:spPr>
          <a:xfrm>
            <a:off x="822960" y="5486400"/>
            <a:ext cx="1097280" cy="365760"/>
          </a:xfrm>
          <a:prstGeom prst="roundRect">
            <a:avLst>
              <a:gd name="adj" fmla="val 50000"/>
            </a:avLst>
          </a:prstGeom>
          <a:solidFill>
            <a:schemeClr val="accent1"/>
          </a:solidFill>
          <a:ln/>
        </p:spPr>
      </p:sp>
      <p:sp>
        <p:nvSpPr>
          <p:cNvPr id="24" name="Text 22"/>
          <p:cNvSpPr txBox="1"/>
          <p:nvPr/>
        </p:nvSpPr>
        <p:spPr>
          <a:xfrm>
            <a:off x="822960" y="548640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FastAPI</a:t>
            </a:r>
            <a:endParaRPr lang="en-US" sz="1200" dirty="0"/>
          </a:p>
        </p:txBody>
      </p:sp>
      <p:sp>
        <p:nvSpPr>
          <p:cNvPr id="25" name="Pill Jinja2"/>
          <p:cNvSpPr/>
          <p:nvPr/>
        </p:nvSpPr>
        <p:spPr>
          <a:xfrm>
            <a:off x="2011680" y="5486400"/>
            <a:ext cx="1097280" cy="365760"/>
          </a:xfrm>
          <a:prstGeom prst="roundRect">
            <a:avLst>
              <a:gd name="adj" fmla="val 50000"/>
            </a:avLst>
          </a:prstGeom>
          <a:solidFill>
            <a:schemeClr val="accent1"/>
          </a:solidFill>
          <a:ln/>
        </p:spPr>
      </p:sp>
      <p:sp>
        <p:nvSpPr>
          <p:cNvPr id="26" name="Text 24"/>
          <p:cNvSpPr txBox="1"/>
          <p:nvPr/>
        </p:nvSpPr>
        <p:spPr>
          <a:xfrm>
            <a:off x="2011680" y="548640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Jinja2</a:t>
            </a:r>
            <a:endParaRPr lang="en-US" sz="1200" dirty="0"/>
          </a:p>
        </p:txBody>
      </p:sp>
      <p:sp>
        <p:nvSpPr>
          <p:cNvPr id="27" name="Pill MySQL"/>
          <p:cNvSpPr/>
          <p:nvPr/>
        </p:nvSpPr>
        <p:spPr>
          <a:xfrm>
            <a:off x="3200400" y="5486400"/>
            <a:ext cx="1097280" cy="365760"/>
          </a:xfrm>
          <a:prstGeom prst="roundRect">
            <a:avLst>
              <a:gd name="adj" fmla="val 50000"/>
            </a:avLst>
          </a:prstGeom>
          <a:solidFill>
            <a:schemeClr val="accent1"/>
          </a:solidFill>
          <a:ln/>
        </p:spPr>
      </p:sp>
      <p:sp>
        <p:nvSpPr>
          <p:cNvPr id="28" name="Text 26"/>
          <p:cNvSpPr txBox="1"/>
          <p:nvPr/>
        </p:nvSpPr>
        <p:spPr>
          <a:xfrm>
            <a:off x="3200400" y="548640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MySQL</a:t>
            </a:r>
            <a:endParaRPr lang="en-US" sz="1200" dirty="0"/>
          </a:p>
        </p:txBody>
      </p:sp>
      <p:sp>
        <p:nvSpPr>
          <p:cNvPr id="29" name="Pill HTML/CSS/JS"/>
          <p:cNvSpPr/>
          <p:nvPr/>
        </p:nvSpPr>
        <p:spPr>
          <a:xfrm>
            <a:off x="4389120" y="5486400"/>
            <a:ext cx="1097280" cy="365760"/>
          </a:xfrm>
          <a:prstGeom prst="roundRect">
            <a:avLst>
              <a:gd name="adj" fmla="val 50000"/>
            </a:avLst>
          </a:prstGeom>
          <a:solidFill>
            <a:schemeClr val="accent1"/>
          </a:solidFill>
          <a:ln/>
        </p:spPr>
      </p:sp>
      <p:sp>
        <p:nvSpPr>
          <p:cNvPr id="30" name="Text 28"/>
          <p:cNvSpPr txBox="1"/>
          <p:nvPr/>
        </p:nvSpPr>
        <p:spPr>
          <a:xfrm>
            <a:off x="4389120" y="548640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HTML/CSS/JS</a:t>
            </a:r>
            <a:endParaRPr lang="en-US" sz="1200" dirty="0"/>
          </a:p>
        </p:txBody>
      </p:sp>
      <p:sp>
        <p:nvSpPr>
          <p:cNvPr id="31" name="Responsibilities card"/>
          <p:cNvSpPr/>
          <p:nvPr/>
        </p:nvSpPr>
        <p:spPr>
          <a:xfrm>
            <a:off x="6217920" y="3383280"/>
            <a:ext cx="5394960" cy="2743200"/>
          </a:xfrm>
          <a:prstGeom prst="roundRect">
            <a:avLst>
              <a:gd name="adj" fmla="val 4000"/>
            </a:avLst>
          </a:prstGeom>
          <a:solidFill>
            <a:schemeClr val="bg2"/>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6492240" y="3566160"/>
            <a:ext cx="484632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MY RESPONSIBILITIES</a:t>
            </a:r>
            <a:endParaRPr lang="en-US" sz="1300" dirty="0"/>
          </a:p>
        </p:txBody>
      </p:sp>
      <p:sp>
        <p:nvSpPr>
          <p:cNvPr id="33" name="Icon circle FaDesktop"/>
          <p:cNvSpPr/>
          <p:nvPr/>
        </p:nvSpPr>
        <p:spPr>
          <a:xfrm>
            <a:off x="6492240" y="3977640"/>
            <a:ext cx="420624" cy="420624"/>
          </a:xfrm>
          <a:prstGeom prst="ellipse">
            <a:avLst/>
          </a:prstGeom>
          <a:solidFill>
            <a:schemeClr val="accent1"/>
          </a:solidFill>
          <a:ln/>
        </p:spPr>
      </p:sp>
      <p:pic>
        <p:nvPicPr>
          <p:cNvPr id="34" name="Image 0" descr="Desktop icon">    </p:cNvPr>
          <p:cNvPicPr>
            <a:picLocks noChangeAspect="1"/>
          </p:cNvPicPr>
          <p:nvPr/>
        </p:nvPicPr>
        <p:blipFill>
          <a:blip r:embed="rId1"/>
          <a:stretch>
            <a:fillRect/>
          </a:stretch>
        </p:blipFill>
        <p:spPr>
          <a:xfrm>
            <a:off x="6601602" y="4087002"/>
            <a:ext cx="201900" cy="201900"/>
          </a:xfrm>
          <a:prstGeom prst="rect">
            <a:avLst/>
          </a:prstGeom>
        </p:spPr>
      </p:pic>
      <p:sp>
        <p:nvSpPr>
          <p:cNvPr id="35" name="Text 32"/>
          <p:cNvSpPr txBox="1"/>
          <p:nvPr/>
        </p:nvSpPr>
        <p:spPr>
          <a:xfrm>
            <a:off x="7086600" y="3977640"/>
            <a:ext cx="4389120" cy="420624"/>
          </a:xfrm>
          <a:prstGeom prst="rect">
            <a:avLst/>
          </a:prstGeom>
          <a:noFill/>
          <a:ln/>
        </p:spPr>
        <p:txBody>
          <a:bodyPr wrap="square" lIns="0" tIns="0" rIns="0" bIns="0" rtlCol="0" anchor="ctr"/>
          <a:lstStyle/>
          <a:p>
            <a:pPr indent="0" marL="0">
              <a:buNone/>
            </a:pPr>
            <a:r>
              <a:rPr lang="en-US" sz="1400" dirty="0">
                <a:solidFill>
                  <a:schemeClr val="tx1"/>
                </a:solidFill>
              </a:rPr>
              <a:t>Responsive UI with HTML, CSS and JavaScript</a:t>
            </a:r>
            <a:endParaRPr lang="en-US" sz="1400" dirty="0"/>
          </a:p>
        </p:txBody>
      </p:sp>
      <p:sp>
        <p:nvSpPr>
          <p:cNvPr id="36" name="Icon circle FaServer"/>
          <p:cNvSpPr/>
          <p:nvPr/>
        </p:nvSpPr>
        <p:spPr>
          <a:xfrm>
            <a:off x="6492240" y="4526280"/>
            <a:ext cx="420624" cy="420624"/>
          </a:xfrm>
          <a:prstGeom prst="ellipse">
            <a:avLst/>
          </a:prstGeom>
          <a:solidFill>
            <a:schemeClr val="accent1"/>
          </a:solidFill>
          <a:ln/>
        </p:spPr>
      </p:sp>
      <p:pic>
        <p:nvPicPr>
          <p:cNvPr id="37" name="Image 1" descr="Server icon">    </p:cNvPr>
          <p:cNvPicPr>
            <a:picLocks noChangeAspect="1"/>
          </p:cNvPicPr>
          <p:nvPr/>
        </p:nvPicPr>
        <p:blipFill>
          <a:blip r:embed="rId2"/>
          <a:stretch>
            <a:fillRect/>
          </a:stretch>
        </p:blipFill>
        <p:spPr>
          <a:xfrm>
            <a:off x="6601602" y="4635642"/>
            <a:ext cx="201900" cy="201900"/>
          </a:xfrm>
          <a:prstGeom prst="rect">
            <a:avLst/>
          </a:prstGeom>
        </p:spPr>
      </p:pic>
      <p:sp>
        <p:nvSpPr>
          <p:cNvPr id="38" name="Text 34"/>
          <p:cNvSpPr txBox="1"/>
          <p:nvPr/>
        </p:nvSpPr>
        <p:spPr>
          <a:xfrm>
            <a:off x="7086600" y="4526280"/>
            <a:ext cx="4389120" cy="420624"/>
          </a:xfrm>
          <a:prstGeom prst="rect">
            <a:avLst/>
          </a:prstGeom>
          <a:noFill/>
          <a:ln/>
        </p:spPr>
        <p:txBody>
          <a:bodyPr wrap="square" lIns="0" tIns="0" rIns="0" bIns="0" rtlCol="0" anchor="ctr"/>
          <a:lstStyle/>
          <a:p>
            <a:pPr indent="0" marL="0">
              <a:buNone/>
            </a:pPr>
            <a:r>
              <a:rPr lang="en-US" sz="1400" dirty="0">
                <a:solidFill>
                  <a:schemeClr val="tx1"/>
                </a:solidFill>
              </a:rPr>
              <a:t>Backend services with Python and FastAPI</a:t>
            </a:r>
            <a:endParaRPr lang="en-US" sz="1400" dirty="0"/>
          </a:p>
        </p:txBody>
      </p:sp>
      <p:sp>
        <p:nvSpPr>
          <p:cNvPr id="39" name="Icon circle FaDatabase"/>
          <p:cNvSpPr/>
          <p:nvPr/>
        </p:nvSpPr>
        <p:spPr>
          <a:xfrm>
            <a:off x="6492240" y="5074920"/>
            <a:ext cx="420624" cy="420624"/>
          </a:xfrm>
          <a:prstGeom prst="ellipse">
            <a:avLst/>
          </a:prstGeom>
          <a:solidFill>
            <a:schemeClr val="accent1"/>
          </a:solidFill>
          <a:ln/>
        </p:spPr>
      </p:sp>
      <p:pic>
        <p:nvPicPr>
          <p:cNvPr id="40" name="Image 2" descr="Database icon">    </p:cNvPr>
          <p:cNvPicPr>
            <a:picLocks noChangeAspect="1"/>
          </p:cNvPicPr>
          <p:nvPr/>
        </p:nvPicPr>
        <p:blipFill>
          <a:blip r:embed="rId3"/>
          <a:stretch>
            <a:fillRect/>
          </a:stretch>
        </p:blipFill>
        <p:spPr>
          <a:xfrm>
            <a:off x="6601602" y="5184282"/>
            <a:ext cx="201900" cy="201900"/>
          </a:xfrm>
          <a:prstGeom prst="rect">
            <a:avLst/>
          </a:prstGeom>
        </p:spPr>
      </p:pic>
      <p:sp>
        <p:nvSpPr>
          <p:cNvPr id="41" name="Text 36"/>
          <p:cNvSpPr txBox="1"/>
          <p:nvPr/>
        </p:nvSpPr>
        <p:spPr>
          <a:xfrm>
            <a:off x="7086600" y="5074920"/>
            <a:ext cx="4389120" cy="420624"/>
          </a:xfrm>
          <a:prstGeom prst="rect">
            <a:avLst/>
          </a:prstGeom>
          <a:noFill/>
          <a:ln/>
        </p:spPr>
        <p:txBody>
          <a:bodyPr wrap="square" lIns="0" tIns="0" rIns="0" bIns="0" rtlCol="0" anchor="ctr"/>
          <a:lstStyle/>
          <a:p>
            <a:pPr indent="0" marL="0">
              <a:buNone/>
            </a:pPr>
            <a:r>
              <a:rPr lang="en-US" sz="1400" dirty="0">
                <a:solidFill>
                  <a:schemeClr val="tx1"/>
                </a:solidFill>
              </a:rPr>
              <a:t>MySQL integration and Jinja2 templates</a:t>
            </a:r>
            <a:endParaRPr lang="en-US" sz="1400" dirty="0"/>
          </a:p>
        </p:txBody>
      </p:sp>
      <p:sp>
        <p:nvSpPr>
          <p:cNvPr id="42" name="Icon circle FaBug"/>
          <p:cNvSpPr/>
          <p:nvPr/>
        </p:nvSpPr>
        <p:spPr>
          <a:xfrm>
            <a:off x="6492240" y="5623560"/>
            <a:ext cx="420624" cy="420624"/>
          </a:xfrm>
          <a:prstGeom prst="ellipse">
            <a:avLst/>
          </a:prstGeom>
          <a:solidFill>
            <a:schemeClr val="accent1"/>
          </a:solidFill>
          <a:ln/>
        </p:spPr>
      </p:sp>
      <p:pic>
        <p:nvPicPr>
          <p:cNvPr id="43" name="Image 3" descr="Bug icon">    </p:cNvPr>
          <p:cNvPicPr>
            <a:picLocks noChangeAspect="1"/>
          </p:cNvPicPr>
          <p:nvPr/>
        </p:nvPicPr>
        <p:blipFill>
          <a:blip r:embed="rId4"/>
          <a:stretch>
            <a:fillRect/>
          </a:stretch>
        </p:blipFill>
        <p:spPr>
          <a:xfrm>
            <a:off x="6601602" y="5732922"/>
            <a:ext cx="201900" cy="201900"/>
          </a:xfrm>
          <a:prstGeom prst="rect">
            <a:avLst/>
          </a:prstGeom>
        </p:spPr>
      </p:pic>
      <p:sp>
        <p:nvSpPr>
          <p:cNvPr id="44" name="Text 38"/>
          <p:cNvSpPr txBox="1"/>
          <p:nvPr/>
        </p:nvSpPr>
        <p:spPr>
          <a:xfrm>
            <a:off x="7086600" y="5623560"/>
            <a:ext cx="4389120" cy="420624"/>
          </a:xfrm>
          <a:prstGeom prst="rect">
            <a:avLst/>
          </a:prstGeom>
          <a:noFill/>
          <a:ln/>
        </p:spPr>
        <p:txBody>
          <a:bodyPr wrap="square" lIns="0" tIns="0" rIns="0" bIns="0" rtlCol="0" anchor="ctr"/>
          <a:lstStyle/>
          <a:p>
            <a:pPr indent="0" marL="0">
              <a:buNone/>
            </a:pPr>
            <a:r>
              <a:rPr lang="en-US" sz="1400" dirty="0">
                <a:solidFill>
                  <a:schemeClr val="tx1"/>
                </a:solidFill>
              </a:rPr>
              <a:t>Testing forms, validation and stored records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30-Day Work Plan</a:t>
            </a:r>
            <a:endParaRPr lang="en-US" sz="3400" dirty="0"/>
          </a:p>
        </p:txBody>
      </p:sp>
      <p:sp>
        <p:nvSpPr>
          <p:cNvPr id="3" name="Timeline line"/>
          <p:cNvSpPr/>
          <p:nvPr/>
        </p:nvSpPr>
        <p:spPr>
          <a:xfrm>
            <a:off x="1600200" y="1828800"/>
            <a:ext cx="8961120" cy="0"/>
          </a:xfrm>
          <a:prstGeom prst="line">
            <a:avLst/>
          </a:prstGeom>
          <a:noFill/>
          <a:ln w="19050">
            <a:solidFill>
              <a:schemeClr val="accent4"/>
            </a:solidFill>
            <a:prstDash val="solid"/>
          </a:ln>
        </p:spPr>
      </p:sp>
      <p:sp>
        <p:nvSpPr>
          <p:cNvPr id="4" name="Step 1"/>
          <p:cNvSpPr/>
          <p:nvPr/>
        </p:nvSpPr>
        <p:spPr>
          <a:xfrm>
            <a:off x="1280160" y="1508760"/>
            <a:ext cx="640080" cy="640080"/>
          </a:xfrm>
          <a:prstGeom prst="ellipse">
            <a:avLst/>
          </a:prstGeom>
          <a:solidFill>
            <a:schemeClr val="accent1"/>
          </a:solidFill>
          <a:ln/>
        </p:spPr>
      </p:sp>
      <p:sp>
        <p:nvSpPr>
          <p:cNvPr id="5" name="Text 3"/>
          <p:cNvSpPr txBox="1"/>
          <p:nvPr/>
        </p:nvSpPr>
        <p:spPr>
          <a:xfrm>
            <a:off x="128016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Phase 1"/>
          <p:cNvSpPr/>
          <p:nvPr/>
        </p:nvSpPr>
        <p:spPr>
          <a:xfrm>
            <a:off x="548640" y="2377440"/>
            <a:ext cx="2103120" cy="338328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7" name="Text 5"/>
          <p:cNvSpPr txBox="1"/>
          <p:nvPr/>
        </p:nvSpPr>
        <p:spPr>
          <a:xfrm>
            <a:off x="685800" y="2560320"/>
            <a:ext cx="182880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DAYS 1 – 5</a:t>
            </a:r>
            <a:endParaRPr lang="en-US" sz="1300" dirty="0"/>
          </a:p>
        </p:txBody>
      </p:sp>
      <p:sp>
        <p:nvSpPr>
          <p:cNvPr id="8" name="Text 6"/>
          <p:cNvSpPr txBox="1"/>
          <p:nvPr/>
        </p:nvSpPr>
        <p:spPr>
          <a:xfrm>
            <a:off x="685800" y="2852928"/>
            <a:ext cx="1828800" cy="640080"/>
          </a:xfrm>
          <a:prstGeom prst="rect">
            <a:avLst/>
          </a:prstGeom>
          <a:noFill/>
          <a:ln/>
        </p:spPr>
        <p:txBody>
          <a:bodyPr wrap="square" lIns="0" tIns="0" rIns="0" bIns="0" rtlCol="0" anchor="t"/>
          <a:lstStyle/>
          <a:p>
            <a:pPr indent="0" marL="0">
              <a:buNone/>
            </a:pPr>
            <a:r>
              <a:rPr lang="en-US" sz="1700" b="1" dirty="0">
                <a:solidFill>
                  <a:schemeClr val="tx2"/>
                </a:solidFill>
              </a:rPr>
              <a:t>Orientation and Requirements</a:t>
            </a:r>
            <a:endParaRPr lang="en-US" sz="1700" dirty="0"/>
          </a:p>
        </p:txBody>
      </p:sp>
      <p:sp>
        <p:nvSpPr>
          <p:cNvPr id="9" name="Text 7"/>
          <p:cNvSpPr txBox="1"/>
          <p:nvPr/>
        </p:nvSpPr>
        <p:spPr>
          <a:xfrm>
            <a:off x="685800" y="3611880"/>
            <a:ext cx="182880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Orientation and topic</a:t>
            </a:r>
            <a:endParaRPr lang="en-US" sz="1400" dirty="0"/>
          </a:p>
          <a:p>
            <a:pPr marL="342900" indent="-342900">
              <a:spcAft>
                <a:spcPts val="500"/>
              </a:spcAft>
              <a:buSzPct val="100000"/>
              <a:buChar char="•"/>
            </a:pPr>
            <a:r>
              <a:rPr lang="en-US" sz="1400" dirty="0">
                <a:solidFill>
                  <a:schemeClr val="tx1"/>
                </a:solidFill>
              </a:rPr>
              <a:t>Requirement gathering</a:t>
            </a:r>
            <a:endParaRPr lang="en-US" sz="1400" dirty="0"/>
          </a:p>
          <a:p>
            <a:pPr marL="342900" indent="-342900">
              <a:spcAft>
                <a:spcPts val="500"/>
              </a:spcAft>
              <a:buSzPct val="100000"/>
              <a:buChar char="•"/>
            </a:pPr>
            <a:r>
              <a:rPr lang="en-US" sz="1400" dirty="0">
                <a:solidFill>
                  <a:schemeClr val="tx1"/>
                </a:solidFill>
              </a:rPr>
              <a:t>Existing system study</a:t>
            </a:r>
            <a:endParaRPr lang="en-US" sz="1400" dirty="0"/>
          </a:p>
          <a:p>
            <a:pPr marL="342900" indent="-342900">
              <a:spcAft>
                <a:spcPts val="500"/>
              </a:spcAft>
              <a:buSzPct val="100000"/>
              <a:buChar char="•"/>
            </a:pPr>
            <a:r>
              <a:rPr lang="en-US" sz="1400" dirty="0">
                <a:solidFill>
                  <a:schemeClr val="tx1"/>
                </a:solidFill>
              </a:rPr>
              <a:t>Environment setup</a:t>
            </a:r>
            <a:endParaRPr lang="en-US" sz="1400" dirty="0"/>
          </a:p>
        </p:txBody>
      </p:sp>
      <p:sp>
        <p:nvSpPr>
          <p:cNvPr id="10" name="Step 2"/>
          <p:cNvSpPr/>
          <p:nvPr/>
        </p:nvSpPr>
        <p:spPr>
          <a:xfrm>
            <a:off x="3520440" y="1508760"/>
            <a:ext cx="640080" cy="640080"/>
          </a:xfrm>
          <a:prstGeom prst="ellipse">
            <a:avLst/>
          </a:prstGeom>
          <a:solidFill>
            <a:schemeClr val="accent1"/>
          </a:solidFill>
          <a:ln/>
        </p:spPr>
      </p:sp>
      <p:sp>
        <p:nvSpPr>
          <p:cNvPr id="11" name="Text 9"/>
          <p:cNvSpPr txBox="1"/>
          <p:nvPr/>
        </p:nvSpPr>
        <p:spPr>
          <a:xfrm>
            <a:off x="352044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2" name="Phase 2"/>
          <p:cNvSpPr/>
          <p:nvPr/>
        </p:nvSpPr>
        <p:spPr>
          <a:xfrm>
            <a:off x="2788920" y="2377440"/>
            <a:ext cx="2103120" cy="338328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2926080" y="2560320"/>
            <a:ext cx="182880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DAYS 6 – 11</a:t>
            </a:r>
            <a:endParaRPr lang="en-US" sz="1300" dirty="0"/>
          </a:p>
        </p:txBody>
      </p:sp>
      <p:sp>
        <p:nvSpPr>
          <p:cNvPr id="14" name="Text 12"/>
          <p:cNvSpPr txBox="1"/>
          <p:nvPr/>
        </p:nvSpPr>
        <p:spPr>
          <a:xfrm>
            <a:off x="2926080" y="2852928"/>
            <a:ext cx="1828800" cy="640080"/>
          </a:xfrm>
          <a:prstGeom prst="rect">
            <a:avLst/>
          </a:prstGeom>
          <a:noFill/>
          <a:ln/>
        </p:spPr>
        <p:txBody>
          <a:bodyPr wrap="square" lIns="0" tIns="0" rIns="0" bIns="0" rtlCol="0" anchor="t"/>
          <a:lstStyle/>
          <a:p>
            <a:pPr indent="0" marL="0">
              <a:buNone/>
            </a:pPr>
            <a:r>
              <a:rPr lang="en-US" sz="1700" b="1" dirty="0">
                <a:solidFill>
                  <a:schemeClr val="tx2"/>
                </a:solidFill>
              </a:rPr>
              <a:t>Learning and Design</a:t>
            </a:r>
            <a:endParaRPr lang="en-US" sz="1700" dirty="0"/>
          </a:p>
        </p:txBody>
      </p:sp>
      <p:sp>
        <p:nvSpPr>
          <p:cNvPr id="15" name="Text 13"/>
          <p:cNvSpPr txBox="1"/>
          <p:nvPr/>
        </p:nvSpPr>
        <p:spPr>
          <a:xfrm>
            <a:off x="2926080" y="3611880"/>
            <a:ext cx="182880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FastAPI and Jinja2 study</a:t>
            </a:r>
            <a:endParaRPr lang="en-US" sz="1400" dirty="0"/>
          </a:p>
          <a:p>
            <a:pPr marL="342900" indent="-342900">
              <a:spcAft>
                <a:spcPts val="500"/>
              </a:spcAft>
              <a:buSzPct val="100000"/>
              <a:buChar char="•"/>
            </a:pPr>
            <a:r>
              <a:rPr lang="en-US" sz="1400" dirty="0">
                <a:solidFill>
                  <a:schemeClr val="tx1"/>
                </a:solidFill>
              </a:rPr>
              <a:t>Layered architecture</a:t>
            </a:r>
            <a:endParaRPr lang="en-US" sz="1400" dirty="0"/>
          </a:p>
          <a:p>
            <a:pPr marL="342900" indent="-342900">
              <a:spcAft>
                <a:spcPts val="500"/>
              </a:spcAft>
              <a:buSzPct val="100000"/>
              <a:buChar char="•"/>
            </a:pPr>
            <a:r>
              <a:rPr lang="en-US" sz="1400" dirty="0">
                <a:solidFill>
                  <a:schemeClr val="tx1"/>
                </a:solidFill>
              </a:rPr>
              <a:t>Schema and ER diagram</a:t>
            </a:r>
            <a:endParaRPr lang="en-US" sz="1400" dirty="0"/>
          </a:p>
          <a:p>
            <a:pPr marL="342900" indent="-342900">
              <a:spcAft>
                <a:spcPts val="500"/>
              </a:spcAft>
              <a:buSzPct val="100000"/>
              <a:buChar char="•"/>
            </a:pPr>
            <a:r>
              <a:rPr lang="en-US" sz="1400" dirty="0">
                <a:solidFill>
                  <a:schemeClr val="tx1"/>
                </a:solidFill>
              </a:rPr>
              <a:t>UI wireframes</a:t>
            </a:r>
            <a:endParaRPr lang="en-US" sz="1400" dirty="0"/>
          </a:p>
        </p:txBody>
      </p:sp>
      <p:sp>
        <p:nvSpPr>
          <p:cNvPr id="16" name="Step 3"/>
          <p:cNvSpPr/>
          <p:nvPr/>
        </p:nvSpPr>
        <p:spPr>
          <a:xfrm>
            <a:off x="5760720" y="1508760"/>
            <a:ext cx="640080" cy="640080"/>
          </a:xfrm>
          <a:prstGeom prst="ellipse">
            <a:avLst/>
          </a:prstGeom>
          <a:solidFill>
            <a:schemeClr val="accent1"/>
          </a:solidFill>
          <a:ln/>
        </p:spPr>
      </p:sp>
      <p:sp>
        <p:nvSpPr>
          <p:cNvPr id="17" name="Text 15"/>
          <p:cNvSpPr txBox="1"/>
          <p:nvPr/>
        </p:nvSpPr>
        <p:spPr>
          <a:xfrm>
            <a:off x="576072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Phase 3"/>
          <p:cNvSpPr/>
          <p:nvPr/>
        </p:nvSpPr>
        <p:spPr>
          <a:xfrm>
            <a:off x="5029200" y="2377440"/>
            <a:ext cx="2103120" cy="338328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5166360" y="2560320"/>
            <a:ext cx="182880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DAYS 12 – 17</a:t>
            </a:r>
            <a:endParaRPr lang="en-US" sz="1300" dirty="0"/>
          </a:p>
        </p:txBody>
      </p:sp>
      <p:sp>
        <p:nvSpPr>
          <p:cNvPr id="20" name="Text 18"/>
          <p:cNvSpPr txBox="1"/>
          <p:nvPr/>
        </p:nvSpPr>
        <p:spPr>
          <a:xfrm>
            <a:off x="5166360" y="2852928"/>
            <a:ext cx="1828800" cy="640080"/>
          </a:xfrm>
          <a:prstGeom prst="rect">
            <a:avLst/>
          </a:prstGeom>
          <a:noFill/>
          <a:ln/>
        </p:spPr>
        <p:txBody>
          <a:bodyPr wrap="square" lIns="0" tIns="0" rIns="0" bIns="0" rtlCol="0" anchor="t"/>
          <a:lstStyle/>
          <a:p>
            <a:pPr indent="0" marL="0">
              <a:buNone/>
            </a:pPr>
            <a:r>
              <a:rPr lang="en-US" sz="1700" b="1" dirty="0">
                <a:solidFill>
                  <a:schemeClr val="tx2"/>
                </a:solidFill>
              </a:rPr>
              <a:t>Foundation Build</a:t>
            </a:r>
            <a:endParaRPr lang="en-US" sz="1700" dirty="0"/>
          </a:p>
        </p:txBody>
      </p:sp>
      <p:sp>
        <p:nvSpPr>
          <p:cNvPr id="21" name="Text 19"/>
          <p:cNvSpPr txBox="1"/>
          <p:nvPr/>
        </p:nvSpPr>
        <p:spPr>
          <a:xfrm>
            <a:off x="5166360" y="3611880"/>
            <a:ext cx="182880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Stylesheet and home page</a:t>
            </a:r>
            <a:endParaRPr lang="en-US" sz="1400" dirty="0"/>
          </a:p>
          <a:p>
            <a:pPr marL="342900" indent="-342900">
              <a:spcAft>
                <a:spcPts val="500"/>
              </a:spcAft>
              <a:buSzPct val="100000"/>
              <a:buChar char="•"/>
            </a:pPr>
            <a:r>
              <a:rPr lang="en-US" sz="1400" dirty="0">
                <a:solidFill>
                  <a:schemeClr val="tx1"/>
                </a:solidFill>
              </a:rPr>
              <a:t>FastAPI project structure</a:t>
            </a:r>
            <a:endParaRPr lang="en-US" sz="1400" dirty="0"/>
          </a:p>
          <a:p>
            <a:pPr marL="342900" indent="-342900">
              <a:spcAft>
                <a:spcPts val="500"/>
              </a:spcAft>
              <a:buSzPct val="100000"/>
              <a:buChar char="•"/>
            </a:pPr>
            <a:r>
              <a:rPr lang="en-US" sz="1400" dirty="0">
                <a:solidFill>
                  <a:schemeClr val="tx1"/>
                </a:solidFill>
              </a:rPr>
              <a:t>MySQL connection helper</a:t>
            </a:r>
            <a:endParaRPr lang="en-US" sz="1400" dirty="0"/>
          </a:p>
          <a:p>
            <a:pPr marL="342900" indent="-342900">
              <a:spcAft>
                <a:spcPts val="500"/>
              </a:spcAft>
              <a:buSzPct val="100000"/>
              <a:buChar char="•"/>
            </a:pPr>
            <a:r>
              <a:rPr lang="en-US" sz="1400" dirty="0">
                <a:solidFill>
                  <a:schemeClr val="tx1"/>
                </a:solidFill>
              </a:rPr>
              <a:t>Automatic database setup</a:t>
            </a:r>
            <a:endParaRPr lang="en-US" sz="1400" dirty="0"/>
          </a:p>
        </p:txBody>
      </p:sp>
      <p:sp>
        <p:nvSpPr>
          <p:cNvPr id="22" name="Step 4"/>
          <p:cNvSpPr/>
          <p:nvPr/>
        </p:nvSpPr>
        <p:spPr>
          <a:xfrm>
            <a:off x="8001000" y="1508760"/>
            <a:ext cx="640080" cy="640080"/>
          </a:xfrm>
          <a:prstGeom prst="ellipse">
            <a:avLst/>
          </a:prstGeom>
          <a:solidFill>
            <a:schemeClr val="accent1"/>
          </a:solidFill>
          <a:ln/>
        </p:spPr>
      </p:sp>
      <p:sp>
        <p:nvSpPr>
          <p:cNvPr id="23" name="Text 21"/>
          <p:cNvSpPr txBox="1"/>
          <p:nvPr/>
        </p:nvSpPr>
        <p:spPr>
          <a:xfrm>
            <a:off x="800100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4" name="Phase 4"/>
          <p:cNvSpPr/>
          <p:nvPr/>
        </p:nvSpPr>
        <p:spPr>
          <a:xfrm>
            <a:off x="7269480" y="2377440"/>
            <a:ext cx="2103120" cy="338328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406640" y="2560320"/>
            <a:ext cx="182880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DAYS 18 – 25</a:t>
            </a:r>
            <a:endParaRPr lang="en-US" sz="1300" dirty="0"/>
          </a:p>
        </p:txBody>
      </p:sp>
      <p:sp>
        <p:nvSpPr>
          <p:cNvPr id="26" name="Text 24"/>
          <p:cNvSpPr txBox="1"/>
          <p:nvPr/>
        </p:nvSpPr>
        <p:spPr>
          <a:xfrm>
            <a:off x="7406640" y="2852928"/>
            <a:ext cx="1828800" cy="640080"/>
          </a:xfrm>
          <a:prstGeom prst="rect">
            <a:avLst/>
          </a:prstGeom>
          <a:noFill/>
          <a:ln/>
        </p:spPr>
        <p:txBody>
          <a:bodyPr wrap="square" lIns="0" tIns="0" rIns="0" bIns="0" rtlCol="0" anchor="t"/>
          <a:lstStyle/>
          <a:p>
            <a:pPr indent="0" marL="0">
              <a:buNone/>
            </a:pPr>
            <a:r>
              <a:rPr lang="en-US" sz="1700" b="1" dirty="0">
                <a:solidFill>
                  <a:schemeClr val="tx2"/>
                </a:solidFill>
              </a:rPr>
              <a:t>Module Development</a:t>
            </a:r>
            <a:endParaRPr lang="en-US" sz="1700" dirty="0"/>
          </a:p>
        </p:txBody>
      </p:sp>
      <p:sp>
        <p:nvSpPr>
          <p:cNvPr id="27" name="Text 25"/>
          <p:cNvSpPr txBox="1"/>
          <p:nvPr/>
        </p:nvSpPr>
        <p:spPr>
          <a:xfrm>
            <a:off x="7406640" y="3611880"/>
            <a:ext cx="182880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Categories and catalog</a:t>
            </a:r>
            <a:endParaRPr lang="en-US" sz="1400" dirty="0"/>
          </a:p>
          <a:p>
            <a:pPr marL="342900" indent="-342900">
              <a:spcAft>
                <a:spcPts val="500"/>
              </a:spcAft>
              <a:buSzPct val="100000"/>
              <a:buChar char="•"/>
            </a:pPr>
            <a:r>
              <a:rPr lang="en-US" sz="1400" dirty="0">
                <a:solidFill>
                  <a:schemeClr val="tx1"/>
                </a:solidFill>
              </a:rPr>
              <a:t>Category filter</a:t>
            </a:r>
            <a:endParaRPr lang="en-US" sz="1400" dirty="0"/>
          </a:p>
          <a:p>
            <a:pPr marL="342900" indent="-342900">
              <a:spcAft>
                <a:spcPts val="500"/>
              </a:spcAft>
              <a:buSzPct val="100000"/>
              <a:buChar char="•"/>
            </a:pPr>
            <a:r>
              <a:rPr lang="en-US" sz="1400" dirty="0">
                <a:solidFill>
                  <a:schemeClr val="tx1"/>
                </a:solidFill>
              </a:rPr>
              <a:t>Enrollment form and POST</a:t>
            </a:r>
            <a:endParaRPr lang="en-US" sz="1400" dirty="0"/>
          </a:p>
          <a:p>
            <a:pPr marL="342900" indent="-342900">
              <a:spcAft>
                <a:spcPts val="500"/>
              </a:spcAft>
              <a:buSzPct val="100000"/>
              <a:buChar char="•"/>
            </a:pPr>
            <a:r>
              <a:rPr lang="en-US" sz="1400" dirty="0">
                <a:solidFill>
                  <a:schemeClr val="tx1"/>
                </a:solidFill>
              </a:rPr>
              <a:t>Login, dashboard, contact</a:t>
            </a:r>
            <a:endParaRPr lang="en-US" sz="1400" dirty="0"/>
          </a:p>
        </p:txBody>
      </p:sp>
      <p:sp>
        <p:nvSpPr>
          <p:cNvPr id="28" name="Step 5"/>
          <p:cNvSpPr/>
          <p:nvPr/>
        </p:nvSpPr>
        <p:spPr>
          <a:xfrm>
            <a:off x="10241280" y="1508760"/>
            <a:ext cx="640080" cy="640080"/>
          </a:xfrm>
          <a:prstGeom prst="ellipse">
            <a:avLst/>
          </a:prstGeom>
          <a:solidFill>
            <a:schemeClr val="accent1"/>
          </a:solidFill>
          <a:ln/>
        </p:spPr>
      </p:sp>
      <p:sp>
        <p:nvSpPr>
          <p:cNvPr id="29" name="Text 27"/>
          <p:cNvSpPr txBox="1"/>
          <p:nvPr/>
        </p:nvSpPr>
        <p:spPr>
          <a:xfrm>
            <a:off x="1024128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0" name="Phase 5"/>
          <p:cNvSpPr/>
          <p:nvPr/>
        </p:nvSpPr>
        <p:spPr>
          <a:xfrm>
            <a:off x="9509760" y="2377440"/>
            <a:ext cx="2103120" cy="338328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9646920" y="2560320"/>
            <a:ext cx="1828800" cy="274320"/>
          </a:xfrm>
          <a:prstGeom prst="rect">
            <a:avLst/>
          </a:prstGeom>
          <a:noFill/>
          <a:ln/>
        </p:spPr>
        <p:txBody>
          <a:bodyPr wrap="square" lIns="0" tIns="0" rIns="0" bIns="0" rtlCol="0" anchor="t"/>
          <a:lstStyle/>
          <a:p>
            <a:pPr indent="0" marL="0">
              <a:buNone/>
            </a:pPr>
            <a:r>
              <a:rPr lang="en-US" sz="1300" b="1" spc="100" kern="0" dirty="0">
                <a:solidFill>
                  <a:schemeClr val="accent1"/>
                </a:solidFill>
              </a:rPr>
              <a:t>DAYS 26 – 30</a:t>
            </a:r>
            <a:endParaRPr lang="en-US" sz="1300" dirty="0"/>
          </a:p>
        </p:txBody>
      </p:sp>
      <p:sp>
        <p:nvSpPr>
          <p:cNvPr id="32" name="Text 30"/>
          <p:cNvSpPr txBox="1"/>
          <p:nvPr/>
        </p:nvSpPr>
        <p:spPr>
          <a:xfrm>
            <a:off x="9646920" y="2852928"/>
            <a:ext cx="1828800" cy="640080"/>
          </a:xfrm>
          <a:prstGeom prst="rect">
            <a:avLst/>
          </a:prstGeom>
          <a:noFill/>
          <a:ln/>
        </p:spPr>
        <p:txBody>
          <a:bodyPr wrap="square" lIns="0" tIns="0" rIns="0" bIns="0" rtlCol="0" anchor="t"/>
          <a:lstStyle/>
          <a:p>
            <a:pPr indent="0" marL="0">
              <a:buNone/>
            </a:pPr>
            <a:r>
              <a:rPr lang="en-US" sz="1700" b="1" dirty="0">
                <a:solidFill>
                  <a:schemeClr val="tx2"/>
                </a:solidFill>
              </a:rPr>
              <a:t>Testing and Report</a:t>
            </a:r>
            <a:endParaRPr lang="en-US" sz="1700" dirty="0"/>
          </a:p>
        </p:txBody>
      </p:sp>
      <p:sp>
        <p:nvSpPr>
          <p:cNvPr id="33" name="Text 31"/>
          <p:cNvSpPr txBox="1"/>
          <p:nvPr/>
        </p:nvSpPr>
        <p:spPr>
          <a:xfrm>
            <a:off x="9646920" y="3611880"/>
            <a:ext cx="182880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Functional testing</a:t>
            </a:r>
            <a:endParaRPr lang="en-US" sz="1400" dirty="0"/>
          </a:p>
          <a:p>
            <a:pPr marL="342900" indent="-342900">
              <a:spcAft>
                <a:spcPts val="500"/>
              </a:spcAft>
              <a:buSzPct val="100000"/>
              <a:buChar char="•"/>
            </a:pPr>
            <a:r>
              <a:rPr lang="en-US" sz="1400" dirty="0">
                <a:solidFill>
                  <a:schemeClr val="tx1"/>
                </a:solidFill>
              </a:rPr>
              <a:t>Validation checks</a:t>
            </a:r>
            <a:endParaRPr lang="en-US" sz="1400" dirty="0"/>
          </a:p>
          <a:p>
            <a:pPr marL="342900" indent="-342900">
              <a:spcAft>
                <a:spcPts val="500"/>
              </a:spcAft>
              <a:buSzPct val="100000"/>
              <a:buChar char="•"/>
            </a:pPr>
            <a:r>
              <a:rPr lang="en-US" sz="1400" dirty="0">
                <a:solidFill>
                  <a:schemeClr val="tx1"/>
                </a:solidFill>
              </a:rPr>
              <a:t>Code review</a:t>
            </a:r>
            <a:endParaRPr lang="en-US" sz="1400" dirty="0"/>
          </a:p>
          <a:p>
            <a:pPr marL="342900" indent="-342900">
              <a:spcAft>
                <a:spcPts val="500"/>
              </a:spcAft>
              <a:buSzPct val="100000"/>
              <a:buChar char="•"/>
            </a:pPr>
            <a:r>
              <a:rPr lang="en-US" sz="1400" dirty="0">
                <a:solidFill>
                  <a:schemeClr val="tx1"/>
                </a:solidFill>
              </a:rPr>
              <a:t>Report and presentation</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Challenges in the Existing System</a:t>
            </a:r>
            <a:endParaRPr lang="en-US" sz="3400" dirty="0"/>
          </a:p>
        </p:txBody>
      </p:sp>
      <p:sp>
        <p:nvSpPr>
          <p:cNvPr id="3" name="Problem Manual paperwork"/>
          <p:cNvSpPr/>
          <p:nvPr/>
        </p:nvSpPr>
        <p:spPr>
          <a:xfrm>
            <a:off x="548640" y="137160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FaFileAlt"/>
          <p:cNvSpPr/>
          <p:nvPr/>
        </p:nvSpPr>
        <p:spPr>
          <a:xfrm>
            <a:off x="731520" y="1568196"/>
            <a:ext cx="548640" cy="548640"/>
          </a:xfrm>
          <a:prstGeom prst="ellipse">
            <a:avLst/>
          </a:prstGeom>
          <a:solidFill>
            <a:schemeClr val="accent1"/>
          </a:solidFill>
          <a:ln/>
        </p:spPr>
      </p:sp>
      <p:pic>
        <p:nvPicPr>
          <p:cNvPr id="5" name="Image 0" descr="FileAlt icon">    </p:cNvPr>
          <p:cNvPicPr>
            <a:picLocks noChangeAspect="1"/>
          </p:cNvPicPr>
          <p:nvPr/>
        </p:nvPicPr>
        <p:blipFill>
          <a:blip r:embed="rId1"/>
          <a:stretch>
            <a:fillRect/>
          </a:stretch>
        </p:blipFill>
        <p:spPr>
          <a:xfrm>
            <a:off x="874166" y="1710842"/>
            <a:ext cx="263347" cy="263347"/>
          </a:xfrm>
          <a:prstGeom prst="rect">
            <a:avLst/>
          </a:prstGeom>
        </p:spPr>
      </p:pic>
      <p:sp>
        <p:nvSpPr>
          <p:cNvPr id="6" name="Text 3"/>
          <p:cNvSpPr txBox="1"/>
          <p:nvPr/>
        </p:nvSpPr>
        <p:spPr>
          <a:xfrm>
            <a:off x="1508760" y="1463040"/>
            <a:ext cx="4343400" cy="274320"/>
          </a:xfrm>
          <a:prstGeom prst="rect">
            <a:avLst/>
          </a:prstGeom>
          <a:noFill/>
          <a:ln/>
        </p:spPr>
        <p:txBody>
          <a:bodyPr wrap="square" lIns="0" tIns="0" rIns="0" bIns="0" rtlCol="0" anchor="t"/>
          <a:lstStyle/>
          <a:p>
            <a:pPr indent="0" marL="0">
              <a:buNone/>
            </a:pPr>
            <a:r>
              <a:rPr lang="en-US" sz="1600" b="1" dirty="0">
                <a:solidFill>
                  <a:schemeClr val="tx2"/>
                </a:solidFill>
              </a:rPr>
              <a:t>Manual paperwork</a:t>
            </a:r>
            <a:endParaRPr lang="en-US" sz="1600" dirty="0"/>
          </a:p>
        </p:txBody>
      </p:sp>
      <p:sp>
        <p:nvSpPr>
          <p:cNvPr id="7" name="Text 4"/>
          <p:cNvSpPr txBox="1"/>
          <p:nvPr/>
        </p:nvSpPr>
        <p:spPr>
          <a:xfrm>
            <a:off x="1508760" y="176479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Paper forms retyped into registers cause errors and duplicates</a:t>
            </a:r>
            <a:endParaRPr lang="en-US" sz="1400" dirty="0"/>
          </a:p>
        </p:txBody>
      </p:sp>
      <p:sp>
        <p:nvSpPr>
          <p:cNvPr id="8" name="Problem Scattered information"/>
          <p:cNvSpPr/>
          <p:nvPr/>
        </p:nvSpPr>
        <p:spPr>
          <a:xfrm>
            <a:off x="6172200" y="137160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9" name="Icon circle FaThList"/>
          <p:cNvSpPr/>
          <p:nvPr/>
        </p:nvSpPr>
        <p:spPr>
          <a:xfrm>
            <a:off x="6355080" y="1568196"/>
            <a:ext cx="548640" cy="548640"/>
          </a:xfrm>
          <a:prstGeom prst="ellipse">
            <a:avLst/>
          </a:prstGeom>
          <a:solidFill>
            <a:schemeClr val="accent1"/>
          </a:solidFill>
          <a:ln/>
        </p:spPr>
      </p:sp>
      <p:pic>
        <p:nvPicPr>
          <p:cNvPr id="10" name="Image 1" descr="ThList icon">    </p:cNvPr>
          <p:cNvPicPr>
            <a:picLocks noChangeAspect="1"/>
          </p:cNvPicPr>
          <p:nvPr/>
        </p:nvPicPr>
        <p:blipFill>
          <a:blip r:embed="rId2"/>
          <a:stretch>
            <a:fillRect/>
          </a:stretch>
        </p:blipFill>
        <p:spPr>
          <a:xfrm>
            <a:off x="6497726" y="1710842"/>
            <a:ext cx="263347" cy="263347"/>
          </a:xfrm>
          <a:prstGeom prst="rect">
            <a:avLst/>
          </a:prstGeom>
        </p:spPr>
      </p:pic>
      <p:sp>
        <p:nvSpPr>
          <p:cNvPr id="11" name="Text 7"/>
          <p:cNvSpPr txBox="1"/>
          <p:nvPr/>
        </p:nvSpPr>
        <p:spPr>
          <a:xfrm>
            <a:off x="7132320" y="1463040"/>
            <a:ext cx="4343400" cy="274320"/>
          </a:xfrm>
          <a:prstGeom prst="rect">
            <a:avLst/>
          </a:prstGeom>
          <a:noFill/>
          <a:ln/>
        </p:spPr>
        <p:txBody>
          <a:bodyPr wrap="square" lIns="0" tIns="0" rIns="0" bIns="0" rtlCol="0" anchor="t"/>
          <a:lstStyle/>
          <a:p>
            <a:pPr indent="0" marL="0">
              <a:buNone/>
            </a:pPr>
            <a:r>
              <a:rPr lang="en-US" sz="1600" b="1" dirty="0">
                <a:solidFill>
                  <a:schemeClr val="tx2"/>
                </a:solidFill>
              </a:rPr>
              <a:t>Scattered information</a:t>
            </a:r>
            <a:endParaRPr lang="en-US" sz="1600" dirty="0"/>
          </a:p>
        </p:txBody>
      </p:sp>
      <p:sp>
        <p:nvSpPr>
          <p:cNvPr id="12" name="Text 8"/>
          <p:cNvSpPr txBox="1"/>
          <p:nvPr/>
        </p:nvSpPr>
        <p:spPr>
          <a:xfrm>
            <a:off x="7132320" y="176479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Instructor, duration, level and seats spread across brochures</a:t>
            </a:r>
            <a:endParaRPr lang="en-US" sz="1400" dirty="0"/>
          </a:p>
        </p:txBody>
      </p:sp>
      <p:sp>
        <p:nvSpPr>
          <p:cNvPr id="13" name="Problem Limited accessibility"/>
          <p:cNvSpPr/>
          <p:nvPr/>
        </p:nvSpPr>
        <p:spPr>
          <a:xfrm>
            <a:off x="548640" y="242316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14" name="Icon circle FaClock"/>
          <p:cNvSpPr/>
          <p:nvPr/>
        </p:nvSpPr>
        <p:spPr>
          <a:xfrm>
            <a:off x="731520" y="2619756"/>
            <a:ext cx="548640" cy="548640"/>
          </a:xfrm>
          <a:prstGeom prst="ellipse">
            <a:avLst/>
          </a:prstGeom>
          <a:solidFill>
            <a:schemeClr val="accent1"/>
          </a:solidFill>
          <a:ln/>
        </p:spPr>
      </p:sp>
      <p:pic>
        <p:nvPicPr>
          <p:cNvPr id="15" name="Image 2" descr="Clock icon">    </p:cNvPr>
          <p:cNvPicPr>
            <a:picLocks noChangeAspect="1"/>
          </p:cNvPicPr>
          <p:nvPr/>
        </p:nvPicPr>
        <p:blipFill>
          <a:blip r:embed="rId3"/>
          <a:stretch>
            <a:fillRect/>
          </a:stretch>
        </p:blipFill>
        <p:spPr>
          <a:xfrm>
            <a:off x="874166" y="2762402"/>
            <a:ext cx="263347" cy="263347"/>
          </a:xfrm>
          <a:prstGeom prst="rect">
            <a:avLst/>
          </a:prstGeom>
        </p:spPr>
      </p:pic>
      <p:sp>
        <p:nvSpPr>
          <p:cNvPr id="16" name="Text 11"/>
          <p:cNvSpPr txBox="1"/>
          <p:nvPr/>
        </p:nvSpPr>
        <p:spPr>
          <a:xfrm>
            <a:off x="1508760" y="2514600"/>
            <a:ext cx="4343400" cy="274320"/>
          </a:xfrm>
          <a:prstGeom prst="rect">
            <a:avLst/>
          </a:prstGeom>
          <a:noFill/>
          <a:ln/>
        </p:spPr>
        <p:txBody>
          <a:bodyPr wrap="square" lIns="0" tIns="0" rIns="0" bIns="0" rtlCol="0" anchor="t"/>
          <a:lstStyle/>
          <a:p>
            <a:pPr indent="0" marL="0">
              <a:buNone/>
            </a:pPr>
            <a:r>
              <a:rPr lang="en-US" sz="1600" b="1" dirty="0">
                <a:solidFill>
                  <a:schemeClr val="tx2"/>
                </a:solidFill>
              </a:rPr>
              <a:t>Limited accessibility</a:t>
            </a:r>
            <a:endParaRPr lang="en-US" sz="1600" dirty="0"/>
          </a:p>
        </p:txBody>
      </p:sp>
      <p:sp>
        <p:nvSpPr>
          <p:cNvPr id="17" name="Text 12"/>
          <p:cNvSpPr txBox="1"/>
          <p:nvPr/>
        </p:nvSpPr>
        <p:spPr>
          <a:xfrm>
            <a:off x="1508760" y="281635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Enrollment only in office hours, in person or by phone</a:t>
            </a:r>
            <a:endParaRPr lang="en-US" sz="1400" dirty="0"/>
          </a:p>
        </p:txBody>
      </p:sp>
      <p:sp>
        <p:nvSpPr>
          <p:cNvPr id="18" name="Problem Fragmented records"/>
          <p:cNvSpPr/>
          <p:nvPr/>
        </p:nvSpPr>
        <p:spPr>
          <a:xfrm>
            <a:off x="6172200" y="242316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19" name="Icon circle FaFolderOpen"/>
          <p:cNvSpPr/>
          <p:nvPr/>
        </p:nvSpPr>
        <p:spPr>
          <a:xfrm>
            <a:off x="6355080" y="2619756"/>
            <a:ext cx="548640" cy="548640"/>
          </a:xfrm>
          <a:prstGeom prst="ellipse">
            <a:avLst/>
          </a:prstGeom>
          <a:solidFill>
            <a:schemeClr val="accent1"/>
          </a:solidFill>
          <a:ln/>
        </p:spPr>
      </p:sp>
      <p:pic>
        <p:nvPicPr>
          <p:cNvPr id="20" name="Image 3" descr="FolderOpen icon">    </p:cNvPr>
          <p:cNvPicPr>
            <a:picLocks noChangeAspect="1"/>
          </p:cNvPicPr>
          <p:nvPr/>
        </p:nvPicPr>
        <p:blipFill>
          <a:blip r:embed="rId4"/>
          <a:stretch>
            <a:fillRect/>
          </a:stretch>
        </p:blipFill>
        <p:spPr>
          <a:xfrm>
            <a:off x="6497726" y="2762402"/>
            <a:ext cx="263347" cy="263347"/>
          </a:xfrm>
          <a:prstGeom prst="rect">
            <a:avLst/>
          </a:prstGeom>
        </p:spPr>
      </p:pic>
      <p:sp>
        <p:nvSpPr>
          <p:cNvPr id="21" name="Text 15"/>
          <p:cNvSpPr txBox="1"/>
          <p:nvPr/>
        </p:nvSpPr>
        <p:spPr>
          <a:xfrm>
            <a:off x="7132320" y="2514600"/>
            <a:ext cx="4343400" cy="274320"/>
          </a:xfrm>
          <a:prstGeom prst="rect">
            <a:avLst/>
          </a:prstGeom>
          <a:noFill/>
          <a:ln/>
        </p:spPr>
        <p:txBody>
          <a:bodyPr wrap="square" lIns="0" tIns="0" rIns="0" bIns="0" rtlCol="0" anchor="t"/>
          <a:lstStyle/>
          <a:p>
            <a:pPr indent="0" marL="0">
              <a:buNone/>
            </a:pPr>
            <a:r>
              <a:rPr lang="en-US" sz="1600" b="1" dirty="0">
                <a:solidFill>
                  <a:schemeClr val="tx2"/>
                </a:solidFill>
              </a:rPr>
              <a:t>Fragmented records</a:t>
            </a:r>
            <a:endParaRPr lang="en-US" sz="1600" dirty="0"/>
          </a:p>
        </p:txBody>
      </p:sp>
      <p:sp>
        <p:nvSpPr>
          <p:cNvPr id="22" name="Text 16"/>
          <p:cNvSpPr txBox="1"/>
          <p:nvPr/>
        </p:nvSpPr>
        <p:spPr>
          <a:xfrm>
            <a:off x="7132320" y="281635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Learner data kept in separate files, slow to retrieve</a:t>
            </a:r>
            <a:endParaRPr lang="en-US" sz="1400" dirty="0"/>
          </a:p>
        </p:txBody>
      </p:sp>
      <p:sp>
        <p:nvSpPr>
          <p:cNvPr id="23" name="Problem No instant confirmation"/>
          <p:cNvSpPr/>
          <p:nvPr/>
        </p:nvSpPr>
        <p:spPr>
          <a:xfrm>
            <a:off x="548640" y="347472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24" name="Icon circle FaBellSlash"/>
          <p:cNvSpPr/>
          <p:nvPr/>
        </p:nvSpPr>
        <p:spPr>
          <a:xfrm>
            <a:off x="731520" y="3671316"/>
            <a:ext cx="548640" cy="548640"/>
          </a:xfrm>
          <a:prstGeom prst="ellipse">
            <a:avLst/>
          </a:prstGeom>
          <a:solidFill>
            <a:schemeClr val="accent1"/>
          </a:solidFill>
          <a:ln/>
        </p:spPr>
      </p:sp>
      <p:pic>
        <p:nvPicPr>
          <p:cNvPr id="25" name="Image 4" descr="BellSlash icon">    </p:cNvPr>
          <p:cNvPicPr>
            <a:picLocks noChangeAspect="1"/>
          </p:cNvPicPr>
          <p:nvPr/>
        </p:nvPicPr>
        <p:blipFill>
          <a:blip r:embed="rId5"/>
          <a:stretch>
            <a:fillRect/>
          </a:stretch>
        </p:blipFill>
        <p:spPr>
          <a:xfrm>
            <a:off x="874166" y="3813962"/>
            <a:ext cx="263347" cy="263347"/>
          </a:xfrm>
          <a:prstGeom prst="rect">
            <a:avLst/>
          </a:prstGeom>
        </p:spPr>
      </p:pic>
      <p:sp>
        <p:nvSpPr>
          <p:cNvPr id="26" name="Text 19"/>
          <p:cNvSpPr txBox="1"/>
          <p:nvPr/>
        </p:nvSpPr>
        <p:spPr>
          <a:xfrm>
            <a:off x="1508760" y="3566160"/>
            <a:ext cx="4343400" cy="274320"/>
          </a:xfrm>
          <a:prstGeom prst="rect">
            <a:avLst/>
          </a:prstGeom>
          <a:noFill/>
          <a:ln/>
        </p:spPr>
        <p:txBody>
          <a:bodyPr wrap="square" lIns="0" tIns="0" rIns="0" bIns="0" rtlCol="0" anchor="t"/>
          <a:lstStyle/>
          <a:p>
            <a:pPr indent="0" marL="0">
              <a:buNone/>
            </a:pPr>
            <a:r>
              <a:rPr lang="en-US" sz="1600" b="1" dirty="0">
                <a:solidFill>
                  <a:schemeClr val="tx2"/>
                </a:solidFill>
              </a:rPr>
              <a:t>No instant confirmation</a:t>
            </a:r>
            <a:endParaRPr lang="en-US" sz="1600" dirty="0"/>
          </a:p>
        </p:txBody>
      </p:sp>
      <p:sp>
        <p:nvSpPr>
          <p:cNvPr id="27" name="Text 20"/>
          <p:cNvSpPr txBox="1"/>
          <p:nvPr/>
        </p:nvSpPr>
        <p:spPr>
          <a:xfrm>
            <a:off x="1508760" y="386791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Learners get no immediate proof that a request was recorded</a:t>
            </a:r>
            <a:endParaRPr lang="en-US" sz="1400" dirty="0"/>
          </a:p>
        </p:txBody>
      </p:sp>
      <p:sp>
        <p:nvSpPr>
          <p:cNvPr id="28" name="Problem Hard to track enrollments"/>
          <p:cNvSpPr/>
          <p:nvPr/>
        </p:nvSpPr>
        <p:spPr>
          <a:xfrm>
            <a:off x="6172200" y="347472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29" name="Icon circle FaSearch"/>
          <p:cNvSpPr/>
          <p:nvPr/>
        </p:nvSpPr>
        <p:spPr>
          <a:xfrm>
            <a:off x="6355080" y="3671316"/>
            <a:ext cx="548640" cy="548640"/>
          </a:xfrm>
          <a:prstGeom prst="ellipse">
            <a:avLst/>
          </a:prstGeom>
          <a:solidFill>
            <a:schemeClr val="accent1"/>
          </a:solidFill>
          <a:ln/>
        </p:spPr>
      </p:sp>
      <p:pic>
        <p:nvPicPr>
          <p:cNvPr id="30" name="Image 5" descr="Search icon">    </p:cNvPr>
          <p:cNvPicPr>
            <a:picLocks noChangeAspect="1"/>
          </p:cNvPicPr>
          <p:nvPr/>
        </p:nvPicPr>
        <p:blipFill>
          <a:blip r:embed="rId6"/>
          <a:stretch>
            <a:fillRect/>
          </a:stretch>
        </p:blipFill>
        <p:spPr>
          <a:xfrm>
            <a:off x="6497726" y="3813962"/>
            <a:ext cx="263347" cy="263347"/>
          </a:xfrm>
          <a:prstGeom prst="rect">
            <a:avLst/>
          </a:prstGeom>
        </p:spPr>
      </p:pic>
      <p:sp>
        <p:nvSpPr>
          <p:cNvPr id="31" name="Text 23"/>
          <p:cNvSpPr txBox="1"/>
          <p:nvPr/>
        </p:nvSpPr>
        <p:spPr>
          <a:xfrm>
            <a:off x="7132320" y="3566160"/>
            <a:ext cx="4343400" cy="274320"/>
          </a:xfrm>
          <a:prstGeom prst="rect">
            <a:avLst/>
          </a:prstGeom>
          <a:noFill/>
          <a:ln/>
        </p:spPr>
        <p:txBody>
          <a:bodyPr wrap="square" lIns="0" tIns="0" rIns="0" bIns="0" rtlCol="0" anchor="t"/>
          <a:lstStyle/>
          <a:p>
            <a:pPr indent="0" marL="0">
              <a:buNone/>
            </a:pPr>
            <a:r>
              <a:rPr lang="en-US" sz="1600" b="1" dirty="0">
                <a:solidFill>
                  <a:schemeClr val="tx2"/>
                </a:solidFill>
              </a:rPr>
              <a:t>Hard to track enrollments</a:t>
            </a:r>
            <a:endParaRPr lang="en-US" sz="1600" dirty="0"/>
          </a:p>
        </p:txBody>
      </p:sp>
      <p:sp>
        <p:nvSpPr>
          <p:cNvPr id="32" name="Text 24"/>
          <p:cNvSpPr txBox="1"/>
          <p:nvPr/>
        </p:nvSpPr>
        <p:spPr>
          <a:xfrm>
            <a:off x="7132320" y="386791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Counting applicants per course or category is manual</a:t>
            </a:r>
            <a:endParaRPr lang="en-US" sz="1400" dirty="0"/>
          </a:p>
        </p:txBody>
      </p:sp>
      <p:sp>
        <p:nvSpPr>
          <p:cNvPr id="33" name="Problem Inefficient administration"/>
          <p:cNvSpPr/>
          <p:nvPr/>
        </p:nvSpPr>
        <p:spPr>
          <a:xfrm>
            <a:off x="548640" y="452628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34" name="Icon circle FaClipboardList"/>
          <p:cNvSpPr/>
          <p:nvPr/>
        </p:nvSpPr>
        <p:spPr>
          <a:xfrm>
            <a:off x="731520" y="4722876"/>
            <a:ext cx="548640" cy="548640"/>
          </a:xfrm>
          <a:prstGeom prst="ellipse">
            <a:avLst/>
          </a:prstGeom>
          <a:solidFill>
            <a:schemeClr val="accent1"/>
          </a:solidFill>
          <a:ln/>
        </p:spPr>
      </p:sp>
      <p:pic>
        <p:nvPicPr>
          <p:cNvPr id="35" name="Image 6" descr="ClipboardList icon">    </p:cNvPr>
          <p:cNvPicPr>
            <a:picLocks noChangeAspect="1"/>
          </p:cNvPicPr>
          <p:nvPr/>
        </p:nvPicPr>
        <p:blipFill>
          <a:blip r:embed="rId7"/>
          <a:stretch>
            <a:fillRect/>
          </a:stretch>
        </p:blipFill>
        <p:spPr>
          <a:xfrm>
            <a:off x="874166" y="4865522"/>
            <a:ext cx="263347" cy="263347"/>
          </a:xfrm>
          <a:prstGeom prst="rect">
            <a:avLst/>
          </a:prstGeom>
        </p:spPr>
      </p:pic>
      <p:sp>
        <p:nvSpPr>
          <p:cNvPr id="36" name="Text 27"/>
          <p:cNvSpPr txBox="1"/>
          <p:nvPr/>
        </p:nvSpPr>
        <p:spPr>
          <a:xfrm>
            <a:off x="1508760" y="4617720"/>
            <a:ext cx="4343400" cy="274320"/>
          </a:xfrm>
          <a:prstGeom prst="rect">
            <a:avLst/>
          </a:prstGeom>
          <a:noFill/>
          <a:ln/>
        </p:spPr>
        <p:txBody>
          <a:bodyPr wrap="square" lIns="0" tIns="0" rIns="0" bIns="0" rtlCol="0" anchor="t"/>
          <a:lstStyle/>
          <a:p>
            <a:pPr indent="0" marL="0">
              <a:buNone/>
            </a:pPr>
            <a:r>
              <a:rPr lang="en-US" sz="1600" b="1" dirty="0">
                <a:solidFill>
                  <a:schemeClr val="tx2"/>
                </a:solidFill>
              </a:rPr>
              <a:t>Inefficient administration</a:t>
            </a:r>
            <a:endParaRPr lang="en-US" sz="1600" dirty="0"/>
          </a:p>
        </p:txBody>
      </p:sp>
      <p:sp>
        <p:nvSpPr>
          <p:cNvPr id="37" name="Text 28"/>
          <p:cNvSpPr txBox="1"/>
          <p:nvPr/>
        </p:nvSpPr>
        <p:spPr>
          <a:xfrm>
            <a:off x="1508760" y="491947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Summaries and reports need manual counting</a:t>
            </a:r>
            <a:endParaRPr lang="en-US" sz="1400" dirty="0"/>
          </a:p>
        </p:txBody>
      </p:sp>
      <p:sp>
        <p:nvSpPr>
          <p:cNvPr id="38" name="Problem Long waiting time"/>
          <p:cNvSpPr/>
          <p:nvPr/>
        </p:nvSpPr>
        <p:spPr>
          <a:xfrm>
            <a:off x="6172200" y="4526280"/>
            <a:ext cx="5440680" cy="941832"/>
          </a:xfrm>
          <a:prstGeom prst="roundRect">
            <a:avLst>
              <a:gd name="adj" fmla="val 11650"/>
            </a:avLst>
          </a:prstGeom>
          <a:solidFill>
            <a:schemeClr val="bg2"/>
          </a:solidFill>
          <a:ln/>
          <a:effectLst>
            <a:outerShdw sx="100000" sy="100000" kx="0" ky="0" algn="bl" rotWithShape="0" blurRad="101600" dist="25400" dir="5400000">
              <a:srgbClr val="000000">
                <a:alpha val="12000"/>
              </a:srgbClr>
            </a:outerShdw>
          </a:effectLst>
        </p:spPr>
      </p:sp>
      <p:sp>
        <p:nvSpPr>
          <p:cNvPr id="39" name="Icon circle FaHourglassHalf"/>
          <p:cNvSpPr/>
          <p:nvPr/>
        </p:nvSpPr>
        <p:spPr>
          <a:xfrm>
            <a:off x="6355080" y="4722876"/>
            <a:ext cx="548640" cy="548640"/>
          </a:xfrm>
          <a:prstGeom prst="ellipse">
            <a:avLst/>
          </a:prstGeom>
          <a:solidFill>
            <a:schemeClr val="accent1"/>
          </a:solidFill>
          <a:ln/>
        </p:spPr>
      </p:sp>
      <p:pic>
        <p:nvPicPr>
          <p:cNvPr id="40" name="Image 7" descr="HourglassHalf icon">    </p:cNvPr>
          <p:cNvPicPr>
            <a:picLocks noChangeAspect="1"/>
          </p:cNvPicPr>
          <p:nvPr/>
        </p:nvPicPr>
        <p:blipFill>
          <a:blip r:embed="rId8"/>
          <a:stretch>
            <a:fillRect/>
          </a:stretch>
        </p:blipFill>
        <p:spPr>
          <a:xfrm>
            <a:off x="6497726" y="4865522"/>
            <a:ext cx="263347" cy="263347"/>
          </a:xfrm>
          <a:prstGeom prst="rect">
            <a:avLst/>
          </a:prstGeom>
        </p:spPr>
      </p:pic>
      <p:sp>
        <p:nvSpPr>
          <p:cNvPr id="41" name="Text 31"/>
          <p:cNvSpPr txBox="1"/>
          <p:nvPr/>
        </p:nvSpPr>
        <p:spPr>
          <a:xfrm>
            <a:off x="7132320" y="4617720"/>
            <a:ext cx="4343400" cy="274320"/>
          </a:xfrm>
          <a:prstGeom prst="rect">
            <a:avLst/>
          </a:prstGeom>
          <a:noFill/>
          <a:ln/>
        </p:spPr>
        <p:txBody>
          <a:bodyPr wrap="square" lIns="0" tIns="0" rIns="0" bIns="0" rtlCol="0" anchor="t"/>
          <a:lstStyle/>
          <a:p>
            <a:pPr indent="0" marL="0">
              <a:buNone/>
            </a:pPr>
            <a:r>
              <a:rPr lang="en-US" sz="1600" b="1" dirty="0">
                <a:solidFill>
                  <a:schemeClr val="tx2"/>
                </a:solidFill>
              </a:rPr>
              <a:t>Long waiting time</a:t>
            </a:r>
            <a:endParaRPr lang="en-US" sz="1600" dirty="0"/>
          </a:p>
        </p:txBody>
      </p:sp>
      <p:sp>
        <p:nvSpPr>
          <p:cNvPr id="42" name="Text 32"/>
          <p:cNvSpPr txBox="1"/>
          <p:nvPr/>
        </p:nvSpPr>
        <p:spPr>
          <a:xfrm>
            <a:off x="7132320" y="4919472"/>
            <a:ext cx="4343400" cy="502920"/>
          </a:xfrm>
          <a:prstGeom prst="rect">
            <a:avLst/>
          </a:prstGeom>
          <a:noFill/>
          <a:ln/>
        </p:spPr>
        <p:txBody>
          <a:bodyPr wrap="square" lIns="0" tIns="0" rIns="0" bIns="0" rtlCol="0" anchor="t"/>
          <a:lstStyle/>
          <a:p>
            <a:pPr indent="0" marL="0">
              <a:buNone/>
            </a:pPr>
            <a:r>
              <a:rPr lang="en-US" sz="1400" dirty="0">
                <a:solidFill>
                  <a:schemeClr val="accent4"/>
                </a:solidFill>
              </a:rPr>
              <a:t>Queues form at the counter during admission periods</a:t>
            </a:r>
            <a:endParaRPr lang="en-US" sz="1400" dirty="0"/>
          </a:p>
        </p:txBody>
      </p:sp>
      <p:sp>
        <p:nvSpPr>
          <p:cNvPr id="43" name="Need banner"/>
          <p:cNvSpPr/>
          <p:nvPr/>
        </p:nvSpPr>
        <p:spPr>
          <a:xfrm>
            <a:off x="548640" y="5669280"/>
            <a:ext cx="11064240" cy="502920"/>
          </a:xfrm>
          <a:prstGeom prst="roundRect">
            <a:avLst>
              <a:gd name="adj" fmla="val 21818"/>
            </a:avLst>
          </a:prstGeom>
          <a:solidFill>
            <a:schemeClr val="tx2"/>
          </a:solidFill>
          <a:ln/>
        </p:spPr>
      </p:sp>
      <p:sp>
        <p:nvSpPr>
          <p:cNvPr id="44" name="Text 34"/>
          <p:cNvSpPr txBox="1"/>
          <p:nvPr/>
        </p:nvSpPr>
        <p:spPr>
          <a:xfrm>
            <a:off x="548640" y="5669280"/>
            <a:ext cx="11064240" cy="502920"/>
          </a:xfrm>
          <a:prstGeom prst="rect">
            <a:avLst/>
          </a:prstGeom>
          <a:noFill/>
          <a:ln/>
        </p:spPr>
        <p:txBody>
          <a:bodyPr wrap="square" lIns="0" tIns="0" rIns="0" bIns="0" rtlCol="0" anchor="ctr"/>
          <a:lstStyle/>
          <a:p>
            <a:pPr algn="ctr" indent="0" marL="0">
              <a:buNone/>
            </a:pPr>
            <a:r>
              <a:rPr lang="en-US" sz="1600" b="1" dirty="0">
                <a:solidFill>
                  <a:schemeClr val="bg1"/>
                </a:solidFill>
              </a:rPr>
              <a:t>Need: a centralized, digital and user-friendly course enrollment platform</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Project Objectives</a:t>
            </a:r>
            <a:endParaRPr lang="en-US" sz="3400" dirty="0"/>
          </a:p>
        </p:txBody>
      </p:sp>
      <p:sp>
        <p:nvSpPr>
          <p:cNvPr id="3" name="Objective Build the Web Application"/>
          <p:cNvSpPr/>
          <p:nvPr/>
        </p:nvSpPr>
        <p:spPr>
          <a:xfrm>
            <a:off x="548640" y="141732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FaLaptopCode"/>
          <p:cNvSpPr/>
          <p:nvPr/>
        </p:nvSpPr>
        <p:spPr>
          <a:xfrm>
            <a:off x="777240" y="1645920"/>
            <a:ext cx="594360" cy="594360"/>
          </a:xfrm>
          <a:prstGeom prst="ellipse">
            <a:avLst/>
          </a:prstGeom>
          <a:solidFill>
            <a:schemeClr val="accent1"/>
          </a:solidFill>
          <a:ln/>
        </p:spPr>
      </p:sp>
      <p:pic>
        <p:nvPicPr>
          <p:cNvPr id="5" name="Image 0" descr="LaptopCode icon">    </p:cNvPr>
          <p:cNvPicPr>
            <a:picLocks noChangeAspect="1"/>
          </p:cNvPicPr>
          <p:nvPr/>
        </p:nvPicPr>
        <p:blipFill>
          <a:blip r:embed="rId1"/>
          <a:stretch>
            <a:fillRect/>
          </a:stretch>
        </p:blipFill>
        <p:spPr>
          <a:xfrm>
            <a:off x="931774" y="1800454"/>
            <a:ext cx="285293" cy="285293"/>
          </a:xfrm>
          <a:prstGeom prst="rect">
            <a:avLst/>
          </a:prstGeom>
        </p:spPr>
      </p:pic>
      <p:sp>
        <p:nvSpPr>
          <p:cNvPr id="6" name="Text 3"/>
          <p:cNvSpPr txBox="1"/>
          <p:nvPr/>
        </p:nvSpPr>
        <p:spPr>
          <a:xfrm>
            <a:off x="777240" y="23774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Build the Web Application</a:t>
            </a:r>
            <a:endParaRPr lang="en-US" sz="1800" dirty="0"/>
          </a:p>
        </p:txBody>
      </p:sp>
      <p:sp>
        <p:nvSpPr>
          <p:cNvPr id="7" name="Text 4"/>
          <p:cNvSpPr txBox="1"/>
          <p:nvPr/>
        </p:nvSpPr>
        <p:spPr>
          <a:xfrm>
            <a:off x="777240" y="277063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Develop with Python, FastAPI, Jinja2, HTML, CSS, JavaScript and MySQL</a:t>
            </a:r>
            <a:endParaRPr lang="en-US" sz="1400" dirty="0"/>
          </a:p>
        </p:txBody>
      </p:sp>
      <p:sp>
        <p:nvSpPr>
          <p:cNvPr id="8" name="Objective Design the Database"/>
          <p:cNvSpPr/>
          <p:nvPr/>
        </p:nvSpPr>
        <p:spPr>
          <a:xfrm>
            <a:off x="4297680" y="141732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9" name="Icon circle FaDatabase"/>
          <p:cNvSpPr/>
          <p:nvPr/>
        </p:nvSpPr>
        <p:spPr>
          <a:xfrm>
            <a:off x="4526280" y="1645920"/>
            <a:ext cx="594360" cy="594360"/>
          </a:xfrm>
          <a:prstGeom prst="ellipse">
            <a:avLst/>
          </a:prstGeom>
          <a:solidFill>
            <a:schemeClr val="accent1"/>
          </a:solidFill>
          <a:ln/>
        </p:spPr>
      </p:sp>
      <p:pic>
        <p:nvPicPr>
          <p:cNvPr id="10" name="Image 1" descr="Database icon">    </p:cNvPr>
          <p:cNvPicPr>
            <a:picLocks noChangeAspect="1"/>
          </p:cNvPicPr>
          <p:nvPr/>
        </p:nvPicPr>
        <p:blipFill>
          <a:blip r:embed="rId2"/>
          <a:stretch>
            <a:fillRect/>
          </a:stretch>
        </p:blipFill>
        <p:spPr>
          <a:xfrm>
            <a:off x="4680814" y="1800454"/>
            <a:ext cx="285293" cy="285293"/>
          </a:xfrm>
          <a:prstGeom prst="rect">
            <a:avLst/>
          </a:prstGeom>
        </p:spPr>
      </p:pic>
      <p:sp>
        <p:nvSpPr>
          <p:cNvPr id="11" name="Text 7"/>
          <p:cNvSpPr txBox="1"/>
          <p:nvPr/>
        </p:nvSpPr>
        <p:spPr>
          <a:xfrm>
            <a:off x="4526280" y="23774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Design the Database</a:t>
            </a:r>
            <a:endParaRPr lang="en-US" sz="1800" dirty="0"/>
          </a:p>
        </p:txBody>
      </p:sp>
      <p:sp>
        <p:nvSpPr>
          <p:cNvPr id="12" name="Text 8"/>
          <p:cNvSpPr txBox="1"/>
          <p:nvPr/>
        </p:nvSpPr>
        <p:spPr>
          <a:xfrm>
            <a:off x="4526280" y="277063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Relational design for categories, courses and enrollment records</a:t>
            </a:r>
            <a:endParaRPr lang="en-US" sz="1400" dirty="0"/>
          </a:p>
        </p:txBody>
      </p:sp>
      <p:sp>
        <p:nvSpPr>
          <p:cNvPr id="13" name="Objective Enable Course Discovery"/>
          <p:cNvSpPr/>
          <p:nvPr/>
        </p:nvSpPr>
        <p:spPr>
          <a:xfrm>
            <a:off x="8046720" y="141732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4" name="Icon circle FaSearch"/>
          <p:cNvSpPr/>
          <p:nvPr/>
        </p:nvSpPr>
        <p:spPr>
          <a:xfrm>
            <a:off x="8275320" y="1645920"/>
            <a:ext cx="594360" cy="594360"/>
          </a:xfrm>
          <a:prstGeom prst="ellipse">
            <a:avLst/>
          </a:prstGeom>
          <a:solidFill>
            <a:schemeClr val="accent1"/>
          </a:solidFill>
          <a:ln/>
        </p:spPr>
      </p:sp>
      <p:pic>
        <p:nvPicPr>
          <p:cNvPr id="15" name="Image 2" descr="Search icon">    </p:cNvPr>
          <p:cNvPicPr>
            <a:picLocks noChangeAspect="1"/>
          </p:cNvPicPr>
          <p:nvPr/>
        </p:nvPicPr>
        <p:blipFill>
          <a:blip r:embed="rId3"/>
          <a:stretch>
            <a:fillRect/>
          </a:stretch>
        </p:blipFill>
        <p:spPr>
          <a:xfrm>
            <a:off x="8429854" y="1800454"/>
            <a:ext cx="285293" cy="285293"/>
          </a:xfrm>
          <a:prstGeom prst="rect">
            <a:avLst/>
          </a:prstGeom>
        </p:spPr>
      </p:pic>
      <p:sp>
        <p:nvSpPr>
          <p:cNvPr id="16" name="Text 11"/>
          <p:cNvSpPr txBox="1"/>
          <p:nvPr/>
        </p:nvSpPr>
        <p:spPr>
          <a:xfrm>
            <a:off x="8275320" y="23774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Enable Course Discovery</a:t>
            </a:r>
            <a:endParaRPr lang="en-US" sz="1800" dirty="0"/>
          </a:p>
        </p:txBody>
      </p:sp>
      <p:sp>
        <p:nvSpPr>
          <p:cNvPr id="17" name="Text 12"/>
          <p:cNvSpPr txBox="1"/>
          <p:nvPr/>
        </p:nvSpPr>
        <p:spPr>
          <a:xfrm>
            <a:off x="8275320" y="277063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View categories and courses with instructor, duration, level and seats; filter by category</a:t>
            </a:r>
            <a:endParaRPr lang="en-US" sz="1400" dirty="0"/>
          </a:p>
        </p:txBody>
      </p:sp>
      <p:sp>
        <p:nvSpPr>
          <p:cNvPr id="18" name="Objective Online Enrollment"/>
          <p:cNvSpPr/>
          <p:nvPr/>
        </p:nvSpPr>
        <p:spPr>
          <a:xfrm>
            <a:off x="548640" y="384048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9" name="Icon circle FaEdit"/>
          <p:cNvSpPr/>
          <p:nvPr/>
        </p:nvSpPr>
        <p:spPr>
          <a:xfrm>
            <a:off x="777240" y="4069080"/>
            <a:ext cx="594360" cy="594360"/>
          </a:xfrm>
          <a:prstGeom prst="ellipse">
            <a:avLst/>
          </a:prstGeom>
          <a:solidFill>
            <a:schemeClr val="accent1"/>
          </a:solidFill>
          <a:ln/>
        </p:spPr>
      </p:sp>
      <p:pic>
        <p:nvPicPr>
          <p:cNvPr id="20" name="Image 3" descr="Edit icon">    </p:cNvPr>
          <p:cNvPicPr>
            <a:picLocks noChangeAspect="1"/>
          </p:cNvPicPr>
          <p:nvPr/>
        </p:nvPicPr>
        <p:blipFill>
          <a:blip r:embed="rId4"/>
          <a:stretch>
            <a:fillRect/>
          </a:stretch>
        </p:blipFill>
        <p:spPr>
          <a:xfrm>
            <a:off x="931774" y="4223614"/>
            <a:ext cx="285293" cy="285293"/>
          </a:xfrm>
          <a:prstGeom prst="rect">
            <a:avLst/>
          </a:prstGeom>
        </p:spPr>
      </p:pic>
      <p:sp>
        <p:nvSpPr>
          <p:cNvPr id="21" name="Text 15"/>
          <p:cNvSpPr txBox="1"/>
          <p:nvPr/>
        </p:nvSpPr>
        <p:spPr>
          <a:xfrm>
            <a:off x="777240" y="4800600"/>
            <a:ext cx="3108960" cy="320040"/>
          </a:xfrm>
          <a:prstGeom prst="rect">
            <a:avLst/>
          </a:prstGeom>
          <a:noFill/>
          <a:ln/>
        </p:spPr>
        <p:txBody>
          <a:bodyPr wrap="square" lIns="0" tIns="0" rIns="0" bIns="0" rtlCol="0" anchor="t"/>
          <a:lstStyle/>
          <a:p>
            <a:pPr indent="0" marL="0">
              <a:buNone/>
            </a:pPr>
            <a:r>
              <a:rPr lang="en-US" sz="1800" b="1" dirty="0">
                <a:solidFill>
                  <a:schemeClr val="tx2"/>
                </a:solidFill>
              </a:rPr>
              <a:t>Online Enrollment</a:t>
            </a:r>
            <a:endParaRPr lang="en-US" sz="1800" dirty="0"/>
          </a:p>
        </p:txBody>
      </p:sp>
      <p:sp>
        <p:nvSpPr>
          <p:cNvPr id="22" name="Text 16"/>
          <p:cNvSpPr txBox="1"/>
          <p:nvPr/>
        </p:nvSpPr>
        <p:spPr>
          <a:xfrm>
            <a:off x="777240" y="519379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Validated online form that stores every request in the database</a:t>
            </a:r>
            <a:endParaRPr lang="en-US" sz="1400" dirty="0"/>
          </a:p>
        </p:txBody>
      </p:sp>
      <p:sp>
        <p:nvSpPr>
          <p:cNvPr id="23" name="Objective Login and Dashboard"/>
          <p:cNvSpPr/>
          <p:nvPr/>
        </p:nvSpPr>
        <p:spPr>
          <a:xfrm>
            <a:off x="4297680" y="384048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24" name="Icon circle FaTachometerAlt"/>
          <p:cNvSpPr/>
          <p:nvPr/>
        </p:nvSpPr>
        <p:spPr>
          <a:xfrm>
            <a:off x="4526280" y="4069080"/>
            <a:ext cx="594360" cy="594360"/>
          </a:xfrm>
          <a:prstGeom prst="ellipse">
            <a:avLst/>
          </a:prstGeom>
          <a:solidFill>
            <a:schemeClr val="accent1"/>
          </a:solidFill>
          <a:ln/>
        </p:spPr>
      </p:sp>
      <p:pic>
        <p:nvPicPr>
          <p:cNvPr id="25" name="Image 4" descr="TachometerAlt icon">    </p:cNvPr>
          <p:cNvPicPr>
            <a:picLocks noChangeAspect="1"/>
          </p:cNvPicPr>
          <p:nvPr/>
        </p:nvPicPr>
        <p:blipFill>
          <a:blip r:embed="rId5"/>
          <a:stretch>
            <a:fillRect/>
          </a:stretch>
        </p:blipFill>
        <p:spPr>
          <a:xfrm>
            <a:off x="4680814" y="4223614"/>
            <a:ext cx="285293" cy="285293"/>
          </a:xfrm>
          <a:prstGeom prst="rect">
            <a:avLst/>
          </a:prstGeom>
        </p:spPr>
      </p:pic>
      <p:sp>
        <p:nvSpPr>
          <p:cNvPr id="26" name="Text 19"/>
          <p:cNvSpPr txBox="1"/>
          <p:nvPr/>
        </p:nvSpPr>
        <p:spPr>
          <a:xfrm>
            <a:off x="4526280" y="4800600"/>
            <a:ext cx="3108960" cy="320040"/>
          </a:xfrm>
          <a:prstGeom prst="rect">
            <a:avLst/>
          </a:prstGeom>
          <a:noFill/>
          <a:ln/>
        </p:spPr>
        <p:txBody>
          <a:bodyPr wrap="square" lIns="0" tIns="0" rIns="0" bIns="0" rtlCol="0" anchor="t"/>
          <a:lstStyle/>
          <a:p>
            <a:pPr indent="0" marL="0">
              <a:buNone/>
            </a:pPr>
            <a:r>
              <a:rPr lang="en-US" sz="1800" b="1" dirty="0">
                <a:solidFill>
                  <a:schemeClr val="tx2"/>
                </a:solidFill>
              </a:rPr>
              <a:t>Login and Dashboard</a:t>
            </a:r>
            <a:endParaRPr lang="en-US" sz="1800" dirty="0"/>
          </a:p>
        </p:txBody>
      </p:sp>
      <p:sp>
        <p:nvSpPr>
          <p:cNvPr id="27" name="Text 20"/>
          <p:cNvSpPr txBox="1"/>
          <p:nvPr/>
        </p:nvSpPr>
        <p:spPr>
          <a:xfrm>
            <a:off x="4526280" y="519379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Login screen with input validation and a dashboard of summary figures</a:t>
            </a:r>
            <a:endParaRPr lang="en-US" sz="1400" dirty="0"/>
          </a:p>
        </p:txBody>
      </p:sp>
      <p:sp>
        <p:nvSpPr>
          <p:cNvPr id="28" name="Objective Reduce Manual Work"/>
          <p:cNvSpPr/>
          <p:nvPr/>
        </p:nvSpPr>
        <p:spPr>
          <a:xfrm>
            <a:off x="8046720" y="3840480"/>
            <a:ext cx="356616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29" name="Icon circle FaCheckCircle"/>
          <p:cNvSpPr/>
          <p:nvPr/>
        </p:nvSpPr>
        <p:spPr>
          <a:xfrm>
            <a:off x="8275320" y="4069080"/>
            <a:ext cx="594360" cy="594360"/>
          </a:xfrm>
          <a:prstGeom prst="ellipse">
            <a:avLst/>
          </a:prstGeom>
          <a:solidFill>
            <a:schemeClr val="accent1"/>
          </a:solidFill>
          <a:ln/>
        </p:spPr>
      </p:sp>
      <p:pic>
        <p:nvPicPr>
          <p:cNvPr id="30" name="Image 5" descr="CheckCircle icon">    </p:cNvPr>
          <p:cNvPicPr>
            <a:picLocks noChangeAspect="1"/>
          </p:cNvPicPr>
          <p:nvPr/>
        </p:nvPicPr>
        <p:blipFill>
          <a:blip r:embed="rId6"/>
          <a:stretch>
            <a:fillRect/>
          </a:stretch>
        </p:blipFill>
        <p:spPr>
          <a:xfrm>
            <a:off x="8429854" y="4223614"/>
            <a:ext cx="285293" cy="285293"/>
          </a:xfrm>
          <a:prstGeom prst="rect">
            <a:avLst/>
          </a:prstGeom>
        </p:spPr>
      </p:pic>
      <p:sp>
        <p:nvSpPr>
          <p:cNvPr id="31" name="Text 23"/>
          <p:cNvSpPr txBox="1"/>
          <p:nvPr/>
        </p:nvSpPr>
        <p:spPr>
          <a:xfrm>
            <a:off x="8275320" y="4800600"/>
            <a:ext cx="3108960" cy="320040"/>
          </a:xfrm>
          <a:prstGeom prst="rect">
            <a:avLst/>
          </a:prstGeom>
          <a:noFill/>
          <a:ln/>
        </p:spPr>
        <p:txBody>
          <a:bodyPr wrap="square" lIns="0" tIns="0" rIns="0" bIns="0" rtlCol="0" anchor="t"/>
          <a:lstStyle/>
          <a:p>
            <a:pPr indent="0" marL="0">
              <a:buNone/>
            </a:pPr>
            <a:r>
              <a:rPr lang="en-US" sz="1800" b="1" dirty="0">
                <a:solidFill>
                  <a:schemeClr val="tx2"/>
                </a:solidFill>
              </a:rPr>
              <a:t>Reduce Manual Work</a:t>
            </a:r>
            <a:endParaRPr lang="en-US" sz="1800" dirty="0"/>
          </a:p>
        </p:txBody>
      </p:sp>
      <p:sp>
        <p:nvSpPr>
          <p:cNvPr id="32" name="Text 24"/>
          <p:cNvSpPr txBox="1"/>
          <p:nvPr/>
        </p:nvSpPr>
        <p:spPr>
          <a:xfrm>
            <a:off x="8275320" y="5193792"/>
            <a:ext cx="3108960" cy="822960"/>
          </a:xfrm>
          <a:prstGeom prst="rect">
            <a:avLst/>
          </a:prstGeom>
          <a:noFill/>
          <a:ln/>
        </p:spPr>
        <p:txBody>
          <a:bodyPr wrap="square" lIns="0" tIns="0" rIns="0" bIns="0" rtlCol="0" anchor="t"/>
          <a:lstStyle/>
          <a:p>
            <a:pPr indent="0" marL="0">
              <a:buNone/>
            </a:pPr>
            <a:r>
              <a:rPr lang="en-US" sz="1400" dirty="0">
                <a:solidFill>
                  <a:schemeClr val="accent4"/>
                </a:solidFill>
              </a:rPr>
              <a:t>Cut paperwork and entry errors with a responsive, easy-to-use interface</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Proposed System and Core Modules</a:t>
            </a:r>
            <a:endParaRPr lang="en-US" sz="3400" dirty="0"/>
          </a:p>
        </p:txBody>
      </p:sp>
      <p:sp>
        <p:nvSpPr>
          <p:cNvPr id="3" name="Proposal panel"/>
          <p:cNvSpPr/>
          <p:nvPr/>
        </p:nvSpPr>
        <p:spPr>
          <a:xfrm>
            <a:off x="548640" y="1417320"/>
            <a:ext cx="3566160" cy="4663440"/>
          </a:xfrm>
          <a:prstGeom prst="roundRect">
            <a:avLst>
              <a:gd name="adj" fmla="val 3077"/>
            </a:avLst>
          </a:prstGeom>
          <a:solidFill>
            <a:schemeClr val="tx2"/>
          </a:solidFill>
          <a:ln/>
        </p:spPr>
      </p:sp>
      <p:sp>
        <p:nvSpPr>
          <p:cNvPr id="4" name="Icon circle FaRocket"/>
          <p:cNvSpPr/>
          <p:nvPr/>
        </p:nvSpPr>
        <p:spPr>
          <a:xfrm>
            <a:off x="822960" y="1691640"/>
            <a:ext cx="640080" cy="640080"/>
          </a:xfrm>
          <a:prstGeom prst="ellipse">
            <a:avLst/>
          </a:prstGeom>
          <a:solidFill>
            <a:schemeClr val="accent2"/>
          </a:solidFill>
          <a:ln/>
        </p:spPr>
      </p:sp>
      <p:pic>
        <p:nvPicPr>
          <p:cNvPr id="5" name="Image 0" descr="Rocket icon">    </p:cNvPr>
          <p:cNvPicPr>
            <a:picLocks noChangeAspect="1"/>
          </p:cNvPicPr>
          <p:nvPr/>
        </p:nvPicPr>
        <p:blipFill>
          <a:blip r:embed="rId1"/>
          <a:stretch>
            <a:fillRect/>
          </a:stretch>
        </p:blipFill>
        <p:spPr>
          <a:xfrm>
            <a:off x="989381" y="1858061"/>
            <a:ext cx="307238" cy="307238"/>
          </a:xfrm>
          <a:prstGeom prst="rect">
            <a:avLst/>
          </a:prstGeom>
        </p:spPr>
      </p:pic>
      <p:sp>
        <p:nvSpPr>
          <p:cNvPr id="6" name="Text 3"/>
          <p:cNvSpPr txBox="1"/>
          <p:nvPr/>
        </p:nvSpPr>
        <p:spPr>
          <a:xfrm>
            <a:off x="822960" y="2514600"/>
            <a:ext cx="3017520" cy="365760"/>
          </a:xfrm>
          <a:prstGeom prst="rect">
            <a:avLst/>
          </a:prstGeom>
          <a:noFill/>
          <a:ln/>
        </p:spPr>
        <p:txBody>
          <a:bodyPr wrap="square" lIns="0" tIns="0" rIns="0" bIns="0" rtlCol="0" anchor="t"/>
          <a:lstStyle/>
          <a:p>
            <a:pPr indent="0" marL="0">
              <a:buNone/>
            </a:pPr>
            <a:r>
              <a:rPr lang="en-US" sz="2200" b="1" dirty="0">
                <a:solidFill>
                  <a:schemeClr val="bg1"/>
                </a:solidFill>
              </a:rPr>
              <a:t>Proposed System</a:t>
            </a:r>
            <a:endParaRPr lang="en-US" sz="2200" dirty="0"/>
          </a:p>
        </p:txBody>
      </p:sp>
      <p:sp>
        <p:nvSpPr>
          <p:cNvPr id="7" name="Text 4"/>
          <p:cNvSpPr txBox="1"/>
          <p:nvPr/>
        </p:nvSpPr>
        <p:spPr>
          <a:xfrm>
            <a:off x="822960" y="3017520"/>
            <a:ext cx="3017520" cy="1371600"/>
          </a:xfrm>
          <a:prstGeom prst="rect">
            <a:avLst/>
          </a:prstGeom>
          <a:noFill/>
          <a:ln/>
        </p:spPr>
        <p:txBody>
          <a:bodyPr wrap="square" lIns="0" tIns="0" rIns="0" bIns="0" rtlCol="0" anchor="t"/>
          <a:lstStyle/>
          <a:p>
            <a:pPr indent="0" marL="0">
              <a:buNone/>
            </a:pPr>
            <a:r>
              <a:rPr lang="en-US" sz="1600" dirty="0">
                <a:solidFill>
                  <a:schemeClr val="bg2"/>
                </a:solidFill>
              </a:rPr>
              <a:t>A full stack web platform that digitizes and centralizes course enrollment for learners and staff.</a:t>
            </a:r>
            <a:endParaRPr lang="en-US" sz="1600" dirty="0"/>
          </a:p>
        </p:txBody>
      </p:sp>
      <p:pic>
        <p:nvPicPr>
          <p:cNvPr id="8" name="Image 1" descr="Check icon">    </p:cNvPr>
          <p:cNvPicPr>
            <a:picLocks noChangeAspect="1"/>
          </p:cNvPicPr>
          <p:nvPr/>
        </p:nvPicPr>
        <p:blipFill>
          <a:blip r:embed="rId2"/>
          <a:stretch>
            <a:fillRect/>
          </a:stretch>
        </p:blipFill>
        <p:spPr>
          <a:xfrm>
            <a:off x="822960" y="4572000"/>
            <a:ext cx="274320" cy="274320"/>
          </a:xfrm>
          <a:prstGeom prst="rect">
            <a:avLst/>
          </a:prstGeom>
        </p:spPr>
      </p:pic>
      <p:sp>
        <p:nvSpPr>
          <p:cNvPr id="9" name="Text 5"/>
          <p:cNvSpPr txBox="1"/>
          <p:nvPr/>
        </p:nvSpPr>
        <p:spPr>
          <a:xfrm>
            <a:off x="1234440" y="4526280"/>
            <a:ext cx="2743200" cy="365760"/>
          </a:xfrm>
          <a:prstGeom prst="rect">
            <a:avLst/>
          </a:prstGeom>
          <a:noFill/>
          <a:ln/>
        </p:spPr>
        <p:txBody>
          <a:bodyPr wrap="square" lIns="0" tIns="0" rIns="0" bIns="0" rtlCol="0" anchor="ctr"/>
          <a:lstStyle/>
          <a:p>
            <a:pPr indent="0" marL="0">
              <a:buNone/>
            </a:pPr>
            <a:r>
              <a:rPr lang="en-US" sz="1400" dirty="0">
                <a:solidFill>
                  <a:schemeClr val="bg1"/>
                </a:solidFill>
              </a:rPr>
              <a:t>Centralized MySQL database</a:t>
            </a:r>
            <a:endParaRPr lang="en-US" sz="1400" dirty="0"/>
          </a:p>
        </p:txBody>
      </p:sp>
      <p:pic>
        <p:nvPicPr>
          <p:cNvPr id="10" name="Image 2" descr="Check icon">    </p:cNvPr>
          <p:cNvPicPr>
            <a:picLocks noChangeAspect="1"/>
          </p:cNvPicPr>
          <p:nvPr/>
        </p:nvPicPr>
        <p:blipFill>
          <a:blip r:embed="rId3"/>
          <a:stretch>
            <a:fillRect/>
          </a:stretch>
        </p:blipFill>
        <p:spPr>
          <a:xfrm>
            <a:off x="822960" y="5029200"/>
            <a:ext cx="274320" cy="274320"/>
          </a:xfrm>
          <a:prstGeom prst="rect">
            <a:avLst/>
          </a:prstGeom>
        </p:spPr>
      </p:pic>
      <p:sp>
        <p:nvSpPr>
          <p:cNvPr id="11" name="Text 6"/>
          <p:cNvSpPr txBox="1"/>
          <p:nvPr/>
        </p:nvSpPr>
        <p:spPr>
          <a:xfrm>
            <a:off x="1234440" y="4983480"/>
            <a:ext cx="2743200" cy="365760"/>
          </a:xfrm>
          <a:prstGeom prst="rect">
            <a:avLst/>
          </a:prstGeom>
          <a:noFill/>
          <a:ln/>
        </p:spPr>
        <p:txBody>
          <a:bodyPr wrap="square" lIns="0" tIns="0" rIns="0" bIns="0" rtlCol="0" anchor="ctr"/>
          <a:lstStyle/>
          <a:p>
            <a:pPr indent="0" marL="0">
              <a:buNone/>
            </a:pPr>
            <a:r>
              <a:rPr lang="en-US" sz="1400" dirty="0">
                <a:solidFill>
                  <a:schemeClr val="bg1"/>
                </a:solidFill>
              </a:rPr>
              <a:t>Instant on-screen feedback</a:t>
            </a:r>
            <a:endParaRPr lang="en-US" sz="1400" dirty="0"/>
          </a:p>
        </p:txBody>
      </p:sp>
      <p:pic>
        <p:nvPicPr>
          <p:cNvPr id="12" name="Image 3" descr="Check icon">    </p:cNvPr>
          <p:cNvPicPr>
            <a:picLocks noChangeAspect="1"/>
          </p:cNvPicPr>
          <p:nvPr/>
        </p:nvPicPr>
        <p:blipFill>
          <a:blip r:embed="rId4"/>
          <a:stretch>
            <a:fillRect/>
          </a:stretch>
        </p:blipFill>
        <p:spPr>
          <a:xfrm>
            <a:off x="822960" y="5486400"/>
            <a:ext cx="274320" cy="274320"/>
          </a:xfrm>
          <a:prstGeom prst="rect">
            <a:avLst/>
          </a:prstGeom>
        </p:spPr>
      </p:pic>
      <p:sp>
        <p:nvSpPr>
          <p:cNvPr id="13" name="Text 7"/>
          <p:cNvSpPr txBox="1"/>
          <p:nvPr/>
        </p:nvSpPr>
        <p:spPr>
          <a:xfrm>
            <a:off x="1234440" y="5440680"/>
            <a:ext cx="2743200" cy="365760"/>
          </a:xfrm>
          <a:prstGeom prst="rect">
            <a:avLst/>
          </a:prstGeom>
          <a:noFill/>
          <a:ln/>
        </p:spPr>
        <p:txBody>
          <a:bodyPr wrap="square" lIns="0" tIns="0" rIns="0" bIns="0" rtlCol="0" anchor="ctr"/>
          <a:lstStyle/>
          <a:p>
            <a:pPr indent="0" marL="0">
              <a:buNone/>
            </a:pPr>
            <a:r>
              <a:rPr lang="en-US" sz="1400" dirty="0">
                <a:solidFill>
                  <a:schemeClr val="bg1"/>
                </a:solidFill>
              </a:rPr>
              <a:t>Responsive on desktop and mobile</a:t>
            </a:r>
            <a:endParaRPr lang="en-US" sz="1400" dirty="0"/>
          </a:p>
        </p:txBody>
      </p:sp>
      <p:sp>
        <p:nvSpPr>
          <p:cNvPr id="14" name="Module Home and Categories"/>
          <p:cNvSpPr/>
          <p:nvPr/>
        </p:nvSpPr>
        <p:spPr>
          <a:xfrm>
            <a:off x="4389120" y="14173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15" name="Icon circle FaHome"/>
          <p:cNvSpPr/>
          <p:nvPr/>
        </p:nvSpPr>
        <p:spPr>
          <a:xfrm>
            <a:off x="4572000" y="1600200"/>
            <a:ext cx="502920" cy="502920"/>
          </a:xfrm>
          <a:prstGeom prst="ellipse">
            <a:avLst/>
          </a:prstGeom>
          <a:solidFill>
            <a:schemeClr val="accent1"/>
          </a:solidFill>
          <a:ln/>
        </p:spPr>
      </p:sp>
      <p:pic>
        <p:nvPicPr>
          <p:cNvPr id="16" name="Image 4" descr="Home icon">    </p:cNvPr>
          <p:cNvPicPr>
            <a:picLocks noChangeAspect="1"/>
          </p:cNvPicPr>
          <p:nvPr/>
        </p:nvPicPr>
        <p:blipFill>
          <a:blip r:embed="rId5"/>
          <a:stretch>
            <a:fillRect/>
          </a:stretch>
        </p:blipFill>
        <p:spPr>
          <a:xfrm>
            <a:off x="4702759" y="1730959"/>
            <a:ext cx="241402" cy="241402"/>
          </a:xfrm>
          <a:prstGeom prst="rect">
            <a:avLst/>
          </a:prstGeom>
        </p:spPr>
      </p:pic>
      <p:sp>
        <p:nvSpPr>
          <p:cNvPr id="17" name="Text 10"/>
          <p:cNvSpPr txBox="1"/>
          <p:nvPr/>
        </p:nvSpPr>
        <p:spPr>
          <a:xfrm>
            <a:off x="5212080" y="16002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Home and Categories</a:t>
            </a:r>
            <a:endParaRPr lang="en-US" sz="1600" dirty="0"/>
          </a:p>
        </p:txBody>
      </p:sp>
      <p:sp>
        <p:nvSpPr>
          <p:cNvPr id="18" name="Text 11"/>
          <p:cNvSpPr txBox="1"/>
          <p:nvPr/>
        </p:nvSpPr>
        <p:spPr>
          <a:xfrm>
            <a:off x="4572000" y="22219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Category cards with icon, colour and an Open category link</a:t>
            </a:r>
            <a:endParaRPr lang="en-US" sz="1400" dirty="0"/>
          </a:p>
        </p:txBody>
      </p:sp>
      <p:sp>
        <p:nvSpPr>
          <p:cNvPr id="19" name="Module Catalog and Filter"/>
          <p:cNvSpPr/>
          <p:nvPr/>
        </p:nvSpPr>
        <p:spPr>
          <a:xfrm>
            <a:off x="8092440" y="14173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0" name="Icon circle FaFilter"/>
          <p:cNvSpPr/>
          <p:nvPr/>
        </p:nvSpPr>
        <p:spPr>
          <a:xfrm>
            <a:off x="8275320" y="1600200"/>
            <a:ext cx="502920" cy="502920"/>
          </a:xfrm>
          <a:prstGeom prst="ellipse">
            <a:avLst/>
          </a:prstGeom>
          <a:solidFill>
            <a:schemeClr val="accent1"/>
          </a:solidFill>
          <a:ln/>
        </p:spPr>
      </p:sp>
      <p:pic>
        <p:nvPicPr>
          <p:cNvPr id="21" name="Image 5" descr="Filter icon">    </p:cNvPr>
          <p:cNvPicPr>
            <a:picLocks noChangeAspect="1"/>
          </p:cNvPicPr>
          <p:nvPr/>
        </p:nvPicPr>
        <p:blipFill>
          <a:blip r:embed="rId6"/>
          <a:stretch>
            <a:fillRect/>
          </a:stretch>
        </p:blipFill>
        <p:spPr>
          <a:xfrm>
            <a:off x="8406079" y="1730959"/>
            <a:ext cx="241402" cy="241402"/>
          </a:xfrm>
          <a:prstGeom prst="rect">
            <a:avLst/>
          </a:prstGeom>
        </p:spPr>
      </p:pic>
      <p:sp>
        <p:nvSpPr>
          <p:cNvPr id="22" name="Text 14"/>
          <p:cNvSpPr txBox="1"/>
          <p:nvPr/>
        </p:nvSpPr>
        <p:spPr>
          <a:xfrm>
            <a:off x="8915400" y="16002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Catalog and Filter</a:t>
            </a:r>
            <a:endParaRPr lang="en-US" sz="1600" dirty="0"/>
          </a:p>
        </p:txBody>
      </p:sp>
      <p:sp>
        <p:nvSpPr>
          <p:cNvPr id="23" name="Text 15"/>
          <p:cNvSpPr txBox="1"/>
          <p:nvPr/>
        </p:nvSpPr>
        <p:spPr>
          <a:xfrm>
            <a:off x="8275320" y="22219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Instructor, duration, level and seats; filter by category</a:t>
            </a:r>
            <a:endParaRPr lang="en-US" sz="1400" dirty="0"/>
          </a:p>
        </p:txBody>
      </p:sp>
      <p:sp>
        <p:nvSpPr>
          <p:cNvPr id="24" name="Module Online Enrollment"/>
          <p:cNvSpPr/>
          <p:nvPr/>
        </p:nvSpPr>
        <p:spPr>
          <a:xfrm>
            <a:off x="4389120" y="30175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25" name="Icon circle FaEdit"/>
          <p:cNvSpPr/>
          <p:nvPr/>
        </p:nvSpPr>
        <p:spPr>
          <a:xfrm>
            <a:off x="4572000" y="3200400"/>
            <a:ext cx="502920" cy="502920"/>
          </a:xfrm>
          <a:prstGeom prst="ellipse">
            <a:avLst/>
          </a:prstGeom>
          <a:solidFill>
            <a:schemeClr val="accent1"/>
          </a:solidFill>
          <a:ln/>
        </p:spPr>
      </p:sp>
      <p:pic>
        <p:nvPicPr>
          <p:cNvPr id="26" name="Image 6" descr="Edit icon">    </p:cNvPr>
          <p:cNvPicPr>
            <a:picLocks noChangeAspect="1"/>
          </p:cNvPicPr>
          <p:nvPr/>
        </p:nvPicPr>
        <p:blipFill>
          <a:blip r:embed="rId7"/>
          <a:stretch>
            <a:fillRect/>
          </a:stretch>
        </p:blipFill>
        <p:spPr>
          <a:xfrm>
            <a:off x="4702759" y="3331159"/>
            <a:ext cx="241402" cy="241402"/>
          </a:xfrm>
          <a:prstGeom prst="rect">
            <a:avLst/>
          </a:prstGeom>
        </p:spPr>
      </p:pic>
      <p:sp>
        <p:nvSpPr>
          <p:cNvPr id="27" name="Text 18"/>
          <p:cNvSpPr txBox="1"/>
          <p:nvPr/>
        </p:nvSpPr>
        <p:spPr>
          <a:xfrm>
            <a:off x="5212080" y="32004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Online Enrollment</a:t>
            </a:r>
            <a:endParaRPr lang="en-US" sz="1600" dirty="0"/>
          </a:p>
        </p:txBody>
      </p:sp>
      <p:sp>
        <p:nvSpPr>
          <p:cNvPr id="28" name="Text 19"/>
          <p:cNvSpPr txBox="1"/>
          <p:nvPr/>
        </p:nvSpPr>
        <p:spPr>
          <a:xfrm>
            <a:off x="4572000" y="38221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Validated form saved to the database with Pending status</a:t>
            </a:r>
            <a:endParaRPr lang="en-US" sz="1400" dirty="0"/>
          </a:p>
        </p:txBody>
      </p:sp>
      <p:sp>
        <p:nvSpPr>
          <p:cNvPr id="29" name="Module Login"/>
          <p:cNvSpPr/>
          <p:nvPr/>
        </p:nvSpPr>
        <p:spPr>
          <a:xfrm>
            <a:off x="8092440" y="30175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30" name="Icon circle FaSignInAlt"/>
          <p:cNvSpPr/>
          <p:nvPr/>
        </p:nvSpPr>
        <p:spPr>
          <a:xfrm>
            <a:off x="8275320" y="3200400"/>
            <a:ext cx="502920" cy="502920"/>
          </a:xfrm>
          <a:prstGeom prst="ellipse">
            <a:avLst/>
          </a:prstGeom>
          <a:solidFill>
            <a:schemeClr val="accent1"/>
          </a:solidFill>
          <a:ln/>
        </p:spPr>
      </p:sp>
      <p:pic>
        <p:nvPicPr>
          <p:cNvPr id="31" name="Image 7" descr="SignInAlt icon">    </p:cNvPr>
          <p:cNvPicPr>
            <a:picLocks noChangeAspect="1"/>
          </p:cNvPicPr>
          <p:nvPr/>
        </p:nvPicPr>
        <p:blipFill>
          <a:blip r:embed="rId8"/>
          <a:stretch>
            <a:fillRect/>
          </a:stretch>
        </p:blipFill>
        <p:spPr>
          <a:xfrm>
            <a:off x="8406079" y="3331159"/>
            <a:ext cx="241402" cy="241402"/>
          </a:xfrm>
          <a:prstGeom prst="rect">
            <a:avLst/>
          </a:prstGeom>
        </p:spPr>
      </p:pic>
      <p:sp>
        <p:nvSpPr>
          <p:cNvPr id="32" name="Text 22"/>
          <p:cNvSpPr txBox="1"/>
          <p:nvPr/>
        </p:nvSpPr>
        <p:spPr>
          <a:xfrm>
            <a:off x="8915400" y="32004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Login</a:t>
            </a:r>
            <a:endParaRPr lang="en-US" sz="1600" dirty="0"/>
          </a:p>
        </p:txBody>
      </p:sp>
      <p:sp>
        <p:nvSpPr>
          <p:cNvPr id="33" name="Text 23"/>
          <p:cNvSpPr txBox="1"/>
          <p:nvPr/>
        </p:nvSpPr>
        <p:spPr>
          <a:xfrm>
            <a:off x="8275320" y="38221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Checks both fields and password length, then opens dashboard</a:t>
            </a:r>
            <a:endParaRPr lang="en-US" sz="1400" dirty="0"/>
          </a:p>
        </p:txBody>
      </p:sp>
      <p:sp>
        <p:nvSpPr>
          <p:cNvPr id="34" name="Module Dashboard and Contact"/>
          <p:cNvSpPr/>
          <p:nvPr/>
        </p:nvSpPr>
        <p:spPr>
          <a:xfrm>
            <a:off x="4389120" y="46177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35" name="Icon circle FaTachometerAlt"/>
          <p:cNvSpPr/>
          <p:nvPr/>
        </p:nvSpPr>
        <p:spPr>
          <a:xfrm>
            <a:off x="4572000" y="4800600"/>
            <a:ext cx="502920" cy="502920"/>
          </a:xfrm>
          <a:prstGeom prst="ellipse">
            <a:avLst/>
          </a:prstGeom>
          <a:solidFill>
            <a:schemeClr val="accent1"/>
          </a:solidFill>
          <a:ln/>
        </p:spPr>
      </p:sp>
      <p:pic>
        <p:nvPicPr>
          <p:cNvPr id="36" name="Image 8" descr="TachometerAlt icon">    </p:cNvPr>
          <p:cNvPicPr>
            <a:picLocks noChangeAspect="1"/>
          </p:cNvPicPr>
          <p:nvPr/>
        </p:nvPicPr>
        <p:blipFill>
          <a:blip r:embed="rId9"/>
          <a:stretch>
            <a:fillRect/>
          </a:stretch>
        </p:blipFill>
        <p:spPr>
          <a:xfrm>
            <a:off x="4702759" y="4931359"/>
            <a:ext cx="241402" cy="241402"/>
          </a:xfrm>
          <a:prstGeom prst="rect">
            <a:avLst/>
          </a:prstGeom>
        </p:spPr>
      </p:pic>
      <p:sp>
        <p:nvSpPr>
          <p:cNvPr id="37" name="Text 26"/>
          <p:cNvSpPr txBox="1"/>
          <p:nvPr/>
        </p:nvSpPr>
        <p:spPr>
          <a:xfrm>
            <a:off x="5212080" y="48006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Dashboard and Contact</a:t>
            </a:r>
            <a:endParaRPr lang="en-US" sz="1600" dirty="0"/>
          </a:p>
        </p:txBody>
      </p:sp>
      <p:sp>
        <p:nvSpPr>
          <p:cNvPr id="38" name="Text 27"/>
          <p:cNvSpPr txBox="1"/>
          <p:nvPr/>
        </p:nvSpPr>
        <p:spPr>
          <a:xfrm>
            <a:off x="4572000" y="54223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Summary figures, latest enrollments, support contact details</a:t>
            </a:r>
            <a:endParaRPr lang="en-US" sz="1400" dirty="0"/>
          </a:p>
        </p:txBody>
      </p:sp>
      <p:sp>
        <p:nvSpPr>
          <p:cNvPr id="39" name="Module Database Setup"/>
          <p:cNvSpPr/>
          <p:nvPr/>
        </p:nvSpPr>
        <p:spPr>
          <a:xfrm>
            <a:off x="8092440" y="4617720"/>
            <a:ext cx="3520440" cy="1463040"/>
          </a:xfrm>
          <a:prstGeom prst="roundRect">
            <a:avLst>
              <a:gd name="adj" fmla="val 7500"/>
            </a:avLst>
          </a:prstGeom>
          <a:solidFill>
            <a:schemeClr val="bg2"/>
          </a:solidFill>
          <a:ln/>
          <a:effectLst>
            <a:outerShdw sx="100000" sy="100000" kx="0" ky="0" algn="bl" rotWithShape="0" blurRad="101600" dist="25400" dir="5400000">
              <a:srgbClr val="000000">
                <a:alpha val="12000"/>
              </a:srgbClr>
            </a:outerShdw>
          </a:effectLst>
        </p:spPr>
      </p:sp>
      <p:sp>
        <p:nvSpPr>
          <p:cNvPr id="40" name="Icon circle FaCogs"/>
          <p:cNvSpPr/>
          <p:nvPr/>
        </p:nvSpPr>
        <p:spPr>
          <a:xfrm>
            <a:off x="8275320" y="4800600"/>
            <a:ext cx="502920" cy="502920"/>
          </a:xfrm>
          <a:prstGeom prst="ellipse">
            <a:avLst/>
          </a:prstGeom>
          <a:solidFill>
            <a:schemeClr val="accent1"/>
          </a:solidFill>
          <a:ln/>
        </p:spPr>
      </p:sp>
      <p:pic>
        <p:nvPicPr>
          <p:cNvPr id="41" name="Image 9" descr="Cogs icon">    </p:cNvPr>
          <p:cNvPicPr>
            <a:picLocks noChangeAspect="1"/>
          </p:cNvPicPr>
          <p:nvPr/>
        </p:nvPicPr>
        <p:blipFill>
          <a:blip r:embed="rId10"/>
          <a:stretch>
            <a:fillRect/>
          </a:stretch>
        </p:blipFill>
        <p:spPr>
          <a:xfrm>
            <a:off x="8406079" y="4931359"/>
            <a:ext cx="241402" cy="241402"/>
          </a:xfrm>
          <a:prstGeom prst="rect">
            <a:avLst/>
          </a:prstGeom>
        </p:spPr>
      </p:pic>
      <p:sp>
        <p:nvSpPr>
          <p:cNvPr id="42" name="Text 30"/>
          <p:cNvSpPr txBox="1"/>
          <p:nvPr/>
        </p:nvSpPr>
        <p:spPr>
          <a:xfrm>
            <a:off x="8915400" y="4800600"/>
            <a:ext cx="2606040" cy="502920"/>
          </a:xfrm>
          <a:prstGeom prst="rect">
            <a:avLst/>
          </a:prstGeom>
          <a:noFill/>
          <a:ln/>
        </p:spPr>
        <p:txBody>
          <a:bodyPr wrap="square" lIns="0" tIns="0" rIns="0" bIns="0" rtlCol="0" anchor="ctr"/>
          <a:lstStyle/>
          <a:p>
            <a:pPr indent="0" marL="0">
              <a:buNone/>
            </a:pPr>
            <a:r>
              <a:rPr lang="en-US" sz="1600" b="1" dirty="0">
                <a:solidFill>
                  <a:schemeClr val="tx2"/>
                </a:solidFill>
              </a:rPr>
              <a:t>Database Setup</a:t>
            </a:r>
            <a:endParaRPr lang="en-US" sz="1600" dirty="0"/>
          </a:p>
        </p:txBody>
      </p:sp>
      <p:sp>
        <p:nvSpPr>
          <p:cNvPr id="43" name="Text 31"/>
          <p:cNvSpPr txBox="1"/>
          <p:nvPr/>
        </p:nvSpPr>
        <p:spPr>
          <a:xfrm>
            <a:off x="8275320" y="5422392"/>
            <a:ext cx="3154680" cy="566928"/>
          </a:xfrm>
          <a:prstGeom prst="rect">
            <a:avLst/>
          </a:prstGeom>
          <a:noFill/>
          <a:ln/>
        </p:spPr>
        <p:txBody>
          <a:bodyPr wrap="square" lIns="0" tIns="0" rIns="0" bIns="0" rtlCol="0" anchor="t"/>
          <a:lstStyle/>
          <a:p>
            <a:pPr indent="0" marL="0">
              <a:buNone/>
            </a:pPr>
            <a:r>
              <a:rPr lang="en-US" sz="1400" dirty="0">
                <a:solidFill>
                  <a:schemeClr val="accent4"/>
                </a:solidFill>
              </a:rPr>
              <a:t>Creates tables, upgrades old ones, loads sample data at start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Technology Stack</a:t>
            </a:r>
            <a:endParaRPr lang="en-US" sz="3400" dirty="0"/>
          </a:p>
        </p:txBody>
      </p:sp>
      <p:sp>
        <p:nvSpPr>
          <p:cNvPr id="3" name="Row label Frontend"/>
          <p:cNvSpPr/>
          <p:nvPr/>
        </p:nvSpPr>
        <p:spPr>
          <a:xfrm>
            <a:off x="548640" y="1417320"/>
            <a:ext cx="2194560" cy="1051560"/>
          </a:xfrm>
          <a:prstGeom prst="roundRect">
            <a:avLst>
              <a:gd name="adj" fmla="val 10435"/>
            </a:avLst>
          </a:prstGeom>
          <a:solidFill>
            <a:schemeClr val="accent1"/>
          </a:solidFill>
          <a:ln/>
        </p:spPr>
      </p:sp>
      <p:sp>
        <p:nvSpPr>
          <p:cNvPr id="4" name="Icon circle FaDesktop"/>
          <p:cNvSpPr/>
          <p:nvPr/>
        </p:nvSpPr>
        <p:spPr>
          <a:xfrm>
            <a:off x="713232" y="1719072"/>
            <a:ext cx="457200" cy="457200"/>
          </a:xfrm>
          <a:prstGeom prst="ellipse">
            <a:avLst/>
          </a:prstGeom>
          <a:solidFill>
            <a:schemeClr val="bg1"/>
          </a:solidFill>
          <a:ln/>
        </p:spPr>
      </p:sp>
      <p:pic>
        <p:nvPicPr>
          <p:cNvPr id="5" name="Image 0" descr="Desktop icon">    </p:cNvPr>
          <p:cNvPicPr>
            <a:picLocks noChangeAspect="1"/>
          </p:cNvPicPr>
          <p:nvPr/>
        </p:nvPicPr>
        <p:blipFill>
          <a:blip r:embed="rId1"/>
          <a:stretch>
            <a:fillRect/>
          </a:stretch>
        </p:blipFill>
        <p:spPr>
          <a:xfrm>
            <a:off x="832104" y="1837944"/>
            <a:ext cx="219456" cy="219456"/>
          </a:xfrm>
          <a:prstGeom prst="rect">
            <a:avLst/>
          </a:prstGeom>
        </p:spPr>
      </p:pic>
      <p:sp>
        <p:nvSpPr>
          <p:cNvPr id="6" name="Text 3"/>
          <p:cNvSpPr txBox="1"/>
          <p:nvPr/>
        </p:nvSpPr>
        <p:spPr>
          <a:xfrm>
            <a:off x="1298448" y="1417320"/>
            <a:ext cx="1371600" cy="1051560"/>
          </a:xfrm>
          <a:prstGeom prst="rect">
            <a:avLst/>
          </a:prstGeom>
          <a:noFill/>
          <a:ln/>
        </p:spPr>
        <p:txBody>
          <a:bodyPr wrap="square" lIns="0" tIns="0" rIns="0" bIns="0" rtlCol="0" anchor="ctr"/>
          <a:lstStyle/>
          <a:p>
            <a:pPr indent="0" marL="0">
              <a:buNone/>
            </a:pPr>
            <a:r>
              <a:rPr lang="en-US" sz="1700" b="1" dirty="0">
                <a:solidFill>
                  <a:schemeClr val="bg1"/>
                </a:solidFill>
              </a:rPr>
              <a:t>Frontend</a:t>
            </a:r>
            <a:endParaRPr lang="en-US" sz="1700" dirty="0"/>
          </a:p>
        </p:txBody>
      </p:sp>
      <p:sp>
        <p:nvSpPr>
          <p:cNvPr id="7" name="Tech HTML5"/>
          <p:cNvSpPr/>
          <p:nvPr/>
        </p:nvSpPr>
        <p:spPr>
          <a:xfrm>
            <a:off x="2926080" y="141732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8" name="Text 5"/>
          <p:cNvSpPr txBox="1"/>
          <p:nvPr/>
        </p:nvSpPr>
        <p:spPr>
          <a:xfrm>
            <a:off x="3063240" y="1618488"/>
            <a:ext cx="1783080" cy="320040"/>
          </a:xfrm>
          <a:prstGeom prst="rect">
            <a:avLst/>
          </a:prstGeom>
          <a:noFill/>
          <a:ln/>
        </p:spPr>
        <p:txBody>
          <a:bodyPr wrap="square" lIns="0" tIns="0" rIns="0" bIns="0" rtlCol="0" anchor="t"/>
          <a:lstStyle/>
          <a:p>
            <a:pPr indent="0" marL="0">
              <a:buNone/>
            </a:pPr>
            <a:r>
              <a:rPr lang="en-US" sz="1600" b="1" dirty="0">
                <a:solidFill>
                  <a:schemeClr val="tx2"/>
                </a:solidFill>
              </a:rPr>
              <a:t>HTML5</a:t>
            </a:r>
            <a:endParaRPr lang="en-US" sz="1600" dirty="0"/>
          </a:p>
        </p:txBody>
      </p:sp>
      <p:sp>
        <p:nvSpPr>
          <p:cNvPr id="9" name="Text 6"/>
          <p:cNvSpPr txBox="1"/>
          <p:nvPr/>
        </p:nvSpPr>
        <p:spPr>
          <a:xfrm>
            <a:off x="3063240" y="198424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Page structure</a:t>
            </a:r>
            <a:endParaRPr lang="en-US" sz="1400" dirty="0"/>
          </a:p>
        </p:txBody>
      </p:sp>
      <p:sp>
        <p:nvSpPr>
          <p:cNvPr id="10" name="Tech CSS3"/>
          <p:cNvSpPr/>
          <p:nvPr/>
        </p:nvSpPr>
        <p:spPr>
          <a:xfrm>
            <a:off x="5138928" y="141732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11" name="Text 8"/>
          <p:cNvSpPr txBox="1"/>
          <p:nvPr/>
        </p:nvSpPr>
        <p:spPr>
          <a:xfrm>
            <a:off x="5276088" y="1618488"/>
            <a:ext cx="1783080" cy="320040"/>
          </a:xfrm>
          <a:prstGeom prst="rect">
            <a:avLst/>
          </a:prstGeom>
          <a:noFill/>
          <a:ln/>
        </p:spPr>
        <p:txBody>
          <a:bodyPr wrap="square" lIns="0" tIns="0" rIns="0" bIns="0" rtlCol="0" anchor="t"/>
          <a:lstStyle/>
          <a:p>
            <a:pPr indent="0" marL="0">
              <a:buNone/>
            </a:pPr>
            <a:r>
              <a:rPr lang="en-US" sz="1600" b="1" dirty="0">
                <a:solidFill>
                  <a:schemeClr val="tx2"/>
                </a:solidFill>
              </a:rPr>
              <a:t>CSS3</a:t>
            </a:r>
            <a:endParaRPr lang="en-US" sz="1600" dirty="0"/>
          </a:p>
        </p:txBody>
      </p:sp>
      <p:sp>
        <p:nvSpPr>
          <p:cNvPr id="12" name="Text 9"/>
          <p:cNvSpPr txBox="1"/>
          <p:nvPr/>
        </p:nvSpPr>
        <p:spPr>
          <a:xfrm>
            <a:off x="5276088" y="198424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Dark theme, cards</a:t>
            </a:r>
            <a:endParaRPr lang="en-US" sz="1400" dirty="0"/>
          </a:p>
        </p:txBody>
      </p:sp>
      <p:sp>
        <p:nvSpPr>
          <p:cNvPr id="13" name="Tech JavaScript"/>
          <p:cNvSpPr/>
          <p:nvPr/>
        </p:nvSpPr>
        <p:spPr>
          <a:xfrm>
            <a:off x="7351776" y="141732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14" name="Text 11"/>
          <p:cNvSpPr txBox="1"/>
          <p:nvPr/>
        </p:nvSpPr>
        <p:spPr>
          <a:xfrm>
            <a:off x="7488936" y="1618488"/>
            <a:ext cx="1783080" cy="320040"/>
          </a:xfrm>
          <a:prstGeom prst="rect">
            <a:avLst/>
          </a:prstGeom>
          <a:noFill/>
          <a:ln/>
        </p:spPr>
        <p:txBody>
          <a:bodyPr wrap="square" lIns="0" tIns="0" rIns="0" bIns="0" rtlCol="0" anchor="t"/>
          <a:lstStyle/>
          <a:p>
            <a:pPr indent="0" marL="0">
              <a:buNone/>
            </a:pPr>
            <a:r>
              <a:rPr lang="en-US" sz="1600" b="1" dirty="0">
                <a:solidFill>
                  <a:schemeClr val="tx2"/>
                </a:solidFill>
              </a:rPr>
              <a:t>JavaScript</a:t>
            </a:r>
            <a:endParaRPr lang="en-US" sz="1600" dirty="0"/>
          </a:p>
        </p:txBody>
      </p:sp>
      <p:sp>
        <p:nvSpPr>
          <p:cNvPr id="15" name="Text 12"/>
          <p:cNvSpPr txBox="1"/>
          <p:nvPr/>
        </p:nvSpPr>
        <p:spPr>
          <a:xfrm>
            <a:off x="7488936" y="198424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Dynamic footer year</a:t>
            </a:r>
            <a:endParaRPr lang="en-US" sz="1400" dirty="0"/>
          </a:p>
        </p:txBody>
      </p:sp>
      <p:sp>
        <p:nvSpPr>
          <p:cNvPr id="16" name="Row label Backend"/>
          <p:cNvSpPr/>
          <p:nvPr/>
        </p:nvSpPr>
        <p:spPr>
          <a:xfrm>
            <a:off x="548640" y="2606040"/>
            <a:ext cx="2194560" cy="1051560"/>
          </a:xfrm>
          <a:prstGeom prst="roundRect">
            <a:avLst>
              <a:gd name="adj" fmla="val 10435"/>
            </a:avLst>
          </a:prstGeom>
          <a:solidFill>
            <a:schemeClr val="accent1"/>
          </a:solidFill>
          <a:ln/>
        </p:spPr>
      </p:sp>
      <p:sp>
        <p:nvSpPr>
          <p:cNvPr id="17" name="Icon circle FaServer"/>
          <p:cNvSpPr/>
          <p:nvPr/>
        </p:nvSpPr>
        <p:spPr>
          <a:xfrm>
            <a:off x="713232" y="2907792"/>
            <a:ext cx="457200" cy="457200"/>
          </a:xfrm>
          <a:prstGeom prst="ellipse">
            <a:avLst/>
          </a:prstGeom>
          <a:solidFill>
            <a:schemeClr val="bg1"/>
          </a:solidFill>
          <a:ln/>
        </p:spPr>
      </p:sp>
      <p:pic>
        <p:nvPicPr>
          <p:cNvPr id="18" name="Image 1" descr="Server icon">    </p:cNvPr>
          <p:cNvPicPr>
            <a:picLocks noChangeAspect="1"/>
          </p:cNvPicPr>
          <p:nvPr/>
        </p:nvPicPr>
        <p:blipFill>
          <a:blip r:embed="rId2"/>
          <a:stretch>
            <a:fillRect/>
          </a:stretch>
        </p:blipFill>
        <p:spPr>
          <a:xfrm>
            <a:off x="832104" y="3026664"/>
            <a:ext cx="219456" cy="219456"/>
          </a:xfrm>
          <a:prstGeom prst="rect">
            <a:avLst/>
          </a:prstGeom>
        </p:spPr>
      </p:pic>
      <p:sp>
        <p:nvSpPr>
          <p:cNvPr id="19" name="Text 15"/>
          <p:cNvSpPr txBox="1"/>
          <p:nvPr/>
        </p:nvSpPr>
        <p:spPr>
          <a:xfrm>
            <a:off x="1298448" y="2606040"/>
            <a:ext cx="1371600" cy="1051560"/>
          </a:xfrm>
          <a:prstGeom prst="rect">
            <a:avLst/>
          </a:prstGeom>
          <a:noFill/>
          <a:ln/>
        </p:spPr>
        <p:txBody>
          <a:bodyPr wrap="square" lIns="0" tIns="0" rIns="0" bIns="0" rtlCol="0" anchor="ctr"/>
          <a:lstStyle/>
          <a:p>
            <a:pPr indent="0" marL="0">
              <a:buNone/>
            </a:pPr>
            <a:r>
              <a:rPr lang="en-US" sz="1700" b="1" dirty="0">
                <a:solidFill>
                  <a:schemeClr val="bg1"/>
                </a:solidFill>
              </a:rPr>
              <a:t>Backend</a:t>
            </a:r>
            <a:endParaRPr lang="en-US" sz="1700" dirty="0"/>
          </a:p>
        </p:txBody>
      </p:sp>
      <p:sp>
        <p:nvSpPr>
          <p:cNvPr id="20" name="Tech Python"/>
          <p:cNvSpPr/>
          <p:nvPr/>
        </p:nvSpPr>
        <p:spPr>
          <a:xfrm>
            <a:off x="2926080" y="260604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21" name="Text 17"/>
          <p:cNvSpPr txBox="1"/>
          <p:nvPr/>
        </p:nvSpPr>
        <p:spPr>
          <a:xfrm>
            <a:off x="3063240" y="2807208"/>
            <a:ext cx="1783080" cy="320040"/>
          </a:xfrm>
          <a:prstGeom prst="rect">
            <a:avLst/>
          </a:prstGeom>
          <a:noFill/>
          <a:ln/>
        </p:spPr>
        <p:txBody>
          <a:bodyPr wrap="square" lIns="0" tIns="0" rIns="0" bIns="0" rtlCol="0" anchor="t"/>
          <a:lstStyle/>
          <a:p>
            <a:pPr indent="0" marL="0">
              <a:buNone/>
            </a:pPr>
            <a:r>
              <a:rPr lang="en-US" sz="1600" b="1" dirty="0">
                <a:solidFill>
                  <a:schemeClr val="tx2"/>
                </a:solidFill>
              </a:rPr>
              <a:t>Python</a:t>
            </a:r>
            <a:endParaRPr lang="en-US" sz="1600" dirty="0"/>
          </a:p>
        </p:txBody>
      </p:sp>
      <p:sp>
        <p:nvSpPr>
          <p:cNvPr id="22" name="Text 18"/>
          <p:cNvSpPr txBox="1"/>
          <p:nvPr/>
        </p:nvSpPr>
        <p:spPr>
          <a:xfrm>
            <a:off x="3063240" y="317296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Core language</a:t>
            </a:r>
            <a:endParaRPr lang="en-US" sz="1400" dirty="0"/>
          </a:p>
        </p:txBody>
      </p:sp>
      <p:sp>
        <p:nvSpPr>
          <p:cNvPr id="23" name="Tech FastAPI"/>
          <p:cNvSpPr/>
          <p:nvPr/>
        </p:nvSpPr>
        <p:spPr>
          <a:xfrm>
            <a:off x="5138928" y="260604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24" name="Text 20"/>
          <p:cNvSpPr txBox="1"/>
          <p:nvPr/>
        </p:nvSpPr>
        <p:spPr>
          <a:xfrm>
            <a:off x="5276088" y="2807208"/>
            <a:ext cx="1783080" cy="320040"/>
          </a:xfrm>
          <a:prstGeom prst="rect">
            <a:avLst/>
          </a:prstGeom>
          <a:noFill/>
          <a:ln/>
        </p:spPr>
        <p:txBody>
          <a:bodyPr wrap="square" lIns="0" tIns="0" rIns="0" bIns="0" rtlCol="0" anchor="t"/>
          <a:lstStyle/>
          <a:p>
            <a:pPr indent="0" marL="0">
              <a:buNone/>
            </a:pPr>
            <a:r>
              <a:rPr lang="en-US" sz="1600" b="1" dirty="0">
                <a:solidFill>
                  <a:schemeClr val="tx2"/>
                </a:solidFill>
              </a:rPr>
              <a:t>FastAPI</a:t>
            </a:r>
            <a:endParaRPr lang="en-US" sz="1600" dirty="0"/>
          </a:p>
        </p:txBody>
      </p:sp>
      <p:sp>
        <p:nvSpPr>
          <p:cNvPr id="25" name="Text 21"/>
          <p:cNvSpPr txBox="1"/>
          <p:nvPr/>
        </p:nvSpPr>
        <p:spPr>
          <a:xfrm>
            <a:off x="5276088" y="317296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Routes and forms</a:t>
            </a:r>
            <a:endParaRPr lang="en-US" sz="1400" dirty="0"/>
          </a:p>
        </p:txBody>
      </p:sp>
      <p:sp>
        <p:nvSpPr>
          <p:cNvPr id="26" name="Tech Jinja2"/>
          <p:cNvSpPr/>
          <p:nvPr/>
        </p:nvSpPr>
        <p:spPr>
          <a:xfrm>
            <a:off x="7351776" y="260604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27" name="Text 23"/>
          <p:cNvSpPr txBox="1"/>
          <p:nvPr/>
        </p:nvSpPr>
        <p:spPr>
          <a:xfrm>
            <a:off x="7488936" y="2807208"/>
            <a:ext cx="1783080" cy="320040"/>
          </a:xfrm>
          <a:prstGeom prst="rect">
            <a:avLst/>
          </a:prstGeom>
          <a:noFill/>
          <a:ln/>
        </p:spPr>
        <p:txBody>
          <a:bodyPr wrap="square" lIns="0" tIns="0" rIns="0" bIns="0" rtlCol="0" anchor="t"/>
          <a:lstStyle/>
          <a:p>
            <a:pPr indent="0" marL="0">
              <a:buNone/>
            </a:pPr>
            <a:r>
              <a:rPr lang="en-US" sz="1600" b="1" dirty="0">
                <a:solidFill>
                  <a:schemeClr val="tx2"/>
                </a:solidFill>
              </a:rPr>
              <a:t>Jinja2</a:t>
            </a:r>
            <a:endParaRPr lang="en-US" sz="1600" dirty="0"/>
          </a:p>
        </p:txBody>
      </p:sp>
      <p:sp>
        <p:nvSpPr>
          <p:cNvPr id="28" name="Text 24"/>
          <p:cNvSpPr txBox="1"/>
          <p:nvPr/>
        </p:nvSpPr>
        <p:spPr>
          <a:xfrm>
            <a:off x="7488936" y="317296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Server-side pages</a:t>
            </a:r>
            <a:endParaRPr lang="en-US" sz="1400" dirty="0"/>
          </a:p>
        </p:txBody>
      </p:sp>
      <p:sp>
        <p:nvSpPr>
          <p:cNvPr id="29" name="Tech Uvicorn"/>
          <p:cNvSpPr/>
          <p:nvPr/>
        </p:nvSpPr>
        <p:spPr>
          <a:xfrm>
            <a:off x="9564624" y="260604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30" name="Text 26"/>
          <p:cNvSpPr txBox="1"/>
          <p:nvPr/>
        </p:nvSpPr>
        <p:spPr>
          <a:xfrm>
            <a:off x="9701784" y="2807208"/>
            <a:ext cx="1783080" cy="320040"/>
          </a:xfrm>
          <a:prstGeom prst="rect">
            <a:avLst/>
          </a:prstGeom>
          <a:noFill/>
          <a:ln/>
        </p:spPr>
        <p:txBody>
          <a:bodyPr wrap="square" lIns="0" tIns="0" rIns="0" bIns="0" rtlCol="0" anchor="t"/>
          <a:lstStyle/>
          <a:p>
            <a:pPr indent="0" marL="0">
              <a:buNone/>
            </a:pPr>
            <a:r>
              <a:rPr lang="en-US" sz="1600" b="1" dirty="0">
                <a:solidFill>
                  <a:schemeClr val="tx2"/>
                </a:solidFill>
              </a:rPr>
              <a:t>Uvicorn</a:t>
            </a:r>
            <a:endParaRPr lang="en-US" sz="1600" dirty="0"/>
          </a:p>
        </p:txBody>
      </p:sp>
      <p:sp>
        <p:nvSpPr>
          <p:cNvPr id="31" name="Text 27"/>
          <p:cNvSpPr txBox="1"/>
          <p:nvPr/>
        </p:nvSpPr>
        <p:spPr>
          <a:xfrm>
            <a:off x="9701784" y="317296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ASGI server</a:t>
            </a:r>
            <a:endParaRPr lang="en-US" sz="1400" dirty="0"/>
          </a:p>
        </p:txBody>
      </p:sp>
      <p:sp>
        <p:nvSpPr>
          <p:cNvPr id="32" name="Row label Database"/>
          <p:cNvSpPr/>
          <p:nvPr/>
        </p:nvSpPr>
        <p:spPr>
          <a:xfrm>
            <a:off x="548640" y="3794760"/>
            <a:ext cx="2194560" cy="1051560"/>
          </a:xfrm>
          <a:prstGeom prst="roundRect">
            <a:avLst>
              <a:gd name="adj" fmla="val 10435"/>
            </a:avLst>
          </a:prstGeom>
          <a:solidFill>
            <a:schemeClr val="accent1"/>
          </a:solidFill>
          <a:ln/>
        </p:spPr>
      </p:sp>
      <p:sp>
        <p:nvSpPr>
          <p:cNvPr id="33" name="Icon circle FaDatabase"/>
          <p:cNvSpPr/>
          <p:nvPr/>
        </p:nvSpPr>
        <p:spPr>
          <a:xfrm>
            <a:off x="713232" y="4096512"/>
            <a:ext cx="457200" cy="457200"/>
          </a:xfrm>
          <a:prstGeom prst="ellipse">
            <a:avLst/>
          </a:prstGeom>
          <a:solidFill>
            <a:schemeClr val="bg1"/>
          </a:solidFill>
          <a:ln/>
        </p:spPr>
      </p:sp>
      <p:pic>
        <p:nvPicPr>
          <p:cNvPr id="34" name="Image 2" descr="Database icon">    </p:cNvPr>
          <p:cNvPicPr>
            <a:picLocks noChangeAspect="1"/>
          </p:cNvPicPr>
          <p:nvPr/>
        </p:nvPicPr>
        <p:blipFill>
          <a:blip r:embed="rId3"/>
          <a:stretch>
            <a:fillRect/>
          </a:stretch>
        </p:blipFill>
        <p:spPr>
          <a:xfrm>
            <a:off x="832104" y="4215384"/>
            <a:ext cx="219456" cy="219456"/>
          </a:xfrm>
          <a:prstGeom prst="rect">
            <a:avLst/>
          </a:prstGeom>
        </p:spPr>
      </p:pic>
      <p:sp>
        <p:nvSpPr>
          <p:cNvPr id="35" name="Text 30"/>
          <p:cNvSpPr txBox="1"/>
          <p:nvPr/>
        </p:nvSpPr>
        <p:spPr>
          <a:xfrm>
            <a:off x="1298448" y="3794760"/>
            <a:ext cx="1371600" cy="1051560"/>
          </a:xfrm>
          <a:prstGeom prst="rect">
            <a:avLst/>
          </a:prstGeom>
          <a:noFill/>
          <a:ln/>
        </p:spPr>
        <p:txBody>
          <a:bodyPr wrap="square" lIns="0" tIns="0" rIns="0" bIns="0" rtlCol="0" anchor="ctr"/>
          <a:lstStyle/>
          <a:p>
            <a:pPr indent="0" marL="0">
              <a:buNone/>
            </a:pPr>
            <a:r>
              <a:rPr lang="en-US" sz="1700" b="1" dirty="0">
                <a:solidFill>
                  <a:schemeClr val="bg1"/>
                </a:solidFill>
              </a:rPr>
              <a:t>Database</a:t>
            </a:r>
            <a:endParaRPr lang="en-US" sz="1700" dirty="0"/>
          </a:p>
        </p:txBody>
      </p:sp>
      <p:sp>
        <p:nvSpPr>
          <p:cNvPr id="36" name="Tech MySQL"/>
          <p:cNvSpPr/>
          <p:nvPr/>
        </p:nvSpPr>
        <p:spPr>
          <a:xfrm>
            <a:off x="2926080" y="379476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37" name="Text 32"/>
          <p:cNvSpPr txBox="1"/>
          <p:nvPr/>
        </p:nvSpPr>
        <p:spPr>
          <a:xfrm>
            <a:off x="3063240" y="39959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MySQL</a:t>
            </a:r>
            <a:endParaRPr lang="en-US" sz="1600" dirty="0"/>
          </a:p>
        </p:txBody>
      </p:sp>
      <p:sp>
        <p:nvSpPr>
          <p:cNvPr id="38" name="Text 33"/>
          <p:cNvSpPr txBox="1"/>
          <p:nvPr/>
        </p:nvSpPr>
        <p:spPr>
          <a:xfrm>
            <a:off x="3063240" y="436168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Relational storage</a:t>
            </a:r>
            <a:endParaRPr lang="en-US" sz="1400" dirty="0"/>
          </a:p>
        </p:txBody>
      </p:sp>
      <p:sp>
        <p:nvSpPr>
          <p:cNvPr id="39" name="Tech MySQL Connector"/>
          <p:cNvSpPr/>
          <p:nvPr/>
        </p:nvSpPr>
        <p:spPr>
          <a:xfrm>
            <a:off x="5138928" y="379476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40" name="Text 35"/>
          <p:cNvSpPr txBox="1"/>
          <p:nvPr/>
        </p:nvSpPr>
        <p:spPr>
          <a:xfrm>
            <a:off x="5276088" y="39959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MySQL Connector</a:t>
            </a:r>
            <a:endParaRPr lang="en-US" sz="1600" dirty="0"/>
          </a:p>
        </p:txBody>
      </p:sp>
      <p:sp>
        <p:nvSpPr>
          <p:cNvPr id="41" name="Text 36"/>
          <p:cNvSpPr txBox="1"/>
          <p:nvPr/>
        </p:nvSpPr>
        <p:spPr>
          <a:xfrm>
            <a:off x="5276088" y="436168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Python DB driver</a:t>
            </a:r>
            <a:endParaRPr lang="en-US" sz="1400" dirty="0"/>
          </a:p>
        </p:txBody>
      </p:sp>
      <p:sp>
        <p:nvSpPr>
          <p:cNvPr id="42" name="Tech Pydantic"/>
          <p:cNvSpPr/>
          <p:nvPr/>
        </p:nvSpPr>
        <p:spPr>
          <a:xfrm>
            <a:off x="7351776" y="379476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43" name="Text 38"/>
          <p:cNvSpPr txBox="1"/>
          <p:nvPr/>
        </p:nvSpPr>
        <p:spPr>
          <a:xfrm>
            <a:off x="7488936" y="3995928"/>
            <a:ext cx="1783080" cy="320040"/>
          </a:xfrm>
          <a:prstGeom prst="rect">
            <a:avLst/>
          </a:prstGeom>
          <a:noFill/>
          <a:ln/>
        </p:spPr>
        <p:txBody>
          <a:bodyPr wrap="square" lIns="0" tIns="0" rIns="0" bIns="0" rtlCol="0" anchor="t"/>
          <a:lstStyle/>
          <a:p>
            <a:pPr indent="0" marL="0">
              <a:buNone/>
            </a:pPr>
            <a:r>
              <a:rPr lang="en-US" sz="1600" b="1" dirty="0">
                <a:solidFill>
                  <a:schemeClr val="tx2"/>
                </a:solidFill>
              </a:rPr>
              <a:t>Pydantic</a:t>
            </a:r>
            <a:endParaRPr lang="en-US" sz="1600" dirty="0"/>
          </a:p>
        </p:txBody>
      </p:sp>
      <p:sp>
        <p:nvSpPr>
          <p:cNvPr id="44" name="Text 39"/>
          <p:cNvSpPr txBox="1"/>
          <p:nvPr/>
        </p:nvSpPr>
        <p:spPr>
          <a:xfrm>
            <a:off x="7488936" y="436168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Data model</a:t>
            </a:r>
            <a:endParaRPr lang="en-US" sz="1400" dirty="0"/>
          </a:p>
        </p:txBody>
      </p:sp>
      <p:sp>
        <p:nvSpPr>
          <p:cNvPr id="45" name="Row label Tools"/>
          <p:cNvSpPr/>
          <p:nvPr/>
        </p:nvSpPr>
        <p:spPr>
          <a:xfrm>
            <a:off x="548640" y="4983480"/>
            <a:ext cx="2194560" cy="1051560"/>
          </a:xfrm>
          <a:prstGeom prst="roundRect">
            <a:avLst>
              <a:gd name="adj" fmla="val 10435"/>
            </a:avLst>
          </a:prstGeom>
          <a:solidFill>
            <a:schemeClr val="accent1"/>
          </a:solidFill>
          <a:ln/>
        </p:spPr>
      </p:sp>
      <p:sp>
        <p:nvSpPr>
          <p:cNvPr id="46" name="Icon circle FaTools"/>
          <p:cNvSpPr/>
          <p:nvPr/>
        </p:nvSpPr>
        <p:spPr>
          <a:xfrm>
            <a:off x="713232" y="5285232"/>
            <a:ext cx="457200" cy="457200"/>
          </a:xfrm>
          <a:prstGeom prst="ellipse">
            <a:avLst/>
          </a:prstGeom>
          <a:solidFill>
            <a:schemeClr val="bg1"/>
          </a:solidFill>
          <a:ln/>
        </p:spPr>
      </p:sp>
      <p:pic>
        <p:nvPicPr>
          <p:cNvPr id="47" name="Image 3" descr="Tools icon">    </p:cNvPr>
          <p:cNvPicPr>
            <a:picLocks noChangeAspect="1"/>
          </p:cNvPicPr>
          <p:nvPr/>
        </p:nvPicPr>
        <p:blipFill>
          <a:blip r:embed="rId4"/>
          <a:stretch>
            <a:fillRect/>
          </a:stretch>
        </p:blipFill>
        <p:spPr>
          <a:xfrm>
            <a:off x="832104" y="5404104"/>
            <a:ext cx="219456" cy="219456"/>
          </a:xfrm>
          <a:prstGeom prst="rect">
            <a:avLst/>
          </a:prstGeom>
        </p:spPr>
      </p:pic>
      <p:sp>
        <p:nvSpPr>
          <p:cNvPr id="48" name="Text 42"/>
          <p:cNvSpPr txBox="1"/>
          <p:nvPr/>
        </p:nvSpPr>
        <p:spPr>
          <a:xfrm>
            <a:off x="1298448" y="4983480"/>
            <a:ext cx="1371600" cy="1051560"/>
          </a:xfrm>
          <a:prstGeom prst="rect">
            <a:avLst/>
          </a:prstGeom>
          <a:noFill/>
          <a:ln/>
        </p:spPr>
        <p:txBody>
          <a:bodyPr wrap="square" lIns="0" tIns="0" rIns="0" bIns="0" rtlCol="0" anchor="ctr"/>
          <a:lstStyle/>
          <a:p>
            <a:pPr indent="0" marL="0">
              <a:buNone/>
            </a:pPr>
            <a:r>
              <a:rPr lang="en-US" sz="1700" b="1" dirty="0">
                <a:solidFill>
                  <a:schemeClr val="bg1"/>
                </a:solidFill>
              </a:rPr>
              <a:t>Tools</a:t>
            </a:r>
            <a:endParaRPr lang="en-US" sz="1700" dirty="0"/>
          </a:p>
        </p:txBody>
      </p:sp>
      <p:sp>
        <p:nvSpPr>
          <p:cNvPr id="49" name="Tech VS Code"/>
          <p:cNvSpPr/>
          <p:nvPr/>
        </p:nvSpPr>
        <p:spPr>
          <a:xfrm>
            <a:off x="2926080" y="498348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50" name="Text 44"/>
          <p:cNvSpPr txBox="1"/>
          <p:nvPr/>
        </p:nvSpPr>
        <p:spPr>
          <a:xfrm>
            <a:off x="3063240" y="5184648"/>
            <a:ext cx="1783080" cy="320040"/>
          </a:xfrm>
          <a:prstGeom prst="rect">
            <a:avLst/>
          </a:prstGeom>
          <a:noFill/>
          <a:ln/>
        </p:spPr>
        <p:txBody>
          <a:bodyPr wrap="square" lIns="0" tIns="0" rIns="0" bIns="0" rtlCol="0" anchor="t"/>
          <a:lstStyle/>
          <a:p>
            <a:pPr indent="0" marL="0">
              <a:buNone/>
            </a:pPr>
            <a:r>
              <a:rPr lang="en-US" sz="1600" b="1" dirty="0">
                <a:solidFill>
                  <a:schemeClr val="tx2"/>
                </a:solidFill>
              </a:rPr>
              <a:t>VS Code</a:t>
            </a:r>
            <a:endParaRPr lang="en-US" sz="1600" dirty="0"/>
          </a:p>
        </p:txBody>
      </p:sp>
      <p:sp>
        <p:nvSpPr>
          <p:cNvPr id="51" name="Text 45"/>
          <p:cNvSpPr txBox="1"/>
          <p:nvPr/>
        </p:nvSpPr>
        <p:spPr>
          <a:xfrm>
            <a:off x="3063240" y="555040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Development IDE</a:t>
            </a:r>
            <a:endParaRPr lang="en-US" sz="1400" dirty="0"/>
          </a:p>
        </p:txBody>
      </p:sp>
      <p:sp>
        <p:nvSpPr>
          <p:cNvPr id="52" name="Tech MySQL Workbench"/>
          <p:cNvSpPr/>
          <p:nvPr/>
        </p:nvSpPr>
        <p:spPr>
          <a:xfrm>
            <a:off x="5138928" y="498348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53" name="Text 47"/>
          <p:cNvSpPr txBox="1"/>
          <p:nvPr/>
        </p:nvSpPr>
        <p:spPr>
          <a:xfrm>
            <a:off x="5276088" y="5184648"/>
            <a:ext cx="1783080" cy="320040"/>
          </a:xfrm>
          <a:prstGeom prst="rect">
            <a:avLst/>
          </a:prstGeom>
          <a:noFill/>
          <a:ln/>
        </p:spPr>
        <p:txBody>
          <a:bodyPr wrap="square" lIns="0" tIns="0" rIns="0" bIns="0" rtlCol="0" anchor="t"/>
          <a:lstStyle/>
          <a:p>
            <a:pPr indent="0" marL="0">
              <a:buNone/>
            </a:pPr>
            <a:r>
              <a:rPr lang="en-US" sz="1600" b="1" dirty="0">
                <a:solidFill>
                  <a:schemeClr val="tx2"/>
                </a:solidFill>
              </a:rPr>
              <a:t>MySQL Workbench</a:t>
            </a:r>
            <a:endParaRPr lang="en-US" sz="1600" dirty="0"/>
          </a:p>
        </p:txBody>
      </p:sp>
      <p:sp>
        <p:nvSpPr>
          <p:cNvPr id="54" name="Text 48"/>
          <p:cNvSpPr txBox="1"/>
          <p:nvPr/>
        </p:nvSpPr>
        <p:spPr>
          <a:xfrm>
            <a:off x="5276088" y="555040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Verify records</a:t>
            </a:r>
            <a:endParaRPr lang="en-US" sz="1400" dirty="0"/>
          </a:p>
        </p:txBody>
      </p:sp>
      <p:sp>
        <p:nvSpPr>
          <p:cNvPr id="55" name="Tech Virtual env"/>
          <p:cNvSpPr/>
          <p:nvPr/>
        </p:nvSpPr>
        <p:spPr>
          <a:xfrm>
            <a:off x="7351776" y="4983480"/>
            <a:ext cx="2057400" cy="1051560"/>
          </a:xfrm>
          <a:prstGeom prst="roundRect">
            <a:avLst>
              <a:gd name="adj" fmla="val 10435"/>
            </a:avLst>
          </a:prstGeom>
          <a:solidFill>
            <a:schemeClr val="bg2"/>
          </a:solidFill>
          <a:ln/>
          <a:effectLst>
            <a:outerShdw sx="100000" sy="100000" kx="0" ky="0" algn="bl" rotWithShape="0" blurRad="101600" dist="25400" dir="5400000">
              <a:srgbClr val="000000">
                <a:alpha val="12000"/>
              </a:srgbClr>
            </a:outerShdw>
          </a:effectLst>
        </p:spPr>
      </p:sp>
      <p:sp>
        <p:nvSpPr>
          <p:cNvPr id="56" name="Text 50"/>
          <p:cNvSpPr txBox="1"/>
          <p:nvPr/>
        </p:nvSpPr>
        <p:spPr>
          <a:xfrm>
            <a:off x="7488936" y="5184648"/>
            <a:ext cx="1783080" cy="320040"/>
          </a:xfrm>
          <a:prstGeom prst="rect">
            <a:avLst/>
          </a:prstGeom>
          <a:noFill/>
          <a:ln/>
        </p:spPr>
        <p:txBody>
          <a:bodyPr wrap="square" lIns="0" tIns="0" rIns="0" bIns="0" rtlCol="0" anchor="t"/>
          <a:lstStyle/>
          <a:p>
            <a:pPr indent="0" marL="0">
              <a:buNone/>
            </a:pPr>
            <a:r>
              <a:rPr lang="en-US" sz="1600" b="1" dirty="0">
                <a:solidFill>
                  <a:schemeClr val="tx2"/>
                </a:solidFill>
              </a:rPr>
              <a:t>Virtual env</a:t>
            </a:r>
            <a:endParaRPr lang="en-US" sz="1600" dirty="0"/>
          </a:p>
        </p:txBody>
      </p:sp>
      <p:sp>
        <p:nvSpPr>
          <p:cNvPr id="57" name="Text 51"/>
          <p:cNvSpPr txBox="1"/>
          <p:nvPr/>
        </p:nvSpPr>
        <p:spPr>
          <a:xfrm>
            <a:off x="7488936" y="5550408"/>
            <a:ext cx="1783080" cy="320040"/>
          </a:xfrm>
          <a:prstGeom prst="rect">
            <a:avLst/>
          </a:prstGeom>
          <a:noFill/>
          <a:ln/>
        </p:spPr>
        <p:txBody>
          <a:bodyPr wrap="square" lIns="0" tIns="0" rIns="0" bIns="0" rtlCol="0" anchor="t"/>
          <a:lstStyle/>
          <a:p>
            <a:pPr indent="0" marL="0">
              <a:buNone/>
            </a:pPr>
            <a:r>
              <a:rPr lang="en-US" sz="1400" dirty="0">
                <a:solidFill>
                  <a:schemeClr val="accent4"/>
                </a:solidFill>
              </a:rPr>
              <a:t>Isolated setup</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Three-Tier Architecture</a:t>
            </a:r>
            <a:endParaRPr lang="en-US" sz="3400" dirty="0"/>
          </a:p>
        </p:txBody>
      </p:sp>
      <p:sp>
        <p:nvSpPr>
          <p:cNvPr id="3" name="Tier Presentation Layer"/>
          <p:cNvSpPr/>
          <p:nvPr/>
        </p:nvSpPr>
        <p:spPr>
          <a:xfrm>
            <a:off x="548640" y="1417320"/>
            <a:ext cx="3108960" cy="3108960"/>
          </a:xfrm>
          <a:prstGeom prst="roundRect">
            <a:avLst>
              <a:gd name="adj" fmla="val 3529"/>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FaDesktop"/>
          <p:cNvSpPr/>
          <p:nvPr/>
        </p:nvSpPr>
        <p:spPr>
          <a:xfrm>
            <a:off x="822960" y="1645920"/>
            <a:ext cx="640080" cy="640080"/>
          </a:xfrm>
          <a:prstGeom prst="ellipse">
            <a:avLst/>
          </a:prstGeom>
          <a:solidFill>
            <a:schemeClr val="accent1"/>
          </a:solidFill>
          <a:ln/>
        </p:spPr>
      </p:sp>
      <p:pic>
        <p:nvPicPr>
          <p:cNvPr id="5" name="Image 0" descr="Desktop icon">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822960" y="2423160"/>
            <a:ext cx="2651760" cy="320040"/>
          </a:xfrm>
          <a:prstGeom prst="rect">
            <a:avLst/>
          </a:prstGeom>
          <a:noFill/>
          <a:ln/>
        </p:spPr>
        <p:txBody>
          <a:bodyPr wrap="square" lIns="0" tIns="0" rIns="0" bIns="0" rtlCol="0" anchor="t"/>
          <a:lstStyle/>
          <a:p>
            <a:pPr indent="0" marL="0">
              <a:buNone/>
            </a:pPr>
            <a:r>
              <a:rPr lang="en-US" sz="2000" b="1" dirty="0">
                <a:solidFill>
                  <a:schemeClr val="tx2"/>
                </a:solidFill>
              </a:rPr>
              <a:t>Presentation Layer</a:t>
            </a:r>
            <a:endParaRPr lang="en-US" sz="2000" dirty="0"/>
          </a:p>
        </p:txBody>
      </p:sp>
      <p:sp>
        <p:nvSpPr>
          <p:cNvPr id="7" name="Text 4"/>
          <p:cNvSpPr txBox="1"/>
          <p:nvPr/>
        </p:nvSpPr>
        <p:spPr>
          <a:xfrm>
            <a:off x="822960" y="2788920"/>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Browser</a:t>
            </a:r>
            <a:endParaRPr lang="en-US" sz="1400" dirty="0"/>
          </a:p>
        </p:txBody>
      </p:sp>
      <p:sp>
        <p:nvSpPr>
          <p:cNvPr id="8" name="Text 5"/>
          <p:cNvSpPr txBox="1"/>
          <p:nvPr/>
        </p:nvSpPr>
        <p:spPr>
          <a:xfrm>
            <a:off x="822960" y="3200400"/>
            <a:ext cx="2651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HTML5 templates</a:t>
            </a:r>
            <a:endParaRPr lang="en-US" sz="1400" dirty="0"/>
          </a:p>
          <a:p>
            <a:pPr marL="342900" indent="-342900">
              <a:spcAft>
                <a:spcPts val="500"/>
              </a:spcAft>
              <a:buSzPct val="100000"/>
              <a:buChar char="•"/>
            </a:pPr>
            <a:r>
              <a:rPr lang="en-US" sz="1400" dirty="0">
                <a:solidFill>
                  <a:schemeClr val="tx1"/>
                </a:solidFill>
              </a:rPr>
              <a:t>CSS3 dark gradient theme</a:t>
            </a:r>
            <a:endParaRPr lang="en-US" sz="1400" dirty="0"/>
          </a:p>
          <a:p>
            <a:pPr marL="342900" indent="-342900">
              <a:spcAft>
                <a:spcPts val="500"/>
              </a:spcAft>
              <a:buSzPct val="100000"/>
              <a:buChar char="•"/>
            </a:pPr>
            <a:r>
              <a:rPr lang="en-US" sz="1400" dirty="0">
                <a:solidFill>
                  <a:schemeClr val="tx1"/>
                </a:solidFill>
              </a:rPr>
              <a:t>JavaScript for footer year</a:t>
            </a:r>
            <a:endParaRPr lang="en-US" sz="1400" dirty="0"/>
          </a:p>
        </p:txBody>
      </p:sp>
      <p:sp>
        <p:nvSpPr>
          <p:cNvPr id="9" name="Tier Business Logic Layer"/>
          <p:cNvSpPr/>
          <p:nvPr/>
        </p:nvSpPr>
        <p:spPr>
          <a:xfrm>
            <a:off x="4526280" y="1417320"/>
            <a:ext cx="3108960" cy="3108960"/>
          </a:xfrm>
          <a:prstGeom prst="roundRect">
            <a:avLst>
              <a:gd name="adj" fmla="val 3529"/>
            </a:avLst>
          </a:prstGeom>
          <a:solidFill>
            <a:schemeClr val="bg2"/>
          </a:solidFill>
          <a:ln/>
          <a:effectLst>
            <a:outerShdw sx="100000" sy="100000" kx="0" ky="0" algn="bl" rotWithShape="0" blurRad="101600" dist="25400" dir="5400000">
              <a:srgbClr val="000000">
                <a:alpha val="12000"/>
              </a:srgbClr>
            </a:outerShdw>
          </a:effectLst>
        </p:spPr>
      </p:sp>
      <p:sp>
        <p:nvSpPr>
          <p:cNvPr id="10" name="Icon circle FaCogs"/>
          <p:cNvSpPr/>
          <p:nvPr/>
        </p:nvSpPr>
        <p:spPr>
          <a:xfrm>
            <a:off x="4800600" y="1645920"/>
            <a:ext cx="640080" cy="640080"/>
          </a:xfrm>
          <a:prstGeom prst="ellipse">
            <a:avLst/>
          </a:prstGeom>
          <a:solidFill>
            <a:schemeClr val="accent1"/>
          </a:solidFill>
          <a:ln/>
        </p:spPr>
      </p:sp>
      <p:pic>
        <p:nvPicPr>
          <p:cNvPr id="11" name="Image 1" descr="Cogs icon">    </p:cNvPr>
          <p:cNvPicPr>
            <a:picLocks noChangeAspect="1"/>
          </p:cNvPicPr>
          <p:nvPr/>
        </p:nvPicPr>
        <p:blipFill>
          <a:blip r:embed="rId2"/>
          <a:stretch>
            <a:fillRect/>
          </a:stretch>
        </p:blipFill>
        <p:spPr>
          <a:xfrm>
            <a:off x="4967021" y="1812341"/>
            <a:ext cx="307238" cy="307238"/>
          </a:xfrm>
          <a:prstGeom prst="rect">
            <a:avLst/>
          </a:prstGeom>
        </p:spPr>
      </p:pic>
      <p:sp>
        <p:nvSpPr>
          <p:cNvPr id="12" name="Text 8"/>
          <p:cNvSpPr txBox="1"/>
          <p:nvPr/>
        </p:nvSpPr>
        <p:spPr>
          <a:xfrm>
            <a:off x="4800600" y="2423160"/>
            <a:ext cx="2651760" cy="320040"/>
          </a:xfrm>
          <a:prstGeom prst="rect">
            <a:avLst/>
          </a:prstGeom>
          <a:noFill/>
          <a:ln/>
        </p:spPr>
        <p:txBody>
          <a:bodyPr wrap="square" lIns="0" tIns="0" rIns="0" bIns="0" rtlCol="0" anchor="t"/>
          <a:lstStyle/>
          <a:p>
            <a:pPr indent="0" marL="0">
              <a:buNone/>
            </a:pPr>
            <a:r>
              <a:rPr lang="en-US" sz="2000" b="1" dirty="0">
                <a:solidFill>
                  <a:schemeClr val="tx2"/>
                </a:solidFill>
              </a:rPr>
              <a:t>Business Logic Layer</a:t>
            </a:r>
            <a:endParaRPr lang="en-US" sz="2000" dirty="0"/>
          </a:p>
        </p:txBody>
      </p:sp>
      <p:sp>
        <p:nvSpPr>
          <p:cNvPr id="13" name="Text 9"/>
          <p:cNvSpPr txBox="1"/>
          <p:nvPr/>
        </p:nvSpPr>
        <p:spPr>
          <a:xfrm>
            <a:off x="4800600" y="2788920"/>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FastAPI + Jinja2</a:t>
            </a:r>
            <a:endParaRPr lang="en-US" sz="1400" dirty="0"/>
          </a:p>
        </p:txBody>
      </p:sp>
      <p:sp>
        <p:nvSpPr>
          <p:cNvPr id="14" name="Text 10"/>
          <p:cNvSpPr txBox="1"/>
          <p:nvPr/>
        </p:nvSpPr>
        <p:spPr>
          <a:xfrm>
            <a:off x="4800600" y="3200400"/>
            <a:ext cx="2651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Routing and form processing</a:t>
            </a:r>
            <a:endParaRPr lang="en-US" sz="1400" dirty="0"/>
          </a:p>
          <a:p>
            <a:pPr marL="342900" indent="-342900">
              <a:spcAft>
                <a:spcPts val="500"/>
              </a:spcAft>
              <a:buSzPct val="100000"/>
              <a:buChar char="•"/>
            </a:pPr>
            <a:r>
              <a:rPr lang="en-US" sz="1400" dirty="0">
                <a:solidFill>
                  <a:schemeClr val="tx1"/>
                </a:solidFill>
              </a:rPr>
              <a:t>Input validation</a:t>
            </a:r>
            <a:endParaRPr lang="en-US" sz="1400" dirty="0"/>
          </a:p>
          <a:p>
            <a:pPr marL="342900" indent="-342900">
              <a:spcAft>
                <a:spcPts val="500"/>
              </a:spcAft>
              <a:buSzPct val="100000"/>
              <a:buChar char="•"/>
            </a:pPr>
            <a:r>
              <a:rPr lang="en-US" sz="1400" dirty="0">
                <a:solidFill>
                  <a:schemeClr val="tx1"/>
                </a:solidFill>
              </a:rPr>
              <a:t>Template rendering</a:t>
            </a:r>
            <a:endParaRPr lang="en-US" sz="1400" dirty="0"/>
          </a:p>
        </p:txBody>
      </p:sp>
      <p:sp>
        <p:nvSpPr>
          <p:cNvPr id="15" name="Tier Database Layer"/>
          <p:cNvSpPr/>
          <p:nvPr/>
        </p:nvSpPr>
        <p:spPr>
          <a:xfrm>
            <a:off x="8503920" y="1417320"/>
            <a:ext cx="3108960" cy="3108960"/>
          </a:xfrm>
          <a:prstGeom prst="roundRect">
            <a:avLst>
              <a:gd name="adj" fmla="val 3529"/>
            </a:avLst>
          </a:prstGeom>
          <a:solidFill>
            <a:schemeClr val="bg2"/>
          </a:solidFill>
          <a:ln/>
          <a:effectLst>
            <a:outerShdw sx="100000" sy="100000" kx="0" ky="0" algn="bl" rotWithShape="0" blurRad="101600" dist="25400" dir="5400000">
              <a:srgbClr val="000000">
                <a:alpha val="12000"/>
              </a:srgbClr>
            </a:outerShdw>
          </a:effectLst>
        </p:spPr>
      </p:sp>
      <p:sp>
        <p:nvSpPr>
          <p:cNvPr id="16" name="Icon circle FaDatabase"/>
          <p:cNvSpPr/>
          <p:nvPr/>
        </p:nvSpPr>
        <p:spPr>
          <a:xfrm>
            <a:off x="8778240" y="1645920"/>
            <a:ext cx="640080" cy="640080"/>
          </a:xfrm>
          <a:prstGeom prst="ellipse">
            <a:avLst/>
          </a:prstGeom>
          <a:solidFill>
            <a:schemeClr val="accent1"/>
          </a:solidFill>
          <a:ln/>
        </p:spPr>
      </p:sp>
      <p:pic>
        <p:nvPicPr>
          <p:cNvPr id="17" name="Image 2" descr="Database icon">    </p:cNvPr>
          <p:cNvPicPr>
            <a:picLocks noChangeAspect="1"/>
          </p:cNvPicPr>
          <p:nvPr/>
        </p:nvPicPr>
        <p:blipFill>
          <a:blip r:embed="rId3"/>
          <a:stretch>
            <a:fillRect/>
          </a:stretch>
        </p:blipFill>
        <p:spPr>
          <a:xfrm>
            <a:off x="8944661" y="1812341"/>
            <a:ext cx="307238" cy="307238"/>
          </a:xfrm>
          <a:prstGeom prst="rect">
            <a:avLst/>
          </a:prstGeom>
        </p:spPr>
      </p:pic>
      <p:sp>
        <p:nvSpPr>
          <p:cNvPr id="18" name="Text 13"/>
          <p:cNvSpPr txBox="1"/>
          <p:nvPr/>
        </p:nvSpPr>
        <p:spPr>
          <a:xfrm>
            <a:off x="8778240" y="2423160"/>
            <a:ext cx="2651760" cy="320040"/>
          </a:xfrm>
          <a:prstGeom prst="rect">
            <a:avLst/>
          </a:prstGeom>
          <a:noFill/>
          <a:ln/>
        </p:spPr>
        <p:txBody>
          <a:bodyPr wrap="square" lIns="0" tIns="0" rIns="0" bIns="0" rtlCol="0" anchor="t"/>
          <a:lstStyle/>
          <a:p>
            <a:pPr indent="0" marL="0">
              <a:buNone/>
            </a:pPr>
            <a:r>
              <a:rPr lang="en-US" sz="2000" b="1" dirty="0">
                <a:solidFill>
                  <a:schemeClr val="tx2"/>
                </a:solidFill>
              </a:rPr>
              <a:t>Database Layer</a:t>
            </a:r>
            <a:endParaRPr lang="en-US" sz="2000" dirty="0"/>
          </a:p>
        </p:txBody>
      </p:sp>
      <p:sp>
        <p:nvSpPr>
          <p:cNvPr id="19" name="Text 14"/>
          <p:cNvSpPr txBox="1"/>
          <p:nvPr/>
        </p:nvSpPr>
        <p:spPr>
          <a:xfrm>
            <a:off x="8778240" y="2788920"/>
            <a:ext cx="2651760" cy="274320"/>
          </a:xfrm>
          <a:prstGeom prst="rect">
            <a:avLst/>
          </a:prstGeom>
          <a:noFill/>
          <a:ln/>
        </p:spPr>
        <p:txBody>
          <a:bodyPr wrap="square" lIns="0" tIns="0" rIns="0" bIns="0" rtlCol="0" anchor="t"/>
          <a:lstStyle/>
          <a:p>
            <a:pPr indent="0" marL="0">
              <a:buNone/>
            </a:pPr>
            <a:r>
              <a:rPr lang="en-US" sz="1400" b="1" dirty="0">
                <a:solidFill>
                  <a:schemeClr val="accent1"/>
                </a:solidFill>
              </a:rPr>
              <a:t>MySQL</a:t>
            </a:r>
            <a:endParaRPr lang="en-US" sz="1400" dirty="0"/>
          </a:p>
        </p:txBody>
      </p:sp>
      <p:sp>
        <p:nvSpPr>
          <p:cNvPr id="20" name="Text 15"/>
          <p:cNvSpPr txBox="1"/>
          <p:nvPr/>
        </p:nvSpPr>
        <p:spPr>
          <a:xfrm>
            <a:off x="8778240" y="3200400"/>
            <a:ext cx="2651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categories, courses, enrollments</a:t>
            </a:r>
            <a:endParaRPr lang="en-US" sz="1400" dirty="0"/>
          </a:p>
          <a:p>
            <a:pPr marL="342900" indent="-342900">
              <a:spcAft>
                <a:spcPts val="500"/>
              </a:spcAft>
              <a:buSzPct val="100000"/>
              <a:buChar char="•"/>
            </a:pPr>
            <a:r>
              <a:rPr lang="en-US" sz="1400" dirty="0">
                <a:solidFill>
                  <a:schemeClr val="tx1"/>
                </a:solidFill>
              </a:rPr>
              <a:t>One-to-many by foreign key</a:t>
            </a:r>
            <a:endParaRPr lang="en-US" sz="1400" dirty="0"/>
          </a:p>
          <a:p>
            <a:pPr marL="342900" indent="-342900">
              <a:spcAft>
                <a:spcPts val="500"/>
              </a:spcAft>
              <a:buSzPct val="100000"/>
              <a:buChar char="•"/>
            </a:pPr>
            <a:r>
              <a:rPr lang="en-US" sz="1400" dirty="0">
                <a:solidFill>
                  <a:schemeClr val="tx1"/>
                </a:solidFill>
              </a:rPr>
              <a:t>Auto-created on first start</a:t>
            </a:r>
            <a:endParaRPr lang="en-US" sz="1400" dirty="0"/>
          </a:p>
        </p:txBody>
      </p:sp>
      <p:sp>
        <p:nvSpPr>
          <p:cNvPr id="21" name="Text 16"/>
          <p:cNvSpPr txBox="1"/>
          <p:nvPr/>
        </p:nvSpPr>
        <p:spPr>
          <a:xfrm>
            <a:off x="3657600" y="1828800"/>
            <a:ext cx="868680" cy="274320"/>
          </a:xfrm>
          <a:prstGeom prst="rect">
            <a:avLst/>
          </a:prstGeom>
          <a:noFill/>
          <a:ln/>
        </p:spPr>
        <p:txBody>
          <a:bodyPr wrap="square" lIns="0" tIns="0" rIns="0" bIns="0" rtlCol="0" anchor="t"/>
          <a:lstStyle/>
          <a:p>
            <a:pPr algn="ctr" indent="0" marL="0">
              <a:buNone/>
            </a:pPr>
            <a:r>
              <a:rPr lang="en-US" sz="1200" b="1" dirty="0">
                <a:solidFill>
                  <a:schemeClr val="accent1"/>
                </a:solidFill>
              </a:rPr>
              <a:t>Request</a:t>
            </a:r>
            <a:endParaRPr lang="en-US" sz="1200" dirty="0"/>
          </a:p>
        </p:txBody>
      </p:sp>
      <p:sp>
        <p:nvSpPr>
          <p:cNvPr id="22" name="Request arrow"/>
          <p:cNvSpPr/>
          <p:nvPr/>
        </p:nvSpPr>
        <p:spPr>
          <a:xfrm>
            <a:off x="3767328" y="2148840"/>
            <a:ext cx="640080" cy="347472"/>
          </a:xfrm>
          <a:prstGeom prst="rightArrow">
            <a:avLst/>
          </a:prstGeom>
          <a:solidFill>
            <a:schemeClr val="accent1"/>
          </a:solidFill>
          <a:ln/>
        </p:spPr>
      </p:sp>
      <p:sp>
        <p:nvSpPr>
          <p:cNvPr id="23" name="Response arrow"/>
          <p:cNvSpPr/>
          <p:nvPr/>
        </p:nvSpPr>
        <p:spPr>
          <a:xfrm>
            <a:off x="3767328" y="3108960"/>
            <a:ext cx="640080" cy="347472"/>
          </a:xfrm>
          <a:prstGeom prst="leftArrow">
            <a:avLst/>
          </a:prstGeom>
          <a:solidFill>
            <a:schemeClr val="accent2"/>
          </a:solidFill>
          <a:ln/>
        </p:spPr>
      </p:sp>
      <p:sp>
        <p:nvSpPr>
          <p:cNvPr id="24" name="Text 19"/>
          <p:cNvSpPr txBox="1"/>
          <p:nvPr/>
        </p:nvSpPr>
        <p:spPr>
          <a:xfrm>
            <a:off x="3657600" y="3520440"/>
            <a:ext cx="868680" cy="274320"/>
          </a:xfrm>
          <a:prstGeom prst="rect">
            <a:avLst/>
          </a:prstGeom>
          <a:noFill/>
          <a:ln/>
        </p:spPr>
        <p:txBody>
          <a:bodyPr wrap="square" lIns="0" tIns="0" rIns="0" bIns="0" rtlCol="0" anchor="t"/>
          <a:lstStyle/>
          <a:p>
            <a:pPr algn="ctr" indent="0" marL="0">
              <a:buNone/>
            </a:pPr>
            <a:r>
              <a:rPr lang="en-US" sz="1200" b="1" dirty="0">
                <a:solidFill>
                  <a:schemeClr val="accent4"/>
                </a:solidFill>
              </a:rPr>
              <a:t>HTML page</a:t>
            </a:r>
            <a:endParaRPr lang="en-US" sz="1200" dirty="0"/>
          </a:p>
        </p:txBody>
      </p:sp>
      <p:sp>
        <p:nvSpPr>
          <p:cNvPr id="25" name="Text 20"/>
          <p:cNvSpPr txBox="1"/>
          <p:nvPr/>
        </p:nvSpPr>
        <p:spPr>
          <a:xfrm>
            <a:off x="7635240" y="1828800"/>
            <a:ext cx="868680" cy="274320"/>
          </a:xfrm>
          <a:prstGeom prst="rect">
            <a:avLst/>
          </a:prstGeom>
          <a:noFill/>
          <a:ln/>
        </p:spPr>
        <p:txBody>
          <a:bodyPr wrap="square" lIns="0" tIns="0" rIns="0" bIns="0" rtlCol="0" anchor="t"/>
          <a:lstStyle/>
          <a:p>
            <a:pPr algn="ctr" indent="0" marL="0">
              <a:buNone/>
            </a:pPr>
            <a:r>
              <a:rPr lang="en-US" sz="1200" b="1" dirty="0">
                <a:solidFill>
                  <a:schemeClr val="accent1"/>
                </a:solidFill>
              </a:rPr>
              <a:t>SQL query</a:t>
            </a:r>
            <a:endParaRPr lang="en-US" sz="1200" dirty="0"/>
          </a:p>
        </p:txBody>
      </p:sp>
      <p:sp>
        <p:nvSpPr>
          <p:cNvPr id="26" name="Request arrow"/>
          <p:cNvSpPr/>
          <p:nvPr/>
        </p:nvSpPr>
        <p:spPr>
          <a:xfrm>
            <a:off x="7744968" y="2148840"/>
            <a:ext cx="640080" cy="347472"/>
          </a:xfrm>
          <a:prstGeom prst="rightArrow">
            <a:avLst/>
          </a:prstGeom>
          <a:solidFill>
            <a:schemeClr val="accent1"/>
          </a:solidFill>
          <a:ln/>
        </p:spPr>
      </p:sp>
      <p:sp>
        <p:nvSpPr>
          <p:cNvPr id="27" name="Response arrow"/>
          <p:cNvSpPr/>
          <p:nvPr/>
        </p:nvSpPr>
        <p:spPr>
          <a:xfrm>
            <a:off x="7744968" y="3108960"/>
            <a:ext cx="640080" cy="347472"/>
          </a:xfrm>
          <a:prstGeom prst="leftArrow">
            <a:avLst/>
          </a:prstGeom>
          <a:solidFill>
            <a:schemeClr val="accent2"/>
          </a:solidFill>
          <a:ln/>
        </p:spPr>
      </p:sp>
      <p:sp>
        <p:nvSpPr>
          <p:cNvPr id="28" name="Text 23"/>
          <p:cNvSpPr txBox="1"/>
          <p:nvPr/>
        </p:nvSpPr>
        <p:spPr>
          <a:xfrm>
            <a:off x="7635240" y="3520440"/>
            <a:ext cx="868680" cy="274320"/>
          </a:xfrm>
          <a:prstGeom prst="rect">
            <a:avLst/>
          </a:prstGeom>
          <a:noFill/>
          <a:ln/>
        </p:spPr>
        <p:txBody>
          <a:bodyPr wrap="square" lIns="0" tIns="0" rIns="0" bIns="0" rtlCol="0" anchor="t"/>
          <a:lstStyle/>
          <a:p>
            <a:pPr algn="ctr" indent="0" marL="0">
              <a:buNone/>
            </a:pPr>
            <a:r>
              <a:rPr lang="en-US" sz="1200" b="1" dirty="0">
                <a:solidFill>
                  <a:schemeClr val="accent4"/>
                </a:solidFill>
              </a:rPr>
              <a:t>Result rows</a:t>
            </a:r>
            <a:endParaRPr lang="en-US" sz="1200" dirty="0"/>
          </a:p>
        </p:txBody>
      </p:sp>
      <p:sp>
        <p:nvSpPr>
          <p:cNvPr id="29" name="Text 24"/>
          <p:cNvSpPr txBox="1"/>
          <p:nvPr/>
        </p:nvSpPr>
        <p:spPr>
          <a:xfrm>
            <a:off x="548640" y="4754880"/>
            <a:ext cx="5486400" cy="320040"/>
          </a:xfrm>
          <a:prstGeom prst="rect">
            <a:avLst/>
          </a:prstGeom>
          <a:noFill/>
          <a:ln/>
        </p:spPr>
        <p:txBody>
          <a:bodyPr wrap="square" lIns="0" tIns="0" rIns="0" bIns="0" rtlCol="0" anchor="t"/>
          <a:lstStyle/>
          <a:p>
            <a:pPr indent="0" marL="0">
              <a:buNone/>
            </a:pPr>
            <a:r>
              <a:rPr lang="en-US" sz="1600" b="1" dirty="0">
                <a:solidFill>
                  <a:schemeClr val="tx2"/>
                </a:solidFill>
              </a:rPr>
              <a:t>Request flow</a:t>
            </a:r>
            <a:endParaRPr lang="en-US" sz="1600" dirty="0"/>
          </a:p>
        </p:txBody>
      </p:sp>
      <p:sp>
        <p:nvSpPr>
          <p:cNvPr id="30" name="Flow Browser request"/>
          <p:cNvSpPr/>
          <p:nvPr/>
        </p:nvSpPr>
        <p:spPr>
          <a:xfrm>
            <a:off x="54864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31" name="Text 26"/>
          <p:cNvSpPr txBox="1"/>
          <p:nvPr/>
        </p:nvSpPr>
        <p:spPr>
          <a:xfrm>
            <a:off x="54864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Browser request</a:t>
            </a:r>
            <a:endParaRPr lang="en-US" sz="1400" dirty="0"/>
          </a:p>
        </p:txBody>
      </p:sp>
      <p:sp>
        <p:nvSpPr>
          <p:cNvPr id="32" name="Flow arrow"/>
          <p:cNvSpPr/>
          <p:nvPr/>
        </p:nvSpPr>
        <p:spPr>
          <a:xfrm>
            <a:off x="2286000" y="5394960"/>
            <a:ext cx="109728" cy="237744"/>
          </a:xfrm>
          <a:prstGeom prst="chevron">
            <a:avLst/>
          </a:prstGeom>
          <a:solidFill>
            <a:schemeClr val="accent4"/>
          </a:solidFill>
          <a:ln/>
        </p:spPr>
      </p:sp>
      <p:sp>
        <p:nvSpPr>
          <p:cNvPr id="33" name="Flow Route handler"/>
          <p:cNvSpPr/>
          <p:nvPr/>
        </p:nvSpPr>
        <p:spPr>
          <a:xfrm>
            <a:off x="242316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34" name="Text 29"/>
          <p:cNvSpPr txBox="1"/>
          <p:nvPr/>
        </p:nvSpPr>
        <p:spPr>
          <a:xfrm>
            <a:off x="242316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Route handler</a:t>
            </a:r>
            <a:endParaRPr lang="en-US" sz="1400" dirty="0"/>
          </a:p>
        </p:txBody>
      </p:sp>
      <p:sp>
        <p:nvSpPr>
          <p:cNvPr id="35" name="Flow arrow"/>
          <p:cNvSpPr/>
          <p:nvPr/>
        </p:nvSpPr>
        <p:spPr>
          <a:xfrm>
            <a:off x="4160520" y="5394960"/>
            <a:ext cx="109728" cy="237744"/>
          </a:xfrm>
          <a:prstGeom prst="chevron">
            <a:avLst/>
          </a:prstGeom>
          <a:solidFill>
            <a:schemeClr val="accent4"/>
          </a:solidFill>
          <a:ln/>
        </p:spPr>
      </p:sp>
      <p:sp>
        <p:nvSpPr>
          <p:cNvPr id="36" name="Flow Validate input"/>
          <p:cNvSpPr/>
          <p:nvPr/>
        </p:nvSpPr>
        <p:spPr>
          <a:xfrm>
            <a:off x="429768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37" name="Text 32"/>
          <p:cNvSpPr txBox="1"/>
          <p:nvPr/>
        </p:nvSpPr>
        <p:spPr>
          <a:xfrm>
            <a:off x="429768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Validate input</a:t>
            </a:r>
            <a:endParaRPr lang="en-US" sz="1400" dirty="0"/>
          </a:p>
        </p:txBody>
      </p:sp>
      <p:sp>
        <p:nvSpPr>
          <p:cNvPr id="38" name="Flow arrow"/>
          <p:cNvSpPr/>
          <p:nvPr/>
        </p:nvSpPr>
        <p:spPr>
          <a:xfrm>
            <a:off x="6035040" y="5394960"/>
            <a:ext cx="109728" cy="237744"/>
          </a:xfrm>
          <a:prstGeom prst="chevron">
            <a:avLst/>
          </a:prstGeom>
          <a:solidFill>
            <a:schemeClr val="accent4"/>
          </a:solidFill>
          <a:ln/>
        </p:spPr>
      </p:sp>
      <p:sp>
        <p:nvSpPr>
          <p:cNvPr id="39" name="Flow Run SQL query"/>
          <p:cNvSpPr/>
          <p:nvPr/>
        </p:nvSpPr>
        <p:spPr>
          <a:xfrm>
            <a:off x="617220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40" name="Text 35"/>
          <p:cNvSpPr txBox="1"/>
          <p:nvPr/>
        </p:nvSpPr>
        <p:spPr>
          <a:xfrm>
            <a:off x="617220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Run SQL query</a:t>
            </a:r>
            <a:endParaRPr lang="en-US" sz="1400" dirty="0"/>
          </a:p>
        </p:txBody>
      </p:sp>
      <p:sp>
        <p:nvSpPr>
          <p:cNvPr id="41" name="Flow arrow"/>
          <p:cNvSpPr/>
          <p:nvPr/>
        </p:nvSpPr>
        <p:spPr>
          <a:xfrm>
            <a:off x="7909560" y="5394960"/>
            <a:ext cx="109728" cy="237744"/>
          </a:xfrm>
          <a:prstGeom prst="chevron">
            <a:avLst/>
          </a:prstGeom>
          <a:solidFill>
            <a:schemeClr val="accent4"/>
          </a:solidFill>
          <a:ln/>
        </p:spPr>
      </p:sp>
      <p:sp>
        <p:nvSpPr>
          <p:cNvPr id="42" name="Flow Render Jinja2"/>
          <p:cNvSpPr/>
          <p:nvPr/>
        </p:nvSpPr>
        <p:spPr>
          <a:xfrm>
            <a:off x="804672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43" name="Text 38"/>
          <p:cNvSpPr txBox="1"/>
          <p:nvPr/>
        </p:nvSpPr>
        <p:spPr>
          <a:xfrm>
            <a:off x="804672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Render Jinja2</a:t>
            </a:r>
            <a:endParaRPr lang="en-US" sz="1400" dirty="0"/>
          </a:p>
        </p:txBody>
      </p:sp>
      <p:sp>
        <p:nvSpPr>
          <p:cNvPr id="44" name="Flow arrow"/>
          <p:cNvSpPr/>
          <p:nvPr/>
        </p:nvSpPr>
        <p:spPr>
          <a:xfrm>
            <a:off x="9784080" y="5394960"/>
            <a:ext cx="109728" cy="237744"/>
          </a:xfrm>
          <a:prstGeom prst="chevron">
            <a:avLst/>
          </a:prstGeom>
          <a:solidFill>
            <a:schemeClr val="accent4"/>
          </a:solidFill>
          <a:ln/>
        </p:spPr>
      </p:sp>
      <p:sp>
        <p:nvSpPr>
          <p:cNvPr id="45" name="Flow Send HTML page"/>
          <p:cNvSpPr/>
          <p:nvPr/>
        </p:nvSpPr>
        <p:spPr>
          <a:xfrm>
            <a:off x="9921240" y="5166360"/>
            <a:ext cx="1691640" cy="685800"/>
          </a:xfrm>
          <a:prstGeom prst="roundRect">
            <a:avLst>
              <a:gd name="adj" fmla="val 16000"/>
            </a:avLst>
          </a:prstGeom>
          <a:solidFill>
            <a:schemeClr val="bg2"/>
          </a:solidFill>
          <a:ln/>
          <a:effectLst>
            <a:outerShdw sx="100000" sy="100000" kx="0" ky="0" algn="bl" rotWithShape="0" blurRad="101600" dist="25400" dir="5400000">
              <a:srgbClr val="000000">
                <a:alpha val="12000"/>
              </a:srgbClr>
            </a:outerShdw>
          </a:effectLst>
        </p:spPr>
      </p:sp>
      <p:sp>
        <p:nvSpPr>
          <p:cNvPr id="46" name="Text 41"/>
          <p:cNvSpPr txBox="1"/>
          <p:nvPr/>
        </p:nvSpPr>
        <p:spPr>
          <a:xfrm>
            <a:off x="9921240" y="5166360"/>
            <a:ext cx="1691640" cy="685800"/>
          </a:xfrm>
          <a:prstGeom prst="rect">
            <a:avLst/>
          </a:prstGeom>
          <a:noFill/>
          <a:ln/>
        </p:spPr>
        <p:txBody>
          <a:bodyPr wrap="square" lIns="0" tIns="0" rIns="0" bIns="0" rtlCol="0" anchor="ctr"/>
          <a:lstStyle/>
          <a:p>
            <a:pPr algn="ctr" indent="0" marL="0">
              <a:buNone/>
            </a:pPr>
            <a:r>
              <a:rPr lang="en-US" sz="1400" b="1" dirty="0">
                <a:solidFill>
                  <a:schemeClr val="tx2"/>
                </a:solidFill>
              </a:rPr>
              <a:t>Send HTML page</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Database Design</a:t>
            </a:r>
            <a:endParaRPr lang="en-US" sz="3400" dirty="0"/>
          </a:p>
        </p:txBody>
      </p:sp>
      <p:sp>
        <p:nvSpPr>
          <p:cNvPr id="3" name="Table categories"/>
          <p:cNvSpPr/>
          <p:nvPr/>
        </p:nvSpPr>
        <p:spPr>
          <a:xfrm>
            <a:off x="548640" y="1417320"/>
            <a:ext cx="2926080" cy="3429000"/>
          </a:xfrm>
          <a:prstGeom prst="roundRect">
            <a:avLst>
              <a:gd name="adj" fmla="val 3750"/>
            </a:avLst>
          </a:prstGeom>
          <a:solidFill>
            <a:schemeClr val="bg2"/>
          </a:solidFill>
          <a:ln/>
          <a:effectLst>
            <a:outerShdw sx="100000" sy="100000" kx="0" ky="0" algn="bl" rotWithShape="0" blurRad="101600" dist="25400" dir="5400000">
              <a:srgbClr val="000000">
                <a:alpha val="12000"/>
              </a:srgbClr>
            </a:outerShdw>
          </a:effectLst>
        </p:spPr>
      </p:sp>
      <p:sp>
        <p:nvSpPr>
          <p:cNvPr id="4" name="Table header categories"/>
          <p:cNvSpPr/>
          <p:nvPr/>
        </p:nvSpPr>
        <p:spPr>
          <a:xfrm>
            <a:off x="731520" y="1600200"/>
            <a:ext cx="2560320" cy="457200"/>
          </a:xfrm>
          <a:prstGeom prst="roundRect">
            <a:avLst>
              <a:gd name="adj" fmla="val 20000"/>
            </a:avLst>
          </a:prstGeom>
          <a:solidFill>
            <a:schemeClr val="accent1"/>
          </a:solidFill>
          <a:ln/>
        </p:spPr>
      </p:sp>
      <p:sp>
        <p:nvSpPr>
          <p:cNvPr id="5" name="Text 3"/>
          <p:cNvSpPr txBox="1"/>
          <p:nvPr/>
        </p:nvSpPr>
        <p:spPr>
          <a:xfrm>
            <a:off x="731520" y="1600200"/>
            <a:ext cx="2560320" cy="457200"/>
          </a:xfrm>
          <a:prstGeom prst="rect">
            <a:avLst/>
          </a:prstGeom>
          <a:noFill/>
          <a:ln/>
        </p:spPr>
        <p:txBody>
          <a:bodyPr wrap="square" lIns="0" tIns="0" rIns="0" bIns="0" rtlCol="0" anchor="ctr"/>
          <a:lstStyle/>
          <a:p>
            <a:pPr algn="ctr" indent="0" marL="0">
              <a:buNone/>
            </a:pPr>
            <a:r>
              <a:rPr lang="en-US" sz="1600" b="1" dirty="0">
                <a:solidFill>
                  <a:schemeClr val="bg1"/>
                </a:solidFill>
              </a:rPr>
              <a:t>categories</a:t>
            </a:r>
            <a:endParaRPr lang="en-US" sz="1600" dirty="0"/>
          </a:p>
        </p:txBody>
      </p:sp>
      <p:sp>
        <p:nvSpPr>
          <p:cNvPr id="6" name="Text 4"/>
          <p:cNvSpPr txBox="1"/>
          <p:nvPr/>
        </p:nvSpPr>
        <p:spPr>
          <a:xfrm>
            <a:off x="822960" y="2240280"/>
            <a:ext cx="2468880" cy="26974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id</a:t>
            </a:r>
            <a:pPr indent="0" marL="0">
              <a:spcAft>
                <a:spcPts val="300"/>
              </a:spcAft>
              <a:buNone/>
            </a:pPr>
            <a:r>
              <a:rPr lang="en-US" sz="1400" dirty="0">
                <a:solidFill>
                  <a:schemeClr val="accent4"/>
                </a:solidFill>
              </a:rPr>
              <a:t>   INT, PK</a:t>
            </a:r>
            <a:endParaRPr lang="en-US" sz="1400" dirty="0"/>
          </a:p>
          <a:p>
            <a:pPr indent="0" marL="0">
              <a:spcAft>
                <a:spcPts val="300"/>
              </a:spcAft>
              <a:buNone/>
            </a:pPr>
            <a:r>
              <a:rPr lang="en-US" sz="1400" b="1" dirty="0">
                <a:solidFill>
                  <a:schemeClr val="tx1"/>
                </a:solidFill>
              </a:rPr>
              <a:t>name</a:t>
            </a:r>
            <a:pPr indent="0" marL="0">
              <a:spcAft>
                <a:spcPts val="300"/>
              </a:spcAft>
              <a:buNone/>
            </a:pPr>
            <a:r>
              <a:rPr lang="en-US" sz="1400" dirty="0">
                <a:solidFill>
                  <a:schemeClr val="accent4"/>
                </a:solidFill>
              </a:rPr>
              <a:t>   VARCHAR(100), unique</a:t>
            </a:r>
            <a:endParaRPr lang="en-US" sz="1400" dirty="0"/>
          </a:p>
          <a:p>
            <a:pPr indent="0" marL="0">
              <a:spcAft>
                <a:spcPts val="300"/>
              </a:spcAft>
              <a:buNone/>
            </a:pPr>
            <a:r>
              <a:rPr lang="en-US" sz="1400" b="1" dirty="0">
                <a:solidFill>
                  <a:schemeClr val="tx1"/>
                </a:solidFill>
              </a:rPr>
              <a:t>description</a:t>
            </a:r>
            <a:pPr indent="0" marL="0">
              <a:spcAft>
                <a:spcPts val="300"/>
              </a:spcAft>
              <a:buNone/>
            </a:pPr>
            <a:r>
              <a:rPr lang="en-US" sz="1400" dirty="0">
                <a:solidFill>
                  <a:schemeClr val="accent4"/>
                </a:solidFill>
              </a:rPr>
              <a:t>   TEXT</a:t>
            </a:r>
            <a:endParaRPr lang="en-US" sz="1400" dirty="0"/>
          </a:p>
          <a:p>
            <a:pPr indent="0" marL="0">
              <a:spcAft>
                <a:spcPts val="300"/>
              </a:spcAft>
              <a:buNone/>
            </a:pPr>
            <a:r>
              <a:rPr lang="en-US" sz="1400" b="1" dirty="0">
                <a:solidFill>
                  <a:schemeClr val="tx1"/>
                </a:solidFill>
              </a:rPr>
              <a:t>image</a:t>
            </a:r>
            <a:pPr indent="0" marL="0">
              <a:spcAft>
                <a:spcPts val="300"/>
              </a:spcAft>
              <a:buNone/>
            </a:pPr>
            <a:r>
              <a:rPr lang="en-US" sz="1400" dirty="0">
                <a:solidFill>
                  <a:schemeClr val="accent4"/>
                </a:solidFill>
              </a:rPr>
              <a:t>   VARCHAR(100)</a:t>
            </a:r>
            <a:endParaRPr lang="en-US" sz="1400" dirty="0"/>
          </a:p>
          <a:p>
            <a:pPr indent="0" marL="0">
              <a:spcAft>
                <a:spcPts val="300"/>
              </a:spcAft>
              <a:buNone/>
            </a:pPr>
            <a:r>
              <a:rPr lang="en-US" sz="1400" b="1" dirty="0">
                <a:solidFill>
                  <a:schemeClr val="tx1"/>
                </a:solidFill>
              </a:rPr>
              <a:t>color</a:t>
            </a:r>
            <a:pPr indent="0" marL="0">
              <a:spcAft>
                <a:spcPts val="300"/>
              </a:spcAft>
              <a:buNone/>
            </a:pPr>
            <a:r>
              <a:rPr lang="en-US" sz="1400" dirty="0">
                <a:solidFill>
                  <a:schemeClr val="accent4"/>
                </a:solidFill>
              </a:rPr>
              <a:t>   VARCHAR(30)</a:t>
            </a:r>
            <a:endParaRPr lang="en-US" sz="1400" dirty="0"/>
          </a:p>
          <a:p>
            <a:pPr indent="0" marL="0">
              <a:spcAft>
                <a:spcPts val="300"/>
              </a:spcAft>
              <a:buNone/>
            </a:pPr>
            <a:r>
              <a:rPr lang="en-US" sz="1400" b="1" dirty="0">
                <a:solidFill>
                  <a:schemeClr val="tx1"/>
                </a:solidFill>
              </a:rPr>
              <a:t>created_at</a:t>
            </a:r>
            <a:pPr indent="0" marL="0">
              <a:spcAft>
                <a:spcPts val="300"/>
              </a:spcAft>
              <a:buNone/>
            </a:pPr>
            <a:r>
              <a:rPr lang="en-US" sz="1400" dirty="0">
                <a:solidFill>
                  <a:schemeClr val="accent4"/>
                </a:solidFill>
              </a:rPr>
              <a:t>   TIMESTAMP</a:t>
            </a:r>
            <a:endParaRPr lang="en-US" sz="1400" dirty="0"/>
          </a:p>
        </p:txBody>
      </p:sp>
      <p:sp>
        <p:nvSpPr>
          <p:cNvPr id="7" name="Table courses"/>
          <p:cNvSpPr/>
          <p:nvPr/>
        </p:nvSpPr>
        <p:spPr>
          <a:xfrm>
            <a:off x="4297680" y="1417320"/>
            <a:ext cx="3383280" cy="3429000"/>
          </a:xfrm>
          <a:prstGeom prst="roundRect">
            <a:avLst>
              <a:gd name="adj" fmla="val 3243"/>
            </a:avLst>
          </a:prstGeom>
          <a:solidFill>
            <a:schemeClr val="bg2"/>
          </a:solidFill>
          <a:ln/>
          <a:effectLst>
            <a:outerShdw sx="100000" sy="100000" kx="0" ky="0" algn="bl" rotWithShape="0" blurRad="101600" dist="25400" dir="5400000">
              <a:srgbClr val="000000">
                <a:alpha val="12000"/>
              </a:srgbClr>
            </a:outerShdw>
          </a:effectLst>
        </p:spPr>
      </p:sp>
      <p:sp>
        <p:nvSpPr>
          <p:cNvPr id="8" name="Table header courses"/>
          <p:cNvSpPr/>
          <p:nvPr/>
        </p:nvSpPr>
        <p:spPr>
          <a:xfrm>
            <a:off x="4480560" y="1600200"/>
            <a:ext cx="3017520" cy="457200"/>
          </a:xfrm>
          <a:prstGeom prst="roundRect">
            <a:avLst>
              <a:gd name="adj" fmla="val 20000"/>
            </a:avLst>
          </a:prstGeom>
          <a:solidFill>
            <a:schemeClr val="accent1"/>
          </a:solidFill>
          <a:ln/>
        </p:spPr>
      </p:sp>
      <p:sp>
        <p:nvSpPr>
          <p:cNvPr id="9" name="Text 7"/>
          <p:cNvSpPr txBox="1"/>
          <p:nvPr/>
        </p:nvSpPr>
        <p:spPr>
          <a:xfrm>
            <a:off x="4480560" y="1600200"/>
            <a:ext cx="3017520" cy="457200"/>
          </a:xfrm>
          <a:prstGeom prst="rect">
            <a:avLst/>
          </a:prstGeom>
          <a:noFill/>
          <a:ln/>
        </p:spPr>
        <p:txBody>
          <a:bodyPr wrap="square" lIns="0" tIns="0" rIns="0" bIns="0" rtlCol="0" anchor="ctr"/>
          <a:lstStyle/>
          <a:p>
            <a:pPr algn="ctr" indent="0" marL="0">
              <a:buNone/>
            </a:pPr>
            <a:r>
              <a:rPr lang="en-US" sz="1600" b="1" dirty="0">
                <a:solidFill>
                  <a:schemeClr val="bg1"/>
                </a:solidFill>
              </a:rPr>
              <a:t>courses</a:t>
            </a:r>
            <a:endParaRPr lang="en-US" sz="1600" dirty="0"/>
          </a:p>
        </p:txBody>
      </p:sp>
      <p:sp>
        <p:nvSpPr>
          <p:cNvPr id="10" name="Text 8"/>
          <p:cNvSpPr txBox="1"/>
          <p:nvPr/>
        </p:nvSpPr>
        <p:spPr>
          <a:xfrm>
            <a:off x="4572000" y="2240280"/>
            <a:ext cx="2926080" cy="26974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id</a:t>
            </a:r>
            <a:pPr indent="0" marL="0">
              <a:spcAft>
                <a:spcPts val="300"/>
              </a:spcAft>
              <a:buNone/>
            </a:pPr>
            <a:r>
              <a:rPr lang="en-US" sz="1400" dirty="0">
                <a:solidFill>
                  <a:schemeClr val="accent4"/>
                </a:solidFill>
              </a:rPr>
              <a:t>   INT, PK</a:t>
            </a:r>
            <a:endParaRPr lang="en-US" sz="1400" dirty="0"/>
          </a:p>
          <a:p>
            <a:pPr indent="0" marL="0">
              <a:spcAft>
                <a:spcPts val="300"/>
              </a:spcAft>
              <a:buNone/>
            </a:pPr>
            <a:r>
              <a:rPr lang="en-US" sz="1400" b="1" dirty="0">
                <a:solidFill>
                  <a:schemeClr val="tx1"/>
                </a:solidFill>
              </a:rPr>
              <a:t>title</a:t>
            </a:r>
            <a:pPr indent="0" marL="0">
              <a:spcAft>
                <a:spcPts val="300"/>
              </a:spcAft>
              <a:buNone/>
            </a:pPr>
            <a:r>
              <a:rPr lang="en-US" sz="1400" dirty="0">
                <a:solidFill>
                  <a:schemeClr val="accent4"/>
                </a:solidFill>
              </a:rPr>
              <a:t>   VARCHAR(150)</a:t>
            </a:r>
            <a:endParaRPr lang="en-US" sz="1400" dirty="0"/>
          </a:p>
          <a:p>
            <a:pPr indent="0" marL="0">
              <a:spcAft>
                <a:spcPts val="300"/>
              </a:spcAft>
              <a:buNone/>
            </a:pPr>
            <a:r>
              <a:rPr lang="en-US" sz="1400" b="1" dirty="0">
                <a:solidFill>
                  <a:schemeClr val="accent1"/>
                </a:solidFill>
              </a:rPr>
              <a:t>category_id</a:t>
            </a:r>
            <a:pPr indent="0" marL="0">
              <a:spcAft>
                <a:spcPts val="300"/>
              </a:spcAft>
              <a:buNone/>
            </a:pPr>
            <a:r>
              <a:rPr lang="en-US" sz="1400" dirty="0">
                <a:solidFill>
                  <a:schemeClr val="accent4"/>
                </a:solidFill>
              </a:rPr>
              <a:t>   INT, FK</a:t>
            </a:r>
            <a:endParaRPr lang="en-US" sz="1400" dirty="0"/>
          </a:p>
          <a:p>
            <a:pPr indent="0" marL="0">
              <a:spcAft>
                <a:spcPts val="300"/>
              </a:spcAft>
              <a:buNone/>
            </a:pPr>
            <a:r>
              <a:rPr lang="en-US" sz="1400" b="1" dirty="0">
                <a:solidFill>
                  <a:schemeClr val="tx1"/>
                </a:solidFill>
              </a:rPr>
              <a:t>instructor</a:t>
            </a:r>
            <a:pPr indent="0" marL="0">
              <a:spcAft>
                <a:spcPts val="300"/>
              </a:spcAft>
              <a:buNone/>
            </a:pPr>
            <a:r>
              <a:rPr lang="en-US" sz="1400" dirty="0">
                <a:solidFill>
                  <a:schemeClr val="accent4"/>
                </a:solidFill>
              </a:rPr>
              <a:t>   VARCHAR(100)</a:t>
            </a:r>
            <a:endParaRPr lang="en-US" sz="1400" dirty="0"/>
          </a:p>
          <a:p>
            <a:pPr indent="0" marL="0">
              <a:spcAft>
                <a:spcPts val="300"/>
              </a:spcAft>
              <a:buNone/>
            </a:pPr>
            <a:r>
              <a:rPr lang="en-US" sz="1400" b="1" dirty="0">
                <a:solidFill>
                  <a:schemeClr val="tx1"/>
                </a:solidFill>
              </a:rPr>
              <a:t>duration</a:t>
            </a:r>
            <a:pPr indent="0" marL="0">
              <a:spcAft>
                <a:spcPts val="300"/>
              </a:spcAft>
              <a:buNone/>
            </a:pPr>
            <a:r>
              <a:rPr lang="en-US" sz="1400" dirty="0">
                <a:solidFill>
                  <a:schemeClr val="accent4"/>
                </a:solidFill>
              </a:rPr>
              <a:t>   VARCHAR(50)</a:t>
            </a:r>
            <a:endParaRPr lang="en-US" sz="1400" dirty="0"/>
          </a:p>
          <a:p>
            <a:pPr indent="0" marL="0">
              <a:spcAft>
                <a:spcPts val="300"/>
              </a:spcAft>
              <a:buNone/>
            </a:pPr>
            <a:r>
              <a:rPr lang="en-US" sz="1400" b="1" dirty="0">
                <a:solidFill>
                  <a:schemeClr val="tx1"/>
                </a:solidFill>
              </a:rPr>
              <a:t>level</a:t>
            </a:r>
            <a:pPr indent="0" marL="0">
              <a:spcAft>
                <a:spcPts val="300"/>
              </a:spcAft>
              <a:buNone/>
            </a:pPr>
            <a:r>
              <a:rPr lang="en-US" sz="1400" dirty="0">
                <a:solidFill>
                  <a:schemeClr val="accent4"/>
                </a:solidFill>
              </a:rPr>
              <a:t>   VARCHAR(50)</a:t>
            </a:r>
            <a:endParaRPr lang="en-US" sz="1400" dirty="0"/>
          </a:p>
          <a:p>
            <a:pPr indent="0" marL="0">
              <a:spcAft>
                <a:spcPts val="300"/>
              </a:spcAft>
              <a:buNone/>
            </a:pPr>
            <a:r>
              <a:rPr lang="en-US" sz="1400" b="1" dirty="0">
                <a:solidFill>
                  <a:schemeClr val="tx1"/>
                </a:solidFill>
              </a:rPr>
              <a:t>description</a:t>
            </a:r>
            <a:pPr indent="0" marL="0">
              <a:spcAft>
                <a:spcPts val="300"/>
              </a:spcAft>
              <a:buNone/>
            </a:pPr>
            <a:r>
              <a:rPr lang="en-US" sz="1400" dirty="0">
                <a:solidFill>
                  <a:schemeClr val="accent4"/>
                </a:solidFill>
              </a:rPr>
              <a:t>   TEXT</a:t>
            </a:r>
            <a:endParaRPr lang="en-US" sz="1400" dirty="0"/>
          </a:p>
          <a:p>
            <a:pPr indent="0" marL="0">
              <a:spcAft>
                <a:spcPts val="300"/>
              </a:spcAft>
              <a:buNone/>
            </a:pPr>
            <a:r>
              <a:rPr lang="en-US" sz="1400" b="1" dirty="0">
                <a:solidFill>
                  <a:schemeClr val="tx1"/>
                </a:solidFill>
              </a:rPr>
              <a:t>seats</a:t>
            </a:r>
            <a:pPr indent="0" marL="0">
              <a:spcAft>
                <a:spcPts val="300"/>
              </a:spcAft>
              <a:buNone/>
            </a:pPr>
            <a:r>
              <a:rPr lang="en-US" sz="1400" dirty="0">
                <a:solidFill>
                  <a:schemeClr val="accent4"/>
                </a:solidFill>
              </a:rPr>
              <a:t>   INT, default 50</a:t>
            </a:r>
            <a:endParaRPr lang="en-US" sz="1400" dirty="0"/>
          </a:p>
          <a:p>
            <a:pPr indent="0" marL="0">
              <a:spcAft>
                <a:spcPts val="300"/>
              </a:spcAft>
              <a:buNone/>
            </a:pPr>
            <a:r>
              <a:rPr lang="en-US" sz="1400" b="1" dirty="0">
                <a:solidFill>
                  <a:schemeClr val="tx1"/>
                </a:solidFill>
              </a:rPr>
              <a:t>created_at</a:t>
            </a:r>
            <a:pPr indent="0" marL="0">
              <a:spcAft>
                <a:spcPts val="300"/>
              </a:spcAft>
              <a:buNone/>
            </a:pPr>
            <a:r>
              <a:rPr lang="en-US" sz="1400" dirty="0">
                <a:solidFill>
                  <a:schemeClr val="accent4"/>
                </a:solidFill>
              </a:rPr>
              <a:t>   TIMESTAMP</a:t>
            </a:r>
            <a:endParaRPr lang="en-US" sz="1400" dirty="0"/>
          </a:p>
        </p:txBody>
      </p:sp>
      <p:sp>
        <p:nvSpPr>
          <p:cNvPr id="11" name="Table enrollments"/>
          <p:cNvSpPr/>
          <p:nvPr/>
        </p:nvSpPr>
        <p:spPr>
          <a:xfrm>
            <a:off x="8503920" y="1417320"/>
            <a:ext cx="3108960" cy="3429000"/>
          </a:xfrm>
          <a:prstGeom prst="roundRect">
            <a:avLst>
              <a:gd name="adj" fmla="val 3529"/>
            </a:avLst>
          </a:prstGeom>
          <a:solidFill>
            <a:schemeClr val="bg2"/>
          </a:solidFill>
          <a:ln/>
          <a:effectLst>
            <a:outerShdw sx="100000" sy="100000" kx="0" ky="0" algn="bl" rotWithShape="0" blurRad="101600" dist="25400" dir="5400000">
              <a:srgbClr val="000000">
                <a:alpha val="12000"/>
              </a:srgbClr>
            </a:outerShdw>
          </a:effectLst>
        </p:spPr>
      </p:sp>
      <p:sp>
        <p:nvSpPr>
          <p:cNvPr id="12" name="Table header enrollments"/>
          <p:cNvSpPr/>
          <p:nvPr/>
        </p:nvSpPr>
        <p:spPr>
          <a:xfrm>
            <a:off x="8686800" y="1600200"/>
            <a:ext cx="2743200" cy="457200"/>
          </a:xfrm>
          <a:prstGeom prst="roundRect">
            <a:avLst>
              <a:gd name="adj" fmla="val 20000"/>
            </a:avLst>
          </a:prstGeom>
          <a:solidFill>
            <a:schemeClr val="accent1"/>
          </a:solidFill>
          <a:ln/>
        </p:spPr>
      </p:sp>
      <p:sp>
        <p:nvSpPr>
          <p:cNvPr id="13" name="Text 11"/>
          <p:cNvSpPr txBox="1"/>
          <p:nvPr/>
        </p:nvSpPr>
        <p:spPr>
          <a:xfrm>
            <a:off x="8686800" y="1600200"/>
            <a:ext cx="2743200" cy="457200"/>
          </a:xfrm>
          <a:prstGeom prst="rect">
            <a:avLst/>
          </a:prstGeom>
          <a:noFill/>
          <a:ln/>
        </p:spPr>
        <p:txBody>
          <a:bodyPr wrap="square" lIns="0" tIns="0" rIns="0" bIns="0" rtlCol="0" anchor="ctr"/>
          <a:lstStyle/>
          <a:p>
            <a:pPr algn="ctr" indent="0" marL="0">
              <a:buNone/>
            </a:pPr>
            <a:r>
              <a:rPr lang="en-US" sz="1600" b="1" dirty="0">
                <a:solidFill>
                  <a:schemeClr val="bg1"/>
                </a:solidFill>
              </a:rPr>
              <a:t>enrollments</a:t>
            </a:r>
            <a:endParaRPr lang="en-US" sz="1600" dirty="0"/>
          </a:p>
        </p:txBody>
      </p:sp>
      <p:sp>
        <p:nvSpPr>
          <p:cNvPr id="14" name="Text 12"/>
          <p:cNvSpPr txBox="1"/>
          <p:nvPr/>
        </p:nvSpPr>
        <p:spPr>
          <a:xfrm>
            <a:off x="8778240" y="2240280"/>
            <a:ext cx="2651760" cy="26974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id</a:t>
            </a:r>
            <a:pPr indent="0" marL="0">
              <a:spcAft>
                <a:spcPts val="300"/>
              </a:spcAft>
              <a:buNone/>
            </a:pPr>
            <a:r>
              <a:rPr lang="en-US" sz="1400" dirty="0">
                <a:solidFill>
                  <a:schemeClr val="accent4"/>
                </a:solidFill>
              </a:rPr>
              <a:t>   INT, PK</a:t>
            </a:r>
            <a:endParaRPr lang="en-US" sz="1400" dirty="0"/>
          </a:p>
          <a:p>
            <a:pPr indent="0" marL="0">
              <a:spcAft>
                <a:spcPts val="300"/>
              </a:spcAft>
              <a:buNone/>
            </a:pPr>
            <a:r>
              <a:rPr lang="en-US" sz="1400" b="1" dirty="0">
                <a:solidFill>
                  <a:schemeClr val="tx1"/>
                </a:solidFill>
              </a:rPr>
              <a:t>student_name</a:t>
            </a:r>
            <a:pPr indent="0" marL="0">
              <a:spcAft>
                <a:spcPts val="300"/>
              </a:spcAft>
              <a:buNone/>
            </a:pPr>
            <a:r>
              <a:rPr lang="en-US" sz="1400" dirty="0">
                <a:solidFill>
                  <a:schemeClr val="accent4"/>
                </a:solidFill>
              </a:rPr>
              <a:t>   VARCHAR(100)</a:t>
            </a:r>
            <a:endParaRPr lang="en-US" sz="1400" dirty="0"/>
          </a:p>
          <a:p>
            <a:pPr indent="0" marL="0">
              <a:spcAft>
                <a:spcPts val="300"/>
              </a:spcAft>
              <a:buNone/>
            </a:pPr>
            <a:r>
              <a:rPr lang="en-US" sz="1400" b="1" dirty="0">
                <a:solidFill>
                  <a:schemeClr val="tx1"/>
                </a:solidFill>
              </a:rPr>
              <a:t>student_email</a:t>
            </a:r>
            <a:pPr indent="0" marL="0">
              <a:spcAft>
                <a:spcPts val="300"/>
              </a:spcAft>
              <a:buNone/>
            </a:pPr>
            <a:r>
              <a:rPr lang="en-US" sz="1400" dirty="0">
                <a:solidFill>
                  <a:schemeClr val="accent4"/>
                </a:solidFill>
              </a:rPr>
              <a:t>   VARCHAR(100)</a:t>
            </a:r>
            <a:endParaRPr lang="en-US" sz="1400" dirty="0"/>
          </a:p>
          <a:p>
            <a:pPr indent="0" marL="0">
              <a:spcAft>
                <a:spcPts val="300"/>
              </a:spcAft>
              <a:buNone/>
            </a:pPr>
            <a:r>
              <a:rPr lang="en-US" sz="1400" b="1" dirty="0">
                <a:solidFill>
                  <a:schemeClr val="tx1"/>
                </a:solidFill>
              </a:rPr>
              <a:t>course_name</a:t>
            </a:r>
            <a:pPr indent="0" marL="0">
              <a:spcAft>
                <a:spcPts val="300"/>
              </a:spcAft>
              <a:buNone/>
            </a:pPr>
            <a:r>
              <a:rPr lang="en-US" sz="1400" dirty="0">
                <a:solidFill>
                  <a:schemeClr val="accent4"/>
                </a:solidFill>
              </a:rPr>
              <a:t>   VARCHAR(150)</a:t>
            </a:r>
            <a:endParaRPr lang="en-US" sz="1400" dirty="0"/>
          </a:p>
          <a:p>
            <a:pPr indent="0" marL="0">
              <a:spcAft>
                <a:spcPts val="300"/>
              </a:spcAft>
              <a:buNone/>
            </a:pPr>
            <a:r>
              <a:rPr lang="en-US" sz="1400" b="1" dirty="0">
                <a:solidFill>
                  <a:schemeClr val="tx1"/>
                </a:solidFill>
              </a:rPr>
              <a:t>category_name</a:t>
            </a:r>
            <a:pPr indent="0" marL="0">
              <a:spcAft>
                <a:spcPts val="300"/>
              </a:spcAft>
              <a:buNone/>
            </a:pPr>
            <a:r>
              <a:rPr lang="en-US" sz="1400" dirty="0">
                <a:solidFill>
                  <a:schemeClr val="accent4"/>
                </a:solidFill>
              </a:rPr>
              <a:t>   VARCHAR(100)</a:t>
            </a:r>
            <a:endParaRPr lang="en-US" sz="1400" dirty="0"/>
          </a:p>
          <a:p>
            <a:pPr indent="0" marL="0">
              <a:spcAft>
                <a:spcPts val="300"/>
              </a:spcAft>
              <a:buNone/>
            </a:pPr>
            <a:r>
              <a:rPr lang="en-US" sz="1400" b="1" dirty="0">
                <a:solidFill>
                  <a:schemeClr val="tx1"/>
                </a:solidFill>
              </a:rPr>
              <a:t>phone</a:t>
            </a:r>
            <a:pPr indent="0" marL="0">
              <a:spcAft>
                <a:spcPts val="300"/>
              </a:spcAft>
              <a:buNone/>
            </a:pPr>
            <a:r>
              <a:rPr lang="en-US" sz="1400" dirty="0">
                <a:solidFill>
                  <a:schemeClr val="accent4"/>
                </a:solidFill>
              </a:rPr>
              <a:t>   VARCHAR(30)</a:t>
            </a:r>
            <a:endParaRPr lang="en-US" sz="1400" dirty="0"/>
          </a:p>
          <a:p>
            <a:pPr indent="0" marL="0">
              <a:spcAft>
                <a:spcPts val="300"/>
              </a:spcAft>
              <a:buNone/>
            </a:pPr>
            <a:r>
              <a:rPr lang="en-US" sz="1400" b="1" dirty="0">
                <a:solidFill>
                  <a:schemeClr val="tx1"/>
                </a:solidFill>
              </a:rPr>
              <a:t>status</a:t>
            </a:r>
            <a:pPr indent="0" marL="0">
              <a:spcAft>
                <a:spcPts val="300"/>
              </a:spcAft>
              <a:buNone/>
            </a:pPr>
            <a:r>
              <a:rPr lang="en-US" sz="1400" dirty="0">
                <a:solidFill>
                  <a:schemeClr val="accent4"/>
                </a:solidFill>
              </a:rPr>
              <a:t>   default Pending</a:t>
            </a:r>
            <a:endParaRPr lang="en-US" sz="1400" dirty="0"/>
          </a:p>
          <a:p>
            <a:pPr indent="0" marL="0">
              <a:spcAft>
                <a:spcPts val="300"/>
              </a:spcAft>
              <a:buNone/>
            </a:pPr>
            <a:r>
              <a:rPr lang="en-US" sz="1400" b="1" dirty="0">
                <a:solidFill>
                  <a:schemeClr val="tx1"/>
                </a:solidFill>
              </a:rPr>
              <a:t>created_at</a:t>
            </a:r>
            <a:pPr indent="0" marL="0">
              <a:spcAft>
                <a:spcPts val="300"/>
              </a:spcAft>
              <a:buNone/>
            </a:pPr>
            <a:r>
              <a:rPr lang="en-US" sz="1400" dirty="0">
                <a:solidFill>
                  <a:schemeClr val="accent4"/>
                </a:solidFill>
              </a:rPr>
              <a:t>   TIMESTAMP</a:t>
            </a:r>
            <a:endParaRPr lang="en-US" sz="1400" dirty="0"/>
          </a:p>
        </p:txBody>
      </p:sp>
      <p:sp>
        <p:nvSpPr>
          <p:cNvPr id="15" name="Text 13"/>
          <p:cNvSpPr txBox="1"/>
          <p:nvPr/>
        </p:nvSpPr>
        <p:spPr>
          <a:xfrm>
            <a:off x="3474720" y="2788920"/>
            <a:ext cx="822960" cy="274320"/>
          </a:xfrm>
          <a:prstGeom prst="rect">
            <a:avLst/>
          </a:prstGeom>
          <a:noFill/>
          <a:ln/>
        </p:spPr>
        <p:txBody>
          <a:bodyPr wrap="square" lIns="0" tIns="0" rIns="0" bIns="0" rtlCol="0" anchor="t"/>
          <a:lstStyle/>
          <a:p>
            <a:pPr algn="ctr" indent="0" marL="0">
              <a:buNone/>
            </a:pPr>
            <a:r>
              <a:rPr lang="en-US" sz="1200" b="1" dirty="0">
                <a:solidFill>
                  <a:schemeClr val="accent1"/>
                </a:solidFill>
              </a:rPr>
              <a:t>1 : N</a:t>
            </a:r>
            <a:endParaRPr lang="en-US" sz="1200" dirty="0"/>
          </a:p>
        </p:txBody>
      </p:sp>
      <p:sp>
        <p:nvSpPr>
          <p:cNvPr id="16" name="Relation line"/>
          <p:cNvSpPr/>
          <p:nvPr/>
        </p:nvSpPr>
        <p:spPr>
          <a:xfrm>
            <a:off x="3566160" y="3200400"/>
            <a:ext cx="640080" cy="0"/>
          </a:xfrm>
          <a:prstGeom prst="line">
            <a:avLst/>
          </a:prstGeom>
          <a:noFill/>
          <a:ln w="25400">
            <a:solidFill>
              <a:schemeClr val="accent1"/>
            </a:solidFill>
            <a:prstDash val="solid"/>
          </a:ln>
        </p:spPr>
      </p:sp>
      <p:sp>
        <p:nvSpPr>
          <p:cNvPr id="17" name="Text 15"/>
          <p:cNvSpPr txBox="1"/>
          <p:nvPr/>
        </p:nvSpPr>
        <p:spPr>
          <a:xfrm>
            <a:off x="7680960" y="2788920"/>
            <a:ext cx="822960" cy="274320"/>
          </a:xfrm>
          <a:prstGeom prst="rect">
            <a:avLst/>
          </a:prstGeom>
          <a:noFill/>
          <a:ln/>
        </p:spPr>
        <p:txBody>
          <a:bodyPr wrap="square" lIns="0" tIns="0" rIns="0" bIns="0" rtlCol="0" anchor="t"/>
          <a:lstStyle/>
          <a:p>
            <a:pPr algn="ctr" indent="0" marL="0">
              <a:buNone/>
            </a:pPr>
            <a:r>
              <a:rPr lang="en-US" sz="1200" b="1" dirty="0">
                <a:solidFill>
                  <a:schemeClr val="accent1"/>
                </a:solidFill>
              </a:rPr>
              <a:t>by name</a:t>
            </a:r>
            <a:endParaRPr lang="en-US" sz="1200" dirty="0"/>
          </a:p>
        </p:txBody>
      </p:sp>
      <p:sp>
        <p:nvSpPr>
          <p:cNvPr id="18" name="Relation line"/>
          <p:cNvSpPr/>
          <p:nvPr/>
        </p:nvSpPr>
        <p:spPr>
          <a:xfrm>
            <a:off x="7772400" y="3200400"/>
            <a:ext cx="640080" cy="0"/>
          </a:xfrm>
          <a:prstGeom prst="line">
            <a:avLst/>
          </a:prstGeom>
          <a:noFill/>
          <a:ln w="25400">
            <a:solidFill>
              <a:schemeClr val="accent1"/>
            </a:solidFill>
            <a:prstDash val="dash"/>
          </a:ln>
        </p:spPr>
      </p:sp>
      <p:sp>
        <p:nvSpPr>
          <p:cNvPr id="19" name="Database note"/>
          <p:cNvSpPr/>
          <p:nvPr/>
        </p:nvSpPr>
        <p:spPr>
          <a:xfrm>
            <a:off x="548640" y="5120640"/>
            <a:ext cx="11064240" cy="868680"/>
          </a:xfrm>
          <a:prstGeom prst="roundRect">
            <a:avLst>
              <a:gd name="adj" fmla="val 12632"/>
            </a:avLst>
          </a:prstGeom>
          <a:solidFill>
            <a:schemeClr val="bg2"/>
          </a:solidFill>
          <a:ln/>
        </p:spPr>
      </p:sp>
      <p:sp>
        <p:nvSpPr>
          <p:cNvPr id="20" name="Icon circle FaInfoCircle"/>
          <p:cNvSpPr/>
          <p:nvPr/>
        </p:nvSpPr>
        <p:spPr>
          <a:xfrm>
            <a:off x="731520" y="5330952"/>
            <a:ext cx="457200" cy="457200"/>
          </a:xfrm>
          <a:prstGeom prst="ellipse">
            <a:avLst/>
          </a:prstGeom>
          <a:solidFill>
            <a:schemeClr val="accent1"/>
          </a:solidFill>
          <a:ln/>
        </p:spPr>
      </p:sp>
      <p:pic>
        <p:nvPicPr>
          <p:cNvPr id="21" name="Image 0" descr="InfoCircle icon">    </p:cNvPr>
          <p:cNvPicPr>
            <a:picLocks noChangeAspect="1"/>
          </p:cNvPicPr>
          <p:nvPr/>
        </p:nvPicPr>
        <p:blipFill>
          <a:blip r:embed="rId1"/>
          <a:stretch>
            <a:fillRect/>
          </a:stretch>
        </p:blipFill>
        <p:spPr>
          <a:xfrm>
            <a:off x="850392" y="5449824"/>
            <a:ext cx="219456" cy="219456"/>
          </a:xfrm>
          <a:prstGeom prst="rect">
            <a:avLst/>
          </a:prstGeom>
        </p:spPr>
      </p:pic>
      <p:sp>
        <p:nvSpPr>
          <p:cNvPr id="22" name="Text 19"/>
          <p:cNvSpPr txBox="1"/>
          <p:nvPr/>
        </p:nvSpPr>
        <p:spPr>
          <a:xfrm>
            <a:off x="1371600" y="5120640"/>
            <a:ext cx="10058400" cy="868680"/>
          </a:xfrm>
          <a:prstGeom prst="rect">
            <a:avLst/>
          </a:prstGeom>
          <a:noFill/>
          <a:ln/>
        </p:spPr>
        <p:txBody>
          <a:bodyPr wrap="square" lIns="0" tIns="0" rIns="0" bIns="0" rtlCol="0" anchor="ctr"/>
          <a:lstStyle/>
          <a:p>
            <a:pPr indent="0" marL="0">
              <a:buNone/>
            </a:pPr>
            <a:r>
              <a:rPr lang="en-US" sz="1400" dirty="0">
                <a:solidFill>
                  <a:schemeClr val="tx1"/>
                </a:solidFill>
              </a:rPr>
              <a:t>Foreign key courses.category_id → categories.id gives a one-to-many link. init_db() creates the tables, upgrades older enrollments tables and seeds 5 categories and 6 courses on first start.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Enrollment Workflow</a:t>
            </a:r>
            <a:endParaRPr lang="en-US" sz="3400" dirty="0"/>
          </a:p>
        </p:txBody>
      </p:sp>
      <p:sp>
        <p:nvSpPr>
          <p:cNvPr id="3" name="Step 1 Open form"/>
          <p:cNvSpPr/>
          <p:nvPr/>
        </p:nvSpPr>
        <p:spPr>
          <a:xfrm>
            <a:off x="548640" y="141732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4" name="Step 1"/>
          <p:cNvSpPr/>
          <p:nvPr/>
        </p:nvSpPr>
        <p:spPr>
          <a:xfrm>
            <a:off x="731520" y="1600200"/>
            <a:ext cx="457200" cy="457200"/>
          </a:xfrm>
          <a:prstGeom prst="ellipse">
            <a:avLst/>
          </a:prstGeom>
          <a:solidFill>
            <a:schemeClr val="accent1"/>
          </a:solidFill>
          <a:ln/>
        </p:spPr>
      </p:sp>
      <p:sp>
        <p:nvSpPr>
          <p:cNvPr id="5" name="Text 3"/>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25880" y="160020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Open form</a:t>
            </a:r>
            <a:endParaRPr lang="en-US" sz="1600" dirty="0"/>
          </a:p>
        </p:txBody>
      </p:sp>
      <p:sp>
        <p:nvSpPr>
          <p:cNvPr id="7" name="Text 5"/>
          <p:cNvSpPr txBox="1"/>
          <p:nvPr/>
        </p:nvSpPr>
        <p:spPr>
          <a:xfrm>
            <a:off x="731520" y="228600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Categories and courses load into the dropdown lists</a:t>
            </a:r>
            <a:endParaRPr lang="en-US" sz="1400" dirty="0"/>
          </a:p>
        </p:txBody>
      </p:sp>
      <p:sp>
        <p:nvSpPr>
          <p:cNvPr id="8" name="Step arrow"/>
          <p:cNvSpPr/>
          <p:nvPr/>
        </p:nvSpPr>
        <p:spPr>
          <a:xfrm>
            <a:off x="3154680" y="2331720"/>
            <a:ext cx="182880" cy="320040"/>
          </a:xfrm>
          <a:prstGeom prst="chevron">
            <a:avLst/>
          </a:prstGeom>
          <a:solidFill>
            <a:schemeClr val="accent4"/>
          </a:solidFill>
          <a:ln/>
        </p:spPr>
      </p:sp>
      <p:sp>
        <p:nvSpPr>
          <p:cNvPr id="9" name="Step 2 Fill details"/>
          <p:cNvSpPr/>
          <p:nvPr/>
        </p:nvSpPr>
        <p:spPr>
          <a:xfrm>
            <a:off x="3383280" y="141732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10" name="Step 2"/>
          <p:cNvSpPr/>
          <p:nvPr/>
        </p:nvSpPr>
        <p:spPr>
          <a:xfrm>
            <a:off x="3566160" y="1600200"/>
            <a:ext cx="457200" cy="457200"/>
          </a:xfrm>
          <a:prstGeom prst="ellipse">
            <a:avLst/>
          </a:prstGeom>
          <a:solidFill>
            <a:schemeClr val="accent1"/>
          </a:solidFill>
          <a:ln/>
        </p:spPr>
      </p:sp>
      <p:sp>
        <p:nvSpPr>
          <p:cNvPr id="11" name="Text 9"/>
          <p:cNvSpPr txBox="1"/>
          <p:nvPr/>
        </p:nvSpPr>
        <p:spPr>
          <a:xfrm>
            <a:off x="356616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160520" y="160020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Fill details</a:t>
            </a:r>
            <a:endParaRPr lang="en-US" sz="1600" dirty="0"/>
          </a:p>
        </p:txBody>
      </p:sp>
      <p:sp>
        <p:nvSpPr>
          <p:cNvPr id="13" name="Text 11"/>
          <p:cNvSpPr txBox="1"/>
          <p:nvPr/>
        </p:nvSpPr>
        <p:spPr>
          <a:xfrm>
            <a:off x="3566160" y="228600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Name, email, phone, category and preferred course</a:t>
            </a:r>
            <a:endParaRPr lang="en-US" sz="1400" dirty="0"/>
          </a:p>
        </p:txBody>
      </p:sp>
      <p:sp>
        <p:nvSpPr>
          <p:cNvPr id="14" name="Step arrow"/>
          <p:cNvSpPr/>
          <p:nvPr/>
        </p:nvSpPr>
        <p:spPr>
          <a:xfrm>
            <a:off x="5989320" y="2331720"/>
            <a:ext cx="182880" cy="320040"/>
          </a:xfrm>
          <a:prstGeom prst="chevron">
            <a:avLst/>
          </a:prstGeom>
          <a:solidFill>
            <a:schemeClr val="accent4"/>
          </a:solidFill>
          <a:ln/>
        </p:spPr>
      </p:sp>
      <p:sp>
        <p:nvSpPr>
          <p:cNvPr id="15" name="Step 3 Browser check"/>
          <p:cNvSpPr/>
          <p:nvPr/>
        </p:nvSpPr>
        <p:spPr>
          <a:xfrm>
            <a:off x="6217920" y="141732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16" name="Step 3"/>
          <p:cNvSpPr/>
          <p:nvPr/>
        </p:nvSpPr>
        <p:spPr>
          <a:xfrm>
            <a:off x="6400800" y="1600200"/>
            <a:ext cx="457200" cy="457200"/>
          </a:xfrm>
          <a:prstGeom prst="ellipse">
            <a:avLst/>
          </a:prstGeom>
          <a:solidFill>
            <a:schemeClr val="accent1"/>
          </a:solidFill>
          <a:ln/>
        </p:spPr>
      </p:sp>
      <p:sp>
        <p:nvSpPr>
          <p:cNvPr id="17" name="Text 15"/>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995160" y="160020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Browser check</a:t>
            </a:r>
            <a:endParaRPr lang="en-US" sz="1600" dirty="0"/>
          </a:p>
        </p:txBody>
      </p:sp>
      <p:sp>
        <p:nvSpPr>
          <p:cNvPr id="19" name="Text 17"/>
          <p:cNvSpPr txBox="1"/>
          <p:nvPr/>
        </p:nvSpPr>
        <p:spPr>
          <a:xfrm>
            <a:off x="6400800" y="228600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Required fields and email format are validated</a:t>
            </a:r>
            <a:endParaRPr lang="en-US" sz="1400" dirty="0"/>
          </a:p>
        </p:txBody>
      </p:sp>
      <p:sp>
        <p:nvSpPr>
          <p:cNvPr id="20" name="Step arrow"/>
          <p:cNvSpPr/>
          <p:nvPr/>
        </p:nvSpPr>
        <p:spPr>
          <a:xfrm>
            <a:off x="8823960" y="2331720"/>
            <a:ext cx="182880" cy="320040"/>
          </a:xfrm>
          <a:prstGeom prst="chevron">
            <a:avLst/>
          </a:prstGeom>
          <a:solidFill>
            <a:schemeClr val="accent4"/>
          </a:solidFill>
          <a:ln/>
        </p:spPr>
      </p:sp>
      <p:sp>
        <p:nvSpPr>
          <p:cNvPr id="21" name="Step 4 POST request"/>
          <p:cNvSpPr/>
          <p:nvPr/>
        </p:nvSpPr>
        <p:spPr>
          <a:xfrm>
            <a:off x="9052560" y="141732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22" name="Step 4"/>
          <p:cNvSpPr/>
          <p:nvPr/>
        </p:nvSpPr>
        <p:spPr>
          <a:xfrm>
            <a:off x="9235440" y="1600200"/>
            <a:ext cx="457200" cy="457200"/>
          </a:xfrm>
          <a:prstGeom prst="ellipse">
            <a:avLst/>
          </a:prstGeom>
          <a:solidFill>
            <a:schemeClr val="accent1"/>
          </a:solidFill>
          <a:ln/>
        </p:spPr>
      </p:sp>
      <p:sp>
        <p:nvSpPr>
          <p:cNvPr id="23" name="Text 21"/>
          <p:cNvSpPr txBox="1"/>
          <p:nvPr/>
        </p:nvSpPr>
        <p:spPr>
          <a:xfrm>
            <a:off x="92354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9829800" y="160020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POST request</a:t>
            </a:r>
            <a:endParaRPr lang="en-US" sz="1600" dirty="0"/>
          </a:p>
        </p:txBody>
      </p:sp>
      <p:sp>
        <p:nvSpPr>
          <p:cNvPr id="25" name="Text 23"/>
          <p:cNvSpPr txBox="1"/>
          <p:nvPr/>
        </p:nvSpPr>
        <p:spPr>
          <a:xfrm>
            <a:off x="9235440" y="228600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Form data is submitted to the /enroll route</a:t>
            </a:r>
            <a:endParaRPr lang="en-US" sz="1400" dirty="0"/>
          </a:p>
        </p:txBody>
      </p:sp>
      <p:sp>
        <p:nvSpPr>
          <p:cNvPr id="26" name="Step 5 Server clean-up"/>
          <p:cNvSpPr/>
          <p:nvPr/>
        </p:nvSpPr>
        <p:spPr>
          <a:xfrm>
            <a:off x="548640" y="388620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27" name="Step 5"/>
          <p:cNvSpPr/>
          <p:nvPr/>
        </p:nvSpPr>
        <p:spPr>
          <a:xfrm>
            <a:off x="731520" y="4069080"/>
            <a:ext cx="457200" cy="457200"/>
          </a:xfrm>
          <a:prstGeom prst="ellipse">
            <a:avLst/>
          </a:prstGeom>
          <a:solidFill>
            <a:schemeClr val="accent1"/>
          </a:solidFill>
          <a:ln/>
        </p:spPr>
      </p:sp>
      <p:sp>
        <p:nvSpPr>
          <p:cNvPr id="28" name="Text 26"/>
          <p:cNvSpPr txBox="1"/>
          <p:nvPr/>
        </p:nvSpPr>
        <p:spPr>
          <a:xfrm>
            <a:off x="73152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9" name="Text 27"/>
          <p:cNvSpPr txBox="1"/>
          <p:nvPr/>
        </p:nvSpPr>
        <p:spPr>
          <a:xfrm>
            <a:off x="1325880" y="406908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Server clean-up</a:t>
            </a:r>
            <a:endParaRPr lang="en-US" sz="1600" dirty="0"/>
          </a:p>
        </p:txBody>
      </p:sp>
      <p:sp>
        <p:nvSpPr>
          <p:cNvPr id="30" name="Text 28"/>
          <p:cNvSpPr txBox="1"/>
          <p:nvPr/>
        </p:nvSpPr>
        <p:spPr>
          <a:xfrm>
            <a:off x="731520" y="475488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Values are read and extra spaces are removed</a:t>
            </a:r>
            <a:endParaRPr lang="en-US" sz="1400" dirty="0"/>
          </a:p>
        </p:txBody>
      </p:sp>
      <p:sp>
        <p:nvSpPr>
          <p:cNvPr id="31" name="Step arrow"/>
          <p:cNvSpPr/>
          <p:nvPr/>
        </p:nvSpPr>
        <p:spPr>
          <a:xfrm>
            <a:off x="3154680" y="4800600"/>
            <a:ext cx="182880" cy="320040"/>
          </a:xfrm>
          <a:prstGeom prst="chevron">
            <a:avLst/>
          </a:prstGeom>
          <a:solidFill>
            <a:schemeClr val="accent4"/>
          </a:solidFill>
          <a:ln/>
        </p:spPr>
      </p:sp>
      <p:sp>
        <p:nvSpPr>
          <p:cNvPr id="32" name="Step 6 Insert record"/>
          <p:cNvSpPr/>
          <p:nvPr/>
        </p:nvSpPr>
        <p:spPr>
          <a:xfrm>
            <a:off x="3383280" y="388620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33" name="Step 6"/>
          <p:cNvSpPr/>
          <p:nvPr/>
        </p:nvSpPr>
        <p:spPr>
          <a:xfrm>
            <a:off x="3566160" y="4069080"/>
            <a:ext cx="457200" cy="457200"/>
          </a:xfrm>
          <a:prstGeom prst="ellipse">
            <a:avLst/>
          </a:prstGeom>
          <a:solidFill>
            <a:schemeClr val="accent1"/>
          </a:solidFill>
          <a:ln/>
        </p:spPr>
      </p:sp>
      <p:sp>
        <p:nvSpPr>
          <p:cNvPr id="34" name="Text 32"/>
          <p:cNvSpPr txBox="1"/>
          <p:nvPr/>
        </p:nvSpPr>
        <p:spPr>
          <a:xfrm>
            <a:off x="356616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5" name="Text 33"/>
          <p:cNvSpPr txBox="1"/>
          <p:nvPr/>
        </p:nvSpPr>
        <p:spPr>
          <a:xfrm>
            <a:off x="4160520" y="406908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Insert record</a:t>
            </a:r>
            <a:endParaRPr lang="en-US" sz="1600" dirty="0"/>
          </a:p>
        </p:txBody>
      </p:sp>
      <p:sp>
        <p:nvSpPr>
          <p:cNvPr id="36" name="Text 34"/>
          <p:cNvSpPr txBox="1"/>
          <p:nvPr/>
        </p:nvSpPr>
        <p:spPr>
          <a:xfrm>
            <a:off x="3566160" y="475488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New row saved in enrollments with status Pending</a:t>
            </a:r>
            <a:endParaRPr lang="en-US" sz="1400" dirty="0"/>
          </a:p>
        </p:txBody>
      </p:sp>
      <p:sp>
        <p:nvSpPr>
          <p:cNvPr id="37" name="Step arrow"/>
          <p:cNvSpPr/>
          <p:nvPr/>
        </p:nvSpPr>
        <p:spPr>
          <a:xfrm>
            <a:off x="5989320" y="4800600"/>
            <a:ext cx="182880" cy="320040"/>
          </a:xfrm>
          <a:prstGeom prst="chevron">
            <a:avLst/>
          </a:prstGeom>
          <a:solidFill>
            <a:schemeClr val="accent4"/>
          </a:solidFill>
          <a:ln/>
        </p:spPr>
      </p:sp>
      <p:sp>
        <p:nvSpPr>
          <p:cNvPr id="38" name="Step 7 Success"/>
          <p:cNvSpPr/>
          <p:nvPr/>
        </p:nvSpPr>
        <p:spPr>
          <a:xfrm>
            <a:off x="6217920" y="388620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39" name="Step 7"/>
          <p:cNvSpPr/>
          <p:nvPr/>
        </p:nvSpPr>
        <p:spPr>
          <a:xfrm>
            <a:off x="6400800" y="4069080"/>
            <a:ext cx="457200" cy="457200"/>
          </a:xfrm>
          <a:prstGeom prst="ellipse">
            <a:avLst/>
          </a:prstGeom>
          <a:solidFill>
            <a:schemeClr val="accent6"/>
          </a:solidFill>
          <a:ln/>
        </p:spPr>
      </p:sp>
      <p:sp>
        <p:nvSpPr>
          <p:cNvPr id="40" name="Text 38"/>
          <p:cNvSpPr txBox="1"/>
          <p:nvPr/>
        </p:nvSpPr>
        <p:spPr>
          <a:xfrm>
            <a:off x="640080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41" name="Text 39"/>
          <p:cNvSpPr txBox="1"/>
          <p:nvPr/>
        </p:nvSpPr>
        <p:spPr>
          <a:xfrm>
            <a:off x="6995160" y="406908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Success</a:t>
            </a:r>
            <a:endParaRPr lang="en-US" sz="1600" dirty="0"/>
          </a:p>
        </p:txBody>
      </p:sp>
      <p:sp>
        <p:nvSpPr>
          <p:cNvPr id="42" name="Text 40"/>
          <p:cNvSpPr txBox="1"/>
          <p:nvPr/>
        </p:nvSpPr>
        <p:spPr>
          <a:xfrm>
            <a:off x="6400800" y="475488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Page reloads with a confirmation message</a:t>
            </a:r>
            <a:endParaRPr lang="en-US" sz="1400" dirty="0"/>
          </a:p>
        </p:txBody>
      </p:sp>
      <p:sp>
        <p:nvSpPr>
          <p:cNvPr id="43" name="Step arrow"/>
          <p:cNvSpPr/>
          <p:nvPr/>
        </p:nvSpPr>
        <p:spPr>
          <a:xfrm>
            <a:off x="8823960" y="4800600"/>
            <a:ext cx="182880" cy="320040"/>
          </a:xfrm>
          <a:prstGeom prst="chevron">
            <a:avLst/>
          </a:prstGeom>
          <a:solidFill>
            <a:schemeClr val="accent4"/>
          </a:solidFill>
          <a:ln/>
        </p:spPr>
      </p:sp>
      <p:sp>
        <p:nvSpPr>
          <p:cNvPr id="44" name="Step 8 Error path"/>
          <p:cNvSpPr/>
          <p:nvPr/>
        </p:nvSpPr>
        <p:spPr>
          <a:xfrm>
            <a:off x="9052560" y="3886200"/>
            <a:ext cx="2560320" cy="2148840"/>
          </a:xfrm>
          <a:prstGeom prst="roundRect">
            <a:avLst>
              <a:gd name="adj" fmla="val 5106"/>
            </a:avLst>
          </a:prstGeom>
          <a:solidFill>
            <a:schemeClr val="bg2"/>
          </a:solidFill>
          <a:ln/>
          <a:effectLst>
            <a:outerShdw sx="100000" sy="100000" kx="0" ky="0" algn="bl" rotWithShape="0" blurRad="101600" dist="25400" dir="5400000">
              <a:srgbClr val="000000">
                <a:alpha val="12000"/>
              </a:srgbClr>
            </a:outerShdw>
          </a:effectLst>
        </p:spPr>
      </p:sp>
      <p:sp>
        <p:nvSpPr>
          <p:cNvPr id="45" name="Step 8"/>
          <p:cNvSpPr/>
          <p:nvPr/>
        </p:nvSpPr>
        <p:spPr>
          <a:xfrm>
            <a:off x="9235440" y="4069080"/>
            <a:ext cx="457200" cy="457200"/>
          </a:xfrm>
          <a:prstGeom prst="ellipse">
            <a:avLst/>
          </a:prstGeom>
          <a:solidFill>
            <a:schemeClr val="accent5"/>
          </a:solidFill>
          <a:ln/>
        </p:spPr>
      </p:sp>
      <p:sp>
        <p:nvSpPr>
          <p:cNvPr id="46" name="Text 44"/>
          <p:cNvSpPr txBox="1"/>
          <p:nvPr/>
        </p:nvSpPr>
        <p:spPr>
          <a:xfrm>
            <a:off x="923544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7" name="Text 45"/>
          <p:cNvSpPr txBox="1"/>
          <p:nvPr/>
        </p:nvSpPr>
        <p:spPr>
          <a:xfrm>
            <a:off x="9829800" y="4069080"/>
            <a:ext cx="1691640" cy="457200"/>
          </a:xfrm>
          <a:prstGeom prst="rect">
            <a:avLst/>
          </a:prstGeom>
          <a:noFill/>
          <a:ln/>
        </p:spPr>
        <p:txBody>
          <a:bodyPr wrap="square" lIns="0" tIns="0" rIns="0" bIns="0" rtlCol="0" anchor="ctr"/>
          <a:lstStyle/>
          <a:p>
            <a:pPr indent="0" marL="0">
              <a:buNone/>
            </a:pPr>
            <a:r>
              <a:rPr lang="en-US" sz="1600" b="1" dirty="0">
                <a:solidFill>
                  <a:schemeClr val="tx2"/>
                </a:solidFill>
              </a:rPr>
              <a:t>Error path</a:t>
            </a:r>
            <a:endParaRPr lang="en-US" sz="1600" dirty="0"/>
          </a:p>
        </p:txBody>
      </p:sp>
      <p:sp>
        <p:nvSpPr>
          <p:cNvPr id="48" name="Text 46"/>
          <p:cNvSpPr txBox="1"/>
          <p:nvPr/>
        </p:nvSpPr>
        <p:spPr>
          <a:xfrm>
            <a:off x="9235440" y="4754880"/>
            <a:ext cx="2194560" cy="1097280"/>
          </a:xfrm>
          <a:prstGeom prst="rect">
            <a:avLst/>
          </a:prstGeom>
          <a:noFill/>
          <a:ln/>
        </p:spPr>
        <p:txBody>
          <a:bodyPr wrap="square" lIns="0" tIns="0" rIns="0" bIns="0" rtlCol="0" anchor="t"/>
          <a:lstStyle/>
          <a:p>
            <a:pPr indent="0" marL="0">
              <a:buNone/>
            </a:pPr>
            <a:r>
              <a:rPr lang="en-US" sz="1400" dirty="0">
                <a:solidFill>
                  <a:schemeClr val="accent4"/>
                </a:solidFill>
              </a:rPr>
              <a:t>Error is printed in the console and shown to the user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Key Code Highlights</a:t>
            </a:r>
            <a:endParaRPr lang="en-US" sz="3400" dirty="0"/>
          </a:p>
        </p:txBody>
      </p:sp>
      <p:sp>
        <p:nvSpPr>
          <p:cNvPr id="3" name="Text 1"/>
          <p:cNvSpPr txBox="1"/>
          <p:nvPr/>
        </p:nvSpPr>
        <p:spPr>
          <a:xfrm>
            <a:off x="548640" y="1371600"/>
            <a:ext cx="5440680" cy="320040"/>
          </a:xfrm>
          <a:prstGeom prst="rect">
            <a:avLst/>
          </a:prstGeom>
          <a:noFill/>
          <a:ln/>
        </p:spPr>
        <p:txBody>
          <a:bodyPr wrap="square" lIns="0" tIns="0" rIns="0" bIns="0" rtlCol="0" anchor="t"/>
          <a:lstStyle/>
          <a:p>
            <a:pPr indent="0" marL="0">
              <a:buNone/>
            </a:pPr>
            <a:r>
              <a:rPr lang="en-US" sz="1600" b="1" dirty="0">
                <a:solidFill>
                  <a:schemeClr val="tx2"/>
                </a:solidFill>
              </a:rPr>
              <a:t>Parameterised filter query</a:t>
            </a:r>
            <a:pPr indent="0" marL="0">
              <a:buNone/>
            </a:pPr>
            <a:r>
              <a:rPr lang="en-US" sz="1400" dirty="0">
                <a:solidFill>
                  <a:schemeClr val="accent4"/>
                </a:solidFill>
              </a:rPr>
              <a:t>   prevents SQL injection</a:t>
            </a:r>
            <a:endParaRPr lang="en-US" sz="1400" dirty="0"/>
          </a:p>
        </p:txBody>
      </p:sp>
      <p:sp>
        <p:nvSpPr>
          <p:cNvPr id="4" name="Code filter query"/>
          <p:cNvSpPr/>
          <p:nvPr/>
        </p:nvSpPr>
        <p:spPr>
          <a:xfrm>
            <a:off x="548640" y="1783080"/>
            <a:ext cx="5440680" cy="2194560"/>
          </a:xfrm>
          <a:prstGeom prst="roundRect">
            <a:avLst>
              <a:gd name="adj" fmla="val 4167"/>
            </a:avLst>
          </a:prstGeom>
          <a:solidFill>
            <a:schemeClr val="tx1"/>
          </a:solidFill>
          <a:ln/>
        </p:spPr>
      </p:sp>
      <p:sp>
        <p:nvSpPr>
          <p:cNvPr id="5" name="Text 3"/>
          <p:cNvSpPr txBox="1"/>
          <p:nvPr/>
        </p:nvSpPr>
        <p:spPr>
          <a:xfrm>
            <a:off x="777240" y="1965960"/>
            <a:ext cx="4983480" cy="182880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query = """SELECT c.*, cat.name AS category_name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FROM courses c</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JOIN categories cat ON c.category_id = cat.id"""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params =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if selected_category:</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query += " WHERE cat.name = %s"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params = (selected_category,)</a:t>
            </a:r>
            <a:endParaRPr lang="en-US" sz="1100" dirty="0"/>
          </a:p>
        </p:txBody>
      </p:sp>
      <p:sp>
        <p:nvSpPr>
          <p:cNvPr id="6" name="Text 4"/>
          <p:cNvSpPr txBox="1"/>
          <p:nvPr/>
        </p:nvSpPr>
        <p:spPr>
          <a:xfrm>
            <a:off x="6172200" y="1371600"/>
            <a:ext cx="5440680" cy="320040"/>
          </a:xfrm>
          <a:prstGeom prst="rect">
            <a:avLst/>
          </a:prstGeom>
          <a:noFill/>
          <a:ln/>
        </p:spPr>
        <p:txBody>
          <a:bodyPr wrap="square" lIns="0" tIns="0" rIns="0" bIns="0" rtlCol="0" anchor="t"/>
          <a:lstStyle/>
          <a:p>
            <a:pPr indent="0" marL="0">
              <a:buNone/>
            </a:pPr>
            <a:r>
              <a:rPr lang="en-US" sz="1600" b="1" dirty="0">
                <a:solidFill>
                  <a:schemeClr val="tx2"/>
                </a:solidFill>
              </a:rPr>
              <a:t>Login validation</a:t>
            </a:r>
            <a:pPr indent="0" marL="0">
              <a:buNone/>
            </a:pPr>
            <a:r>
              <a:rPr lang="en-US" sz="1400" dirty="0">
                <a:solidFill>
                  <a:schemeClr val="accent4"/>
                </a:solidFill>
              </a:rPr>
              <a:t>   checks input, then redirects</a:t>
            </a:r>
            <a:endParaRPr lang="en-US" sz="1400" dirty="0"/>
          </a:p>
        </p:txBody>
      </p:sp>
      <p:sp>
        <p:nvSpPr>
          <p:cNvPr id="7" name="Code login"/>
          <p:cNvSpPr/>
          <p:nvPr/>
        </p:nvSpPr>
        <p:spPr>
          <a:xfrm>
            <a:off x="6172200" y="1783080"/>
            <a:ext cx="5440680" cy="2194560"/>
          </a:xfrm>
          <a:prstGeom prst="roundRect">
            <a:avLst>
              <a:gd name="adj" fmla="val 4167"/>
            </a:avLst>
          </a:prstGeom>
          <a:solidFill>
            <a:schemeClr val="tx1"/>
          </a:solidFill>
          <a:ln/>
        </p:spPr>
      </p:sp>
      <p:sp>
        <p:nvSpPr>
          <p:cNvPr id="8" name="Text 6"/>
          <p:cNvSpPr txBox="1"/>
          <p:nvPr/>
        </p:nvSpPr>
        <p:spPr>
          <a:xfrm>
            <a:off x="6400800" y="1965960"/>
            <a:ext cx="4983480" cy="182880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if not username or not password: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error = "Please enter both username and password."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if len(password) &lt; 4:</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error = "Password should be at least 4 characters."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return RedirectResponse(url="/dashboard",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status_code=303)</a:t>
            </a:r>
            <a:endParaRPr lang="en-US" sz="1100" dirty="0"/>
          </a:p>
        </p:txBody>
      </p:sp>
      <p:sp>
        <p:nvSpPr>
          <p:cNvPr id="9" name="Text 7"/>
          <p:cNvSpPr txBox="1"/>
          <p:nvPr/>
        </p:nvSpPr>
        <p:spPr>
          <a:xfrm>
            <a:off x="548640" y="4160520"/>
            <a:ext cx="11064240" cy="320040"/>
          </a:xfrm>
          <a:prstGeom prst="rect">
            <a:avLst/>
          </a:prstGeom>
          <a:noFill/>
          <a:ln/>
        </p:spPr>
        <p:txBody>
          <a:bodyPr wrap="square" lIns="0" tIns="0" rIns="0" bIns="0" rtlCol="0" anchor="t"/>
          <a:lstStyle/>
          <a:p>
            <a:pPr indent="0" marL="0">
              <a:buNone/>
            </a:pPr>
            <a:r>
              <a:rPr lang="en-US" sz="1600" b="1" dirty="0">
                <a:solidFill>
                  <a:schemeClr val="tx2"/>
                </a:solidFill>
              </a:rPr>
              <a:t>Automatic database setup</a:t>
            </a:r>
            <a:pPr indent="0" marL="0">
              <a:buNone/>
            </a:pPr>
            <a:r>
              <a:rPr lang="en-US" sz="1400" dirty="0">
                <a:solidFill>
                  <a:schemeClr val="accent4"/>
                </a:solidFill>
              </a:rPr>
              <a:t>   migrate and seed on startup</a:t>
            </a:r>
            <a:endParaRPr lang="en-US" sz="1400" dirty="0"/>
          </a:p>
        </p:txBody>
      </p:sp>
      <p:sp>
        <p:nvSpPr>
          <p:cNvPr id="10" name="Code init db"/>
          <p:cNvSpPr/>
          <p:nvPr/>
        </p:nvSpPr>
        <p:spPr>
          <a:xfrm>
            <a:off x="548640" y="4526280"/>
            <a:ext cx="11064240" cy="1645920"/>
          </a:xfrm>
          <a:prstGeom prst="roundRect">
            <a:avLst>
              <a:gd name="adj" fmla="val 5556"/>
            </a:avLst>
          </a:prstGeom>
          <a:solidFill>
            <a:schemeClr val="tx1"/>
          </a:solidFill>
          <a:ln/>
        </p:spPr>
      </p:sp>
      <p:sp>
        <p:nvSpPr>
          <p:cNvPr id="11" name="Text 9"/>
          <p:cNvSpPr txBox="1"/>
          <p:nvPr/>
        </p:nvSpPr>
        <p:spPr>
          <a:xfrm>
            <a:off x="777240" y="4709160"/>
            <a:ext cx="10607040" cy="128016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cursor.execute("CREATE TABLE IF NOT EXISTS enrollments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cursor.execute("SHOW COLUMNS FROM enrollments LIKE 'phone'")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if cursor.fetchone() is None: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cursor.execute("ALTER TABLE enrollments ADD COLUMN phone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cursor.execute("SELECT COUNT(*) FROM courses")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if cursor.fetchone()[0] == 0:</a:t>
            </a:r>
            <a:pPr indent="0" marL="0">
              <a:buNone/>
            </a:pPr>
            <a:r>
              <a:rPr lang="en-US" sz="1100" dirty="0">
                <a:solidFill>
                  <a:schemeClr val="accent2"/>
                </a:solidFill>
                <a:latin typeface="Courier New" pitchFamily="34" charset="0"/>
                <a:ea typeface="Courier New" pitchFamily="34" charset="-122"/>
                <a:cs typeface="Courier New" pitchFamily="34" charset="-120"/>
              </a:rPr>
              <a:t>  # insert sample data only once</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Sample Output: Home and Login</a:t>
            </a:r>
            <a:endParaRPr lang="en-US" sz="3400" dirty="0"/>
          </a:p>
        </p:txBody>
      </p:sp>
      <p:sp>
        <p:nvSpPr>
          <p:cNvPr id="3" name="Frame Home page screenshot"/>
          <p:cNvSpPr/>
          <p:nvPr/>
        </p:nvSpPr>
        <p:spPr>
          <a:xfrm>
            <a:off x="484632" y="1444752"/>
            <a:ext cx="5522976" cy="2715644"/>
          </a:xfrm>
          <a:prstGeom prst="roundRect">
            <a:avLst>
              <a:gd name="adj" fmla="val 2694"/>
            </a:avLst>
          </a:prstGeom>
          <a:solidFill>
            <a:schemeClr val="bg2"/>
          </a:solidFill>
          <a:ln/>
          <a:effectLst>
            <a:outerShdw sx="100000" sy="100000" kx="0" ky="0" algn="bl" rotWithShape="0" blurRad="101600" dist="25400" dir="5400000">
              <a:srgbClr val="000000">
                <a:alpha val="12000"/>
              </a:srgbClr>
            </a:outerShdw>
          </a:effectLst>
        </p:spPr>
      </p:sp>
      <p:pic>
        <p:nvPicPr>
          <p:cNvPr id="4" name="Image 0" descr="Home page screenshot">    </p:cNvPr>
          <p:cNvPicPr>
            <a:picLocks noChangeAspect="1"/>
          </p:cNvPicPr>
          <p:nvPr/>
        </p:nvPicPr>
        <p:blipFill>
          <a:blip r:embed="rId1"/>
          <a:stretch>
            <a:fillRect/>
          </a:stretch>
        </p:blipFill>
        <p:spPr>
          <a:xfrm>
            <a:off x="548640" y="1508760"/>
            <a:ext cx="5394960" cy="2587628"/>
          </a:xfrm>
          <a:prstGeom prst="rect">
            <a:avLst/>
          </a:prstGeom>
        </p:spPr>
      </p:pic>
      <p:sp>
        <p:nvSpPr>
          <p:cNvPr id="5" name="Frame Login page screenshot"/>
          <p:cNvSpPr/>
          <p:nvPr/>
        </p:nvSpPr>
        <p:spPr>
          <a:xfrm>
            <a:off x="6153912" y="1444752"/>
            <a:ext cx="5522976" cy="2704206"/>
          </a:xfrm>
          <a:prstGeom prst="roundRect">
            <a:avLst>
              <a:gd name="adj" fmla="val 2705"/>
            </a:avLst>
          </a:prstGeom>
          <a:solidFill>
            <a:schemeClr val="bg2"/>
          </a:solidFill>
          <a:ln/>
          <a:effectLst>
            <a:outerShdw sx="100000" sy="100000" kx="0" ky="0" algn="bl" rotWithShape="0" blurRad="101600" dist="25400" dir="5400000">
              <a:srgbClr val="000000">
                <a:alpha val="12000"/>
              </a:srgbClr>
            </a:outerShdw>
          </a:effectLst>
        </p:spPr>
      </p:sp>
      <p:pic>
        <p:nvPicPr>
          <p:cNvPr id="6" name="Image 1" descr="Login page screenshot">    </p:cNvPr>
          <p:cNvPicPr>
            <a:picLocks noChangeAspect="1"/>
          </p:cNvPicPr>
          <p:nvPr/>
        </p:nvPicPr>
        <p:blipFill>
          <a:blip r:embed="rId2"/>
          <a:stretch>
            <a:fillRect/>
          </a:stretch>
        </p:blipFill>
        <p:spPr>
          <a:xfrm>
            <a:off x="6217920" y="1508760"/>
            <a:ext cx="5394960" cy="2576190"/>
          </a:xfrm>
          <a:prstGeom prst="rect">
            <a:avLst/>
          </a:prstGeom>
        </p:spPr>
      </p:pic>
      <p:sp>
        <p:nvSpPr>
          <p:cNvPr id="7" name="Text 3"/>
          <p:cNvSpPr txBox="1"/>
          <p:nvPr/>
        </p:nvSpPr>
        <p:spPr>
          <a:xfrm>
            <a:off x="548640" y="4297680"/>
            <a:ext cx="5394960" cy="320040"/>
          </a:xfrm>
          <a:prstGeom prst="rect">
            <a:avLst/>
          </a:prstGeom>
          <a:noFill/>
          <a:ln/>
        </p:spPr>
        <p:txBody>
          <a:bodyPr wrap="square" lIns="0" tIns="0" rIns="0" bIns="0" rtlCol="0" anchor="t"/>
          <a:lstStyle/>
          <a:p>
            <a:pPr indent="0" marL="0">
              <a:buNone/>
            </a:pPr>
            <a:r>
              <a:rPr lang="en-US" sz="1800" b="1" dirty="0">
                <a:solidFill>
                  <a:schemeClr val="tx2"/>
                </a:solidFill>
              </a:rPr>
              <a:t>Home Page</a:t>
            </a:r>
            <a:endParaRPr lang="en-US" sz="1800" dirty="0"/>
          </a:p>
        </p:txBody>
      </p:sp>
      <p:sp>
        <p:nvSpPr>
          <p:cNvPr id="8" name="Text 4"/>
          <p:cNvSpPr txBox="1"/>
          <p:nvPr/>
        </p:nvSpPr>
        <p:spPr>
          <a:xfrm>
            <a:off x="548640" y="4663440"/>
            <a:ext cx="5394960" cy="1280160"/>
          </a:xfrm>
          <a:prstGeom prst="rect">
            <a:avLst/>
          </a:prstGeom>
          <a:noFill/>
          <a:ln/>
        </p:spPr>
        <p:txBody>
          <a:bodyPr wrap="square" lIns="0" tIns="0" rIns="0" bIns="0" rtlCol="0" anchor="t"/>
          <a:lstStyle/>
          <a:p>
            <a:pPr indent="0" marL="0">
              <a:buNone/>
            </a:pPr>
            <a:r>
              <a:rPr lang="en-US" sz="1400" dirty="0">
                <a:solidFill>
                  <a:schemeClr val="tx1"/>
                </a:solidFill>
              </a:rPr>
              <a:t>Landing page with the EduSphere brand, navigation links, the headline “Grow your skills with modern, career-ready courses”, Start Learning and Explore Courses buttons, and a benefits panel.</a:t>
            </a:r>
            <a:endParaRPr lang="en-US" sz="1400" dirty="0"/>
          </a:p>
        </p:txBody>
      </p:sp>
      <p:sp>
        <p:nvSpPr>
          <p:cNvPr id="9" name="Text 5"/>
          <p:cNvSpPr txBox="1"/>
          <p:nvPr/>
        </p:nvSpPr>
        <p:spPr>
          <a:xfrm>
            <a:off x="6217920" y="4297680"/>
            <a:ext cx="5394960" cy="320040"/>
          </a:xfrm>
          <a:prstGeom prst="rect">
            <a:avLst/>
          </a:prstGeom>
          <a:noFill/>
          <a:ln/>
        </p:spPr>
        <p:txBody>
          <a:bodyPr wrap="square" lIns="0" tIns="0" rIns="0" bIns="0" rtlCol="0" anchor="t"/>
          <a:lstStyle/>
          <a:p>
            <a:pPr indent="0" marL="0">
              <a:buNone/>
            </a:pPr>
            <a:r>
              <a:rPr lang="en-US" sz="1800" b="1" dirty="0">
                <a:solidFill>
                  <a:schemeClr val="tx2"/>
                </a:solidFill>
              </a:rPr>
              <a:t>Login Page</a:t>
            </a:r>
            <a:endParaRPr lang="en-US" sz="1800" dirty="0"/>
          </a:p>
        </p:txBody>
      </p:sp>
      <p:sp>
        <p:nvSpPr>
          <p:cNvPr id="10" name="Text 6"/>
          <p:cNvSpPr txBox="1"/>
          <p:nvPr/>
        </p:nvSpPr>
        <p:spPr>
          <a:xfrm>
            <a:off x="6217920" y="4663440"/>
            <a:ext cx="5394960" cy="1280160"/>
          </a:xfrm>
          <a:prstGeom prst="rect">
            <a:avLst/>
          </a:prstGeom>
          <a:noFill/>
          <a:ln/>
        </p:spPr>
        <p:txBody>
          <a:bodyPr wrap="square" lIns="0" tIns="0" rIns="0" bIns="0" rtlCol="0" anchor="t"/>
          <a:lstStyle/>
          <a:p>
            <a:pPr indent="0" marL="0">
              <a:buNone/>
            </a:pPr>
            <a:r>
              <a:rPr lang="en-US" sz="1400" dirty="0">
                <a:solidFill>
                  <a:schemeClr val="tx1"/>
                </a:solidFill>
              </a:rPr>
              <a:t>Email or username and password fields with a Login button and an Enroll now link for new users. Invalid input appears in an error box above the form.</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Sample Output: Categories and Courses</a:t>
            </a:r>
            <a:endParaRPr lang="en-US" sz="3400" dirty="0"/>
          </a:p>
        </p:txBody>
      </p:sp>
      <p:sp>
        <p:nvSpPr>
          <p:cNvPr id="3" name="Pill Categories Page"/>
          <p:cNvSpPr/>
          <p:nvPr/>
        </p:nvSpPr>
        <p:spPr>
          <a:xfrm>
            <a:off x="548640" y="1371600"/>
            <a:ext cx="2377440" cy="384048"/>
          </a:xfrm>
          <a:prstGeom prst="roundRect">
            <a:avLst>
              <a:gd name="adj" fmla="val 50000"/>
            </a:avLst>
          </a:prstGeom>
          <a:solidFill>
            <a:schemeClr val="accent1"/>
          </a:solidFill>
          <a:ln/>
        </p:spPr>
      </p:sp>
      <p:sp>
        <p:nvSpPr>
          <p:cNvPr id="4" name="Text 2"/>
          <p:cNvSpPr txBox="1"/>
          <p:nvPr/>
        </p:nvSpPr>
        <p:spPr>
          <a:xfrm>
            <a:off x="548640" y="1371600"/>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rPr>
              <a:t>Categories Page</a:t>
            </a:r>
            <a:endParaRPr lang="en-US" sz="1400" dirty="0"/>
          </a:p>
        </p:txBody>
      </p:sp>
      <p:sp>
        <p:nvSpPr>
          <p:cNvPr id="5" name="Pill Course Catalog"/>
          <p:cNvSpPr/>
          <p:nvPr/>
        </p:nvSpPr>
        <p:spPr>
          <a:xfrm>
            <a:off x="6217920" y="1371600"/>
            <a:ext cx="2377440" cy="384048"/>
          </a:xfrm>
          <a:prstGeom prst="roundRect">
            <a:avLst>
              <a:gd name="adj" fmla="val 50000"/>
            </a:avLst>
          </a:prstGeom>
          <a:solidFill>
            <a:schemeClr val="accent1"/>
          </a:solidFill>
          <a:ln/>
        </p:spPr>
      </p:sp>
      <p:sp>
        <p:nvSpPr>
          <p:cNvPr id="6" name="Text 4"/>
          <p:cNvSpPr txBox="1"/>
          <p:nvPr/>
        </p:nvSpPr>
        <p:spPr>
          <a:xfrm>
            <a:off x="6217920" y="1371600"/>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rPr>
              <a:t>Course Catalog</a:t>
            </a:r>
            <a:endParaRPr lang="en-US" sz="1400" dirty="0"/>
          </a:p>
        </p:txBody>
      </p:sp>
      <p:sp>
        <p:nvSpPr>
          <p:cNvPr id="7" name="Frame Categories page screenshot"/>
          <p:cNvSpPr/>
          <p:nvPr/>
        </p:nvSpPr>
        <p:spPr>
          <a:xfrm>
            <a:off x="484632" y="1901952"/>
            <a:ext cx="5522976" cy="2689161"/>
          </a:xfrm>
          <a:prstGeom prst="roundRect">
            <a:avLst>
              <a:gd name="adj" fmla="val 2720"/>
            </a:avLst>
          </a:prstGeom>
          <a:solidFill>
            <a:schemeClr val="bg2"/>
          </a:solidFill>
          <a:ln/>
          <a:effectLst>
            <a:outerShdw sx="100000" sy="100000" kx="0" ky="0" algn="bl" rotWithShape="0" blurRad="101600" dist="25400" dir="5400000">
              <a:srgbClr val="000000">
                <a:alpha val="12000"/>
              </a:srgbClr>
            </a:outerShdw>
          </a:effectLst>
        </p:spPr>
      </p:sp>
      <p:pic>
        <p:nvPicPr>
          <p:cNvPr id="8" name="Image 0" descr="Categories page screenshot">    </p:cNvPr>
          <p:cNvPicPr>
            <a:picLocks noChangeAspect="1"/>
          </p:cNvPicPr>
          <p:nvPr/>
        </p:nvPicPr>
        <p:blipFill>
          <a:blip r:embed="rId1"/>
          <a:stretch>
            <a:fillRect/>
          </a:stretch>
        </p:blipFill>
        <p:spPr>
          <a:xfrm>
            <a:off x="548640" y="1965960"/>
            <a:ext cx="5394960" cy="2561145"/>
          </a:xfrm>
          <a:prstGeom prst="rect">
            <a:avLst/>
          </a:prstGeom>
        </p:spPr>
      </p:pic>
      <p:sp>
        <p:nvSpPr>
          <p:cNvPr id="9" name="Frame Course catalog screenshot"/>
          <p:cNvSpPr/>
          <p:nvPr/>
        </p:nvSpPr>
        <p:spPr>
          <a:xfrm>
            <a:off x="6153912" y="1901952"/>
            <a:ext cx="5522976" cy="2732644"/>
          </a:xfrm>
          <a:prstGeom prst="roundRect">
            <a:avLst>
              <a:gd name="adj" fmla="val 2677"/>
            </a:avLst>
          </a:prstGeom>
          <a:solidFill>
            <a:schemeClr val="bg2"/>
          </a:solidFill>
          <a:ln/>
          <a:effectLst>
            <a:outerShdw sx="100000" sy="100000" kx="0" ky="0" algn="bl" rotWithShape="0" blurRad="101600" dist="25400" dir="5400000">
              <a:srgbClr val="000000">
                <a:alpha val="12000"/>
              </a:srgbClr>
            </a:outerShdw>
          </a:effectLst>
        </p:spPr>
      </p:sp>
      <p:pic>
        <p:nvPicPr>
          <p:cNvPr id="10" name="Image 1" descr="Course catalog screenshot">    </p:cNvPr>
          <p:cNvPicPr>
            <a:picLocks noChangeAspect="1"/>
          </p:cNvPicPr>
          <p:nvPr/>
        </p:nvPicPr>
        <p:blipFill>
          <a:blip r:embed="rId2"/>
          <a:stretch>
            <a:fillRect/>
          </a:stretch>
        </p:blipFill>
        <p:spPr>
          <a:xfrm>
            <a:off x="6217920" y="1965960"/>
            <a:ext cx="5394960" cy="2604628"/>
          </a:xfrm>
          <a:prstGeom prst="rect">
            <a:avLst/>
          </a:prstGeom>
        </p:spPr>
      </p:pic>
      <p:sp>
        <p:nvSpPr>
          <p:cNvPr id="11" name="Text 7"/>
          <p:cNvSpPr txBox="1"/>
          <p:nvPr/>
        </p:nvSpPr>
        <p:spPr>
          <a:xfrm>
            <a:off x="548640" y="4846320"/>
            <a:ext cx="5394960" cy="1280160"/>
          </a:xfrm>
          <a:prstGeom prst="rect">
            <a:avLst/>
          </a:prstGeom>
          <a:noFill/>
          <a:ln/>
        </p:spPr>
        <p:txBody>
          <a:bodyPr wrap="square" lIns="0" tIns="0" rIns="0" bIns="0" rtlCol="0" anchor="t"/>
          <a:lstStyle/>
          <a:p>
            <a:pPr indent="0" marL="0">
              <a:buNone/>
            </a:pPr>
            <a:r>
              <a:rPr lang="en-US" sz="1400" dirty="0">
                <a:solidFill>
                  <a:schemeClr val="tx1"/>
                </a:solidFill>
              </a:rPr>
              <a:t>Five category cards: Computer Science, Business &amp; Leadership, Design &amp; Creative, Data Science, and Languages &amp; Communication. Each card has an Open category link to the filtered course list.</a:t>
            </a:r>
            <a:endParaRPr lang="en-US" sz="1400" dirty="0"/>
          </a:p>
        </p:txBody>
      </p:sp>
      <p:sp>
        <p:nvSpPr>
          <p:cNvPr id="12" name="Text 8"/>
          <p:cNvSpPr txBox="1"/>
          <p:nvPr/>
        </p:nvSpPr>
        <p:spPr>
          <a:xfrm>
            <a:off x="6217920" y="4846320"/>
            <a:ext cx="5394960" cy="1280160"/>
          </a:xfrm>
          <a:prstGeom prst="rect">
            <a:avLst/>
          </a:prstGeom>
          <a:noFill/>
          <a:ln/>
        </p:spPr>
        <p:txBody>
          <a:bodyPr wrap="square" lIns="0" tIns="0" rIns="0" bIns="0" rtlCol="0" anchor="t"/>
          <a:lstStyle/>
          <a:p>
            <a:pPr indent="0" marL="0">
              <a:buNone/>
            </a:pPr>
            <a:r>
              <a:rPr lang="en-US" sz="1400" dirty="0">
                <a:solidFill>
                  <a:schemeClr val="tx1"/>
                </a:solidFill>
              </a:rPr>
              <a:t>Course cards show title, description, category, instructor, duration, level and seats. The category filter is applied; Computer Science is selected in this output.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Sample Output: Enrollment</a:t>
            </a:r>
            <a:endParaRPr lang="en-US" sz="3400" dirty="0"/>
          </a:p>
        </p:txBody>
      </p:sp>
      <p:sp>
        <p:nvSpPr>
          <p:cNvPr id="3" name="Pill Enrollment Form"/>
          <p:cNvSpPr/>
          <p:nvPr/>
        </p:nvSpPr>
        <p:spPr>
          <a:xfrm>
            <a:off x="548640" y="1371600"/>
            <a:ext cx="2377440" cy="384048"/>
          </a:xfrm>
          <a:prstGeom prst="roundRect">
            <a:avLst>
              <a:gd name="adj" fmla="val 50000"/>
            </a:avLst>
          </a:prstGeom>
          <a:solidFill>
            <a:schemeClr val="accent1"/>
          </a:solidFill>
          <a:ln/>
        </p:spPr>
      </p:sp>
      <p:sp>
        <p:nvSpPr>
          <p:cNvPr id="4" name="Text 2"/>
          <p:cNvSpPr txBox="1"/>
          <p:nvPr/>
        </p:nvSpPr>
        <p:spPr>
          <a:xfrm>
            <a:off x="548640" y="1371600"/>
            <a:ext cx="2377440" cy="384048"/>
          </a:xfrm>
          <a:prstGeom prst="rect">
            <a:avLst/>
          </a:prstGeom>
          <a:noFill/>
          <a:ln/>
        </p:spPr>
        <p:txBody>
          <a:bodyPr wrap="square" lIns="0" tIns="0" rIns="0" bIns="0" rtlCol="0" anchor="ctr"/>
          <a:lstStyle/>
          <a:p>
            <a:pPr algn="ctr" indent="0" marL="0">
              <a:buNone/>
            </a:pPr>
            <a:r>
              <a:rPr lang="en-US" sz="1400" b="1" dirty="0">
                <a:solidFill>
                  <a:schemeClr val="bg1"/>
                </a:solidFill>
              </a:rPr>
              <a:t>Enrollment Form</a:t>
            </a:r>
            <a:endParaRPr lang="en-US" sz="1400" dirty="0"/>
          </a:p>
        </p:txBody>
      </p:sp>
      <p:sp>
        <p:nvSpPr>
          <p:cNvPr id="5" name="Pill Successful Submission"/>
          <p:cNvSpPr/>
          <p:nvPr/>
        </p:nvSpPr>
        <p:spPr>
          <a:xfrm>
            <a:off x="6400800" y="1371600"/>
            <a:ext cx="2651760" cy="384048"/>
          </a:xfrm>
          <a:prstGeom prst="roundRect">
            <a:avLst>
              <a:gd name="adj" fmla="val 50000"/>
            </a:avLst>
          </a:prstGeom>
          <a:solidFill>
            <a:schemeClr val="accent6"/>
          </a:solidFill>
          <a:ln/>
        </p:spPr>
      </p:sp>
      <p:sp>
        <p:nvSpPr>
          <p:cNvPr id="6" name="Text 4"/>
          <p:cNvSpPr txBox="1"/>
          <p:nvPr/>
        </p:nvSpPr>
        <p:spPr>
          <a:xfrm>
            <a:off x="6400800" y="1371600"/>
            <a:ext cx="2651760" cy="384048"/>
          </a:xfrm>
          <a:prstGeom prst="rect">
            <a:avLst/>
          </a:prstGeom>
          <a:noFill/>
          <a:ln/>
        </p:spPr>
        <p:txBody>
          <a:bodyPr wrap="square" lIns="0" tIns="0" rIns="0" bIns="0" rtlCol="0" anchor="ctr"/>
          <a:lstStyle/>
          <a:p>
            <a:pPr algn="ctr" indent="0" marL="0">
              <a:buNone/>
            </a:pPr>
            <a:r>
              <a:rPr lang="en-US" sz="1400" b="1" dirty="0">
                <a:solidFill>
                  <a:schemeClr val="bg1"/>
                </a:solidFill>
              </a:rPr>
              <a:t>Successful Submission</a:t>
            </a:r>
            <a:endParaRPr lang="en-US" sz="1400" dirty="0"/>
          </a:p>
        </p:txBody>
      </p:sp>
      <p:sp>
        <p:nvSpPr>
          <p:cNvPr id="7" name="Frame Enrollment form screenshot"/>
          <p:cNvSpPr/>
          <p:nvPr/>
        </p:nvSpPr>
        <p:spPr>
          <a:xfrm>
            <a:off x="484632" y="1901952"/>
            <a:ext cx="5340096" cy="2625950"/>
          </a:xfrm>
          <a:prstGeom prst="roundRect">
            <a:avLst>
              <a:gd name="adj" fmla="val 2786"/>
            </a:avLst>
          </a:prstGeom>
          <a:solidFill>
            <a:schemeClr val="bg2"/>
          </a:solidFill>
          <a:ln/>
          <a:effectLst>
            <a:outerShdw sx="100000" sy="100000" kx="0" ky="0" algn="bl" rotWithShape="0" blurRad="101600" dist="25400" dir="5400000">
              <a:srgbClr val="000000">
                <a:alpha val="12000"/>
              </a:srgbClr>
            </a:outerShdw>
          </a:effectLst>
        </p:spPr>
      </p:sp>
      <p:pic>
        <p:nvPicPr>
          <p:cNvPr id="8" name="Image 0" descr="Enrollment form screenshot">    </p:cNvPr>
          <p:cNvPicPr>
            <a:picLocks noChangeAspect="1"/>
          </p:cNvPicPr>
          <p:nvPr/>
        </p:nvPicPr>
        <p:blipFill>
          <a:blip r:embed="rId1"/>
          <a:stretch>
            <a:fillRect/>
          </a:stretch>
        </p:blipFill>
        <p:spPr>
          <a:xfrm>
            <a:off x="548640" y="1965960"/>
            <a:ext cx="5212080" cy="2497934"/>
          </a:xfrm>
          <a:prstGeom prst="rect">
            <a:avLst/>
          </a:prstGeom>
        </p:spPr>
      </p:pic>
      <p:sp>
        <p:nvSpPr>
          <p:cNvPr id="9" name="Frame Successful enrollment screenshot"/>
          <p:cNvSpPr/>
          <p:nvPr/>
        </p:nvSpPr>
        <p:spPr>
          <a:xfrm>
            <a:off x="6336792" y="1901952"/>
            <a:ext cx="5340096" cy="2596170"/>
          </a:xfrm>
          <a:prstGeom prst="roundRect">
            <a:avLst>
              <a:gd name="adj" fmla="val 2818"/>
            </a:avLst>
          </a:prstGeom>
          <a:solidFill>
            <a:schemeClr val="bg2"/>
          </a:solidFill>
          <a:ln/>
          <a:effectLst>
            <a:outerShdw sx="100000" sy="100000" kx="0" ky="0" algn="bl" rotWithShape="0" blurRad="101600" dist="25400" dir="5400000">
              <a:srgbClr val="000000">
                <a:alpha val="12000"/>
              </a:srgbClr>
            </a:outerShdw>
          </a:effectLst>
        </p:spPr>
      </p:sp>
      <p:pic>
        <p:nvPicPr>
          <p:cNvPr id="10" name="Image 1" descr="Successful enrollment screenshot">    </p:cNvPr>
          <p:cNvPicPr>
            <a:picLocks noChangeAspect="1"/>
          </p:cNvPicPr>
          <p:nvPr/>
        </p:nvPicPr>
        <p:blipFill>
          <a:blip r:embed="rId2"/>
          <a:stretch>
            <a:fillRect/>
          </a:stretch>
        </p:blipFill>
        <p:spPr>
          <a:xfrm>
            <a:off x="6400800" y="1965960"/>
            <a:ext cx="5212080" cy="2468154"/>
          </a:xfrm>
          <a:prstGeom prst="rect">
            <a:avLst/>
          </a:prstGeom>
        </p:spPr>
      </p:pic>
      <p:sp>
        <p:nvSpPr>
          <p:cNvPr id="11" name="Submit arrow"/>
          <p:cNvSpPr/>
          <p:nvPr/>
        </p:nvSpPr>
        <p:spPr>
          <a:xfrm>
            <a:off x="5852160" y="3017520"/>
            <a:ext cx="457200" cy="365760"/>
          </a:xfrm>
          <a:prstGeom prst="rightArrow">
            <a:avLst/>
          </a:prstGeom>
          <a:solidFill>
            <a:schemeClr val="accent1"/>
          </a:solidFill>
          <a:ln/>
        </p:spPr>
      </p:sp>
      <p:sp>
        <p:nvSpPr>
          <p:cNvPr id="12" name="Text 8"/>
          <p:cNvSpPr txBox="1"/>
          <p:nvPr/>
        </p:nvSpPr>
        <p:spPr>
          <a:xfrm>
            <a:off x="548640" y="4663440"/>
            <a:ext cx="5212080" cy="822960"/>
          </a:xfrm>
          <a:prstGeom prst="rect">
            <a:avLst/>
          </a:prstGeom>
          <a:noFill/>
          <a:ln/>
        </p:spPr>
        <p:txBody>
          <a:bodyPr wrap="square" lIns="0" tIns="0" rIns="0" bIns="0" rtlCol="0" anchor="t"/>
          <a:lstStyle/>
          <a:p>
            <a:pPr indent="0" marL="0">
              <a:buNone/>
            </a:pPr>
            <a:r>
              <a:rPr lang="en-US" sz="1400" dirty="0">
                <a:solidFill>
                  <a:schemeClr val="tx1"/>
                </a:solidFill>
              </a:rPr>
              <a:t>Learners enter full name, email, phone, category and preferred course. Name and email are required and the email format is checked.</a:t>
            </a:r>
            <a:endParaRPr lang="en-US" sz="1400" dirty="0"/>
          </a:p>
        </p:txBody>
      </p:sp>
      <p:sp>
        <p:nvSpPr>
          <p:cNvPr id="13" name="Text 9"/>
          <p:cNvSpPr txBox="1"/>
          <p:nvPr/>
        </p:nvSpPr>
        <p:spPr>
          <a:xfrm>
            <a:off x="6400800" y="4663440"/>
            <a:ext cx="5212080" cy="822960"/>
          </a:xfrm>
          <a:prstGeom prst="rect">
            <a:avLst/>
          </a:prstGeom>
          <a:noFill/>
          <a:ln/>
        </p:spPr>
        <p:txBody>
          <a:bodyPr wrap="square" lIns="0" tIns="0" rIns="0" bIns="0" rtlCol="0" anchor="t"/>
          <a:lstStyle/>
          <a:p>
            <a:pPr indent="0" marL="0">
              <a:buNone/>
            </a:pPr>
            <a:r>
              <a:rPr lang="en-US" sz="1400" dirty="0">
                <a:solidFill>
                  <a:schemeClr val="tx1"/>
                </a:solidFill>
              </a:rPr>
              <a:t>A valid submission is saved to the database and the page confirms: “Enrollment submitted successfully. We will contact you shortly.”</a:t>
            </a:r>
            <a:endParaRPr lang="en-US" sz="1400" dirty="0"/>
          </a:p>
        </p:txBody>
      </p:sp>
      <p:sp>
        <p:nvSpPr>
          <p:cNvPr id="14" name="Fact Status set to Pending"/>
          <p:cNvSpPr/>
          <p:nvPr/>
        </p:nvSpPr>
        <p:spPr>
          <a:xfrm>
            <a:off x="548640" y="5623560"/>
            <a:ext cx="3566160" cy="502920"/>
          </a:xfrm>
          <a:prstGeom prst="roundRect">
            <a:avLst>
              <a:gd name="adj" fmla="val 21818"/>
            </a:avLst>
          </a:prstGeom>
          <a:solidFill>
            <a:schemeClr val="bg2"/>
          </a:solidFill>
          <a:ln/>
        </p:spPr>
      </p:sp>
      <p:pic>
        <p:nvPicPr>
          <p:cNvPr id="15" name="Image 2" descr="Check icon">    </p:cNvPr>
          <p:cNvPicPr>
            <a:picLocks noChangeAspect="1"/>
          </p:cNvPicPr>
          <p:nvPr/>
        </p:nvPicPr>
        <p:blipFill>
          <a:blip r:embed="rId3"/>
          <a:stretch>
            <a:fillRect/>
          </a:stretch>
        </p:blipFill>
        <p:spPr>
          <a:xfrm>
            <a:off x="731520" y="5742432"/>
            <a:ext cx="274320" cy="274320"/>
          </a:xfrm>
          <a:prstGeom prst="rect">
            <a:avLst/>
          </a:prstGeom>
        </p:spPr>
      </p:pic>
      <p:sp>
        <p:nvSpPr>
          <p:cNvPr id="16" name="Text 11"/>
          <p:cNvSpPr txBox="1"/>
          <p:nvPr/>
        </p:nvSpPr>
        <p:spPr>
          <a:xfrm>
            <a:off x="1143000" y="5623560"/>
            <a:ext cx="2834640" cy="502920"/>
          </a:xfrm>
          <a:prstGeom prst="rect">
            <a:avLst/>
          </a:prstGeom>
          <a:noFill/>
          <a:ln/>
        </p:spPr>
        <p:txBody>
          <a:bodyPr wrap="square" lIns="0" tIns="0" rIns="0" bIns="0" rtlCol="0" anchor="ctr"/>
          <a:lstStyle/>
          <a:p>
            <a:pPr indent="0" marL="0">
              <a:buNone/>
            </a:pPr>
            <a:r>
              <a:rPr lang="en-US" sz="1400" b="1" dirty="0">
                <a:solidFill>
                  <a:schemeClr val="tx2"/>
                </a:solidFill>
              </a:rPr>
              <a:t>Status set to Pending</a:t>
            </a:r>
            <a:endParaRPr lang="en-US" sz="1400" dirty="0"/>
          </a:p>
        </p:txBody>
      </p:sp>
      <p:sp>
        <p:nvSpPr>
          <p:cNvPr id="17" name="Fact Timestamp recorded automatically"/>
          <p:cNvSpPr/>
          <p:nvPr/>
        </p:nvSpPr>
        <p:spPr>
          <a:xfrm>
            <a:off x="4297680" y="5623560"/>
            <a:ext cx="3566160" cy="502920"/>
          </a:xfrm>
          <a:prstGeom prst="roundRect">
            <a:avLst>
              <a:gd name="adj" fmla="val 21818"/>
            </a:avLst>
          </a:prstGeom>
          <a:solidFill>
            <a:schemeClr val="bg2"/>
          </a:solidFill>
          <a:ln/>
        </p:spPr>
      </p:sp>
      <p:pic>
        <p:nvPicPr>
          <p:cNvPr id="18" name="Image 3" descr="Check icon">    </p:cNvPr>
          <p:cNvPicPr>
            <a:picLocks noChangeAspect="1"/>
          </p:cNvPicPr>
          <p:nvPr/>
        </p:nvPicPr>
        <p:blipFill>
          <a:blip r:embed="rId4"/>
          <a:stretch>
            <a:fillRect/>
          </a:stretch>
        </p:blipFill>
        <p:spPr>
          <a:xfrm>
            <a:off x="4480560" y="5742432"/>
            <a:ext cx="274320" cy="274320"/>
          </a:xfrm>
          <a:prstGeom prst="rect">
            <a:avLst/>
          </a:prstGeom>
        </p:spPr>
      </p:pic>
      <p:sp>
        <p:nvSpPr>
          <p:cNvPr id="19" name="Text 13"/>
          <p:cNvSpPr txBox="1"/>
          <p:nvPr/>
        </p:nvSpPr>
        <p:spPr>
          <a:xfrm>
            <a:off x="4892040" y="5623560"/>
            <a:ext cx="2834640" cy="502920"/>
          </a:xfrm>
          <a:prstGeom prst="rect">
            <a:avLst/>
          </a:prstGeom>
          <a:noFill/>
          <a:ln/>
        </p:spPr>
        <p:txBody>
          <a:bodyPr wrap="square" lIns="0" tIns="0" rIns="0" bIns="0" rtlCol="0" anchor="ctr"/>
          <a:lstStyle/>
          <a:p>
            <a:pPr indent="0" marL="0">
              <a:buNone/>
            </a:pPr>
            <a:r>
              <a:rPr lang="en-US" sz="1400" b="1" dirty="0">
                <a:solidFill>
                  <a:schemeClr val="tx2"/>
                </a:solidFill>
              </a:rPr>
              <a:t>Timestamp recorded automatically</a:t>
            </a:r>
            <a:endParaRPr lang="en-US" sz="1400" dirty="0"/>
          </a:p>
        </p:txBody>
      </p:sp>
      <p:sp>
        <p:nvSpPr>
          <p:cNvPr id="20" name="Fact Confirmation shown instantly"/>
          <p:cNvSpPr/>
          <p:nvPr/>
        </p:nvSpPr>
        <p:spPr>
          <a:xfrm>
            <a:off x="8046720" y="5623560"/>
            <a:ext cx="3566160" cy="502920"/>
          </a:xfrm>
          <a:prstGeom prst="roundRect">
            <a:avLst>
              <a:gd name="adj" fmla="val 21818"/>
            </a:avLst>
          </a:prstGeom>
          <a:solidFill>
            <a:schemeClr val="bg2"/>
          </a:solidFill>
          <a:ln/>
        </p:spPr>
      </p:sp>
      <p:pic>
        <p:nvPicPr>
          <p:cNvPr id="21" name="Image 4" descr="Check icon">    </p:cNvPr>
          <p:cNvPicPr>
            <a:picLocks noChangeAspect="1"/>
          </p:cNvPicPr>
          <p:nvPr/>
        </p:nvPicPr>
        <p:blipFill>
          <a:blip r:embed="rId5"/>
          <a:stretch>
            <a:fillRect/>
          </a:stretch>
        </p:blipFill>
        <p:spPr>
          <a:xfrm>
            <a:off x="8229600" y="5742432"/>
            <a:ext cx="274320" cy="274320"/>
          </a:xfrm>
          <a:prstGeom prst="rect">
            <a:avLst/>
          </a:prstGeom>
        </p:spPr>
      </p:pic>
      <p:sp>
        <p:nvSpPr>
          <p:cNvPr id="22" name="Text 15"/>
          <p:cNvSpPr txBox="1"/>
          <p:nvPr/>
        </p:nvSpPr>
        <p:spPr>
          <a:xfrm>
            <a:off x="8641080" y="5623560"/>
            <a:ext cx="2834640" cy="502920"/>
          </a:xfrm>
          <a:prstGeom prst="rect">
            <a:avLst/>
          </a:prstGeom>
          <a:noFill/>
          <a:ln/>
        </p:spPr>
        <p:txBody>
          <a:bodyPr wrap="square" lIns="0" tIns="0" rIns="0" bIns="0" rtlCol="0" anchor="ctr"/>
          <a:lstStyle/>
          <a:p>
            <a:pPr indent="0" marL="0">
              <a:buNone/>
            </a:pPr>
            <a:r>
              <a:rPr lang="en-US" sz="1400" b="1" dirty="0">
                <a:solidFill>
                  <a:schemeClr val="tx2"/>
                </a:solidFill>
              </a:rPr>
              <a:t>Confirmation shown instantly</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Testing and Analysis</a:t>
            </a:r>
            <a:endParaRPr lang="en-US" sz="3400" dirty="0"/>
          </a:p>
        </p:txBody>
      </p:sp>
      <p:sp>
        <p:nvSpPr>
          <p:cNvPr id="3" name="Verified card"/>
          <p:cNvSpPr/>
          <p:nvPr/>
        </p:nvSpPr>
        <p:spPr>
          <a:xfrm>
            <a:off x="548640" y="1371600"/>
            <a:ext cx="5394960" cy="4114800"/>
          </a:xfrm>
          <a:prstGeom prst="roundRect">
            <a:avLst>
              <a:gd name="adj" fmla="val 2667"/>
            </a:avLst>
          </a:prstGeom>
          <a:solidFill>
            <a:schemeClr val="bg2"/>
          </a:solidFill>
          <a:ln/>
          <a:effectLst>
            <a:outerShdw sx="100000" sy="100000" kx="0" ky="0" algn="bl" rotWithShape="0" blurRad="101600" dist="25400" dir="5400000">
              <a:srgbClr val="000000">
                <a:alpha val="12000"/>
              </a:srgbClr>
            </a:outerShdw>
          </a:effectLst>
        </p:spPr>
      </p:sp>
      <p:sp>
        <p:nvSpPr>
          <p:cNvPr id="4" name="Text 2"/>
          <p:cNvSpPr txBox="1"/>
          <p:nvPr/>
        </p:nvSpPr>
        <p:spPr>
          <a:xfrm>
            <a:off x="822960" y="1554480"/>
            <a:ext cx="4846320" cy="320040"/>
          </a:xfrm>
          <a:prstGeom prst="rect">
            <a:avLst/>
          </a:prstGeom>
          <a:noFill/>
          <a:ln/>
        </p:spPr>
        <p:txBody>
          <a:bodyPr wrap="square" lIns="0" tIns="0" rIns="0" bIns="0" rtlCol="0" anchor="t"/>
          <a:lstStyle/>
          <a:p>
            <a:pPr indent="0" marL="0">
              <a:buNone/>
            </a:pPr>
            <a:r>
              <a:rPr lang="en-US" sz="1800" b="1" dirty="0">
                <a:solidFill>
                  <a:schemeClr val="tx2"/>
                </a:solidFill>
              </a:rPr>
              <a:t>Verified working</a:t>
            </a:r>
            <a:endParaRPr lang="en-US" sz="1800" dirty="0"/>
          </a:p>
        </p:txBody>
      </p:sp>
      <p:pic>
        <p:nvPicPr>
          <p:cNvPr id="5" name="Image 0" descr="Check icon">    </p:cNvPr>
          <p:cNvPicPr>
            <a:picLocks noChangeAspect="1"/>
          </p:cNvPicPr>
          <p:nvPr/>
        </p:nvPicPr>
        <p:blipFill>
          <a:blip r:embed="rId1"/>
          <a:stretch>
            <a:fillRect/>
          </a:stretch>
        </p:blipFill>
        <p:spPr>
          <a:xfrm>
            <a:off x="822960" y="2057400"/>
            <a:ext cx="292608" cy="292608"/>
          </a:xfrm>
          <a:prstGeom prst="rect">
            <a:avLst/>
          </a:prstGeom>
        </p:spPr>
      </p:pic>
      <p:sp>
        <p:nvSpPr>
          <p:cNvPr id="6" name="Text 3"/>
          <p:cNvSpPr txBox="1"/>
          <p:nvPr/>
        </p:nvSpPr>
        <p:spPr>
          <a:xfrm>
            <a:off x="1280160" y="2011680"/>
            <a:ext cx="4480560" cy="384048"/>
          </a:xfrm>
          <a:prstGeom prst="rect">
            <a:avLst/>
          </a:prstGeom>
          <a:noFill/>
          <a:ln/>
        </p:spPr>
        <p:txBody>
          <a:bodyPr wrap="square" lIns="0" tIns="0" rIns="0" bIns="0" rtlCol="0" anchor="ctr"/>
          <a:lstStyle/>
          <a:p>
            <a:pPr indent="0" marL="0">
              <a:buNone/>
            </a:pPr>
            <a:r>
              <a:rPr lang="en-US" sz="1500" dirty="0">
                <a:solidFill>
                  <a:schemeClr val="tx1"/>
                </a:solidFill>
              </a:rPr>
              <a:t>Category browsing</a:t>
            </a:r>
            <a:endParaRPr lang="en-US" sz="1500" dirty="0"/>
          </a:p>
        </p:txBody>
      </p:sp>
      <p:pic>
        <p:nvPicPr>
          <p:cNvPr id="7" name="Image 1" descr="Check icon">    </p:cNvPr>
          <p:cNvPicPr>
            <a:picLocks noChangeAspect="1"/>
          </p:cNvPicPr>
          <p:nvPr/>
        </p:nvPicPr>
        <p:blipFill>
          <a:blip r:embed="rId2"/>
          <a:stretch>
            <a:fillRect/>
          </a:stretch>
        </p:blipFill>
        <p:spPr>
          <a:xfrm>
            <a:off x="822960" y="2478024"/>
            <a:ext cx="292608" cy="292608"/>
          </a:xfrm>
          <a:prstGeom prst="rect">
            <a:avLst/>
          </a:prstGeom>
        </p:spPr>
      </p:pic>
      <p:sp>
        <p:nvSpPr>
          <p:cNvPr id="8" name="Text 4"/>
          <p:cNvSpPr txBox="1"/>
          <p:nvPr/>
        </p:nvSpPr>
        <p:spPr>
          <a:xfrm>
            <a:off x="1280160" y="2432304"/>
            <a:ext cx="4480560" cy="384048"/>
          </a:xfrm>
          <a:prstGeom prst="rect">
            <a:avLst/>
          </a:prstGeom>
          <a:noFill/>
          <a:ln/>
        </p:spPr>
        <p:txBody>
          <a:bodyPr wrap="square" lIns="0" tIns="0" rIns="0" bIns="0" rtlCol="0" anchor="ctr"/>
          <a:lstStyle/>
          <a:p>
            <a:pPr indent="0" marL="0">
              <a:buNone/>
            </a:pPr>
            <a:r>
              <a:rPr lang="en-US" sz="1500" dirty="0">
                <a:solidFill>
                  <a:schemeClr val="tx1"/>
                </a:solidFill>
              </a:rPr>
              <a:t>Course filtering by category</a:t>
            </a:r>
            <a:endParaRPr lang="en-US" sz="1500" dirty="0"/>
          </a:p>
        </p:txBody>
      </p:sp>
      <p:pic>
        <p:nvPicPr>
          <p:cNvPr id="9" name="Image 2" descr="Check icon">    </p:cNvPr>
          <p:cNvPicPr>
            <a:picLocks noChangeAspect="1"/>
          </p:cNvPicPr>
          <p:nvPr/>
        </p:nvPicPr>
        <p:blipFill>
          <a:blip r:embed="rId3"/>
          <a:stretch>
            <a:fillRect/>
          </a:stretch>
        </p:blipFill>
        <p:spPr>
          <a:xfrm>
            <a:off x="822960" y="2898648"/>
            <a:ext cx="292608" cy="292608"/>
          </a:xfrm>
          <a:prstGeom prst="rect">
            <a:avLst/>
          </a:prstGeom>
        </p:spPr>
      </p:pic>
      <p:sp>
        <p:nvSpPr>
          <p:cNvPr id="10" name="Text 5"/>
          <p:cNvSpPr txBox="1"/>
          <p:nvPr/>
        </p:nvSpPr>
        <p:spPr>
          <a:xfrm>
            <a:off x="1280160" y="2852928"/>
            <a:ext cx="4480560" cy="384048"/>
          </a:xfrm>
          <a:prstGeom prst="rect">
            <a:avLst/>
          </a:prstGeom>
          <a:noFill/>
          <a:ln/>
        </p:spPr>
        <p:txBody>
          <a:bodyPr wrap="square" lIns="0" tIns="0" rIns="0" bIns="0" rtlCol="0" anchor="ctr"/>
          <a:lstStyle/>
          <a:p>
            <a:pPr indent="0" marL="0">
              <a:buNone/>
            </a:pPr>
            <a:r>
              <a:rPr lang="en-US" sz="1500" dirty="0">
                <a:solidFill>
                  <a:schemeClr val="tx1"/>
                </a:solidFill>
              </a:rPr>
              <a:t>Enrollment submission</a:t>
            </a:r>
            <a:endParaRPr lang="en-US" sz="1500" dirty="0"/>
          </a:p>
        </p:txBody>
      </p:sp>
      <p:pic>
        <p:nvPicPr>
          <p:cNvPr id="11" name="Image 3" descr="Check icon">    </p:cNvPr>
          <p:cNvPicPr>
            <a:picLocks noChangeAspect="1"/>
          </p:cNvPicPr>
          <p:nvPr/>
        </p:nvPicPr>
        <p:blipFill>
          <a:blip r:embed="rId4"/>
          <a:stretch>
            <a:fillRect/>
          </a:stretch>
        </p:blipFill>
        <p:spPr>
          <a:xfrm>
            <a:off x="822960" y="3319272"/>
            <a:ext cx="292608" cy="292608"/>
          </a:xfrm>
          <a:prstGeom prst="rect">
            <a:avLst/>
          </a:prstGeom>
        </p:spPr>
      </p:pic>
      <p:sp>
        <p:nvSpPr>
          <p:cNvPr id="12" name="Text 6"/>
          <p:cNvSpPr txBox="1"/>
          <p:nvPr/>
        </p:nvSpPr>
        <p:spPr>
          <a:xfrm>
            <a:off x="1280160" y="3273552"/>
            <a:ext cx="4480560" cy="384048"/>
          </a:xfrm>
          <a:prstGeom prst="rect">
            <a:avLst/>
          </a:prstGeom>
          <a:noFill/>
          <a:ln/>
        </p:spPr>
        <p:txBody>
          <a:bodyPr wrap="square" lIns="0" tIns="0" rIns="0" bIns="0" rtlCol="0" anchor="ctr"/>
          <a:lstStyle/>
          <a:p>
            <a:pPr indent="0" marL="0">
              <a:buNone/>
            </a:pPr>
            <a:r>
              <a:rPr lang="en-US" sz="1500" dirty="0">
                <a:solidFill>
                  <a:schemeClr val="tx1"/>
                </a:solidFill>
              </a:rPr>
              <a:t>Login validation</a:t>
            </a:r>
            <a:endParaRPr lang="en-US" sz="1500" dirty="0"/>
          </a:p>
        </p:txBody>
      </p:sp>
      <p:pic>
        <p:nvPicPr>
          <p:cNvPr id="13" name="Image 4" descr="Check icon">    </p:cNvPr>
          <p:cNvPicPr>
            <a:picLocks noChangeAspect="1"/>
          </p:cNvPicPr>
          <p:nvPr/>
        </p:nvPicPr>
        <p:blipFill>
          <a:blip r:embed="rId5"/>
          <a:stretch>
            <a:fillRect/>
          </a:stretch>
        </p:blipFill>
        <p:spPr>
          <a:xfrm>
            <a:off x="822960" y="3739896"/>
            <a:ext cx="292608" cy="292608"/>
          </a:xfrm>
          <a:prstGeom prst="rect">
            <a:avLst/>
          </a:prstGeom>
        </p:spPr>
      </p:pic>
      <p:sp>
        <p:nvSpPr>
          <p:cNvPr id="14" name="Text 7"/>
          <p:cNvSpPr txBox="1"/>
          <p:nvPr/>
        </p:nvSpPr>
        <p:spPr>
          <a:xfrm>
            <a:off x="1280160" y="3694176"/>
            <a:ext cx="4480560" cy="384048"/>
          </a:xfrm>
          <a:prstGeom prst="rect">
            <a:avLst/>
          </a:prstGeom>
          <a:noFill/>
          <a:ln/>
        </p:spPr>
        <p:txBody>
          <a:bodyPr wrap="square" lIns="0" tIns="0" rIns="0" bIns="0" rtlCol="0" anchor="ctr"/>
          <a:lstStyle/>
          <a:p>
            <a:pPr indent="0" marL="0">
              <a:buNone/>
            </a:pPr>
            <a:r>
              <a:rPr lang="en-US" sz="1500" dirty="0">
                <a:solidFill>
                  <a:schemeClr val="tx1"/>
                </a:solidFill>
              </a:rPr>
              <a:t>Dashboard display</a:t>
            </a:r>
            <a:endParaRPr lang="en-US" sz="1500" dirty="0"/>
          </a:p>
        </p:txBody>
      </p:sp>
      <p:pic>
        <p:nvPicPr>
          <p:cNvPr id="15" name="Image 5" descr="Check icon">    </p:cNvPr>
          <p:cNvPicPr>
            <a:picLocks noChangeAspect="1"/>
          </p:cNvPicPr>
          <p:nvPr/>
        </p:nvPicPr>
        <p:blipFill>
          <a:blip r:embed="rId6"/>
          <a:stretch>
            <a:fillRect/>
          </a:stretch>
        </p:blipFill>
        <p:spPr>
          <a:xfrm>
            <a:off x="822960" y="4160520"/>
            <a:ext cx="292608" cy="292608"/>
          </a:xfrm>
          <a:prstGeom prst="rect">
            <a:avLst/>
          </a:prstGeom>
        </p:spPr>
      </p:pic>
      <p:sp>
        <p:nvSpPr>
          <p:cNvPr id="16" name="Text 8"/>
          <p:cNvSpPr txBox="1"/>
          <p:nvPr/>
        </p:nvSpPr>
        <p:spPr>
          <a:xfrm>
            <a:off x="1280160" y="4114800"/>
            <a:ext cx="4480560" cy="384048"/>
          </a:xfrm>
          <a:prstGeom prst="rect">
            <a:avLst/>
          </a:prstGeom>
          <a:noFill/>
          <a:ln/>
        </p:spPr>
        <p:txBody>
          <a:bodyPr wrap="square" lIns="0" tIns="0" rIns="0" bIns="0" rtlCol="0" anchor="ctr"/>
          <a:lstStyle/>
          <a:p>
            <a:pPr indent="0" marL="0">
              <a:buNone/>
            </a:pPr>
            <a:r>
              <a:rPr lang="en-US" sz="1500" dirty="0">
                <a:solidFill>
                  <a:schemeClr val="tx1"/>
                </a:solidFill>
              </a:rPr>
              <a:t>Automatic database initialisation</a:t>
            </a:r>
            <a:endParaRPr lang="en-US" sz="1500" dirty="0"/>
          </a:p>
        </p:txBody>
      </p:sp>
      <p:sp>
        <p:nvSpPr>
          <p:cNvPr id="17" name="Text 9"/>
          <p:cNvSpPr txBox="1"/>
          <p:nvPr/>
        </p:nvSpPr>
        <p:spPr>
          <a:xfrm>
            <a:off x="822960" y="4754880"/>
            <a:ext cx="4846320" cy="274320"/>
          </a:xfrm>
          <a:prstGeom prst="rect">
            <a:avLst/>
          </a:prstGeom>
          <a:noFill/>
          <a:ln/>
        </p:spPr>
        <p:txBody>
          <a:bodyPr wrap="square" lIns="0" tIns="0" rIns="0" bIns="0" rtlCol="0" anchor="t"/>
          <a:lstStyle/>
          <a:p>
            <a:pPr indent="0" marL="0">
              <a:buNone/>
            </a:pPr>
            <a:r>
              <a:rPr lang="en-US" sz="1400" b="1" dirty="0">
                <a:solidFill>
                  <a:schemeClr val="accent1"/>
                </a:solidFill>
              </a:rPr>
              <a:t>Edge cases tested</a:t>
            </a:r>
            <a:endParaRPr lang="en-US" sz="1400" dirty="0"/>
          </a:p>
        </p:txBody>
      </p:sp>
      <p:sp>
        <p:nvSpPr>
          <p:cNvPr id="18" name="Text 10"/>
          <p:cNvSpPr txBox="1"/>
          <p:nvPr/>
        </p:nvSpPr>
        <p:spPr>
          <a:xfrm>
            <a:off x="822960" y="5047488"/>
            <a:ext cx="4846320" cy="365760"/>
          </a:xfrm>
          <a:prstGeom prst="rect">
            <a:avLst/>
          </a:prstGeom>
          <a:noFill/>
          <a:ln/>
        </p:spPr>
        <p:txBody>
          <a:bodyPr wrap="square" lIns="0" tIns="0" rIns="0" bIns="0" rtlCol="0" anchor="t"/>
          <a:lstStyle/>
          <a:p>
            <a:pPr indent="0" marL="0">
              <a:buNone/>
            </a:pPr>
            <a:r>
              <a:rPr lang="en-US" sz="1400" dirty="0">
                <a:solidFill>
                  <a:schemeClr val="accent4"/>
                </a:solidFill>
              </a:rPr>
              <a:t>Empty fields, invalid email, short password, database not running</a:t>
            </a:r>
            <a:endParaRPr lang="en-US" sz="1400" dirty="0"/>
          </a:p>
        </p:txBody>
      </p:sp>
      <p:sp>
        <p:nvSpPr>
          <p:cNvPr id="19" name="Improvements card"/>
          <p:cNvSpPr/>
          <p:nvPr/>
        </p:nvSpPr>
        <p:spPr>
          <a:xfrm>
            <a:off x="6217920" y="1371600"/>
            <a:ext cx="5394960" cy="4114800"/>
          </a:xfrm>
          <a:prstGeom prst="roundRect">
            <a:avLst>
              <a:gd name="adj" fmla="val 2667"/>
            </a:avLst>
          </a:prstGeom>
          <a:solidFill>
            <a:schemeClr val="bg2"/>
          </a:solidFill>
          <a:ln/>
          <a:effectLst>
            <a:outerShdw sx="100000" sy="100000" kx="0" ky="0" algn="bl" rotWithShape="0" blurRad="101600" dist="25400" dir="5400000">
              <a:srgbClr val="000000">
                <a:alpha val="12000"/>
              </a:srgbClr>
            </a:outerShdw>
          </a:effectLst>
        </p:spPr>
      </p:sp>
      <p:sp>
        <p:nvSpPr>
          <p:cNvPr id="20" name="Text 12"/>
          <p:cNvSpPr txBox="1"/>
          <p:nvPr/>
        </p:nvSpPr>
        <p:spPr>
          <a:xfrm>
            <a:off x="6492240" y="1554480"/>
            <a:ext cx="4846320" cy="320040"/>
          </a:xfrm>
          <a:prstGeom prst="rect">
            <a:avLst/>
          </a:prstGeom>
          <a:noFill/>
          <a:ln/>
        </p:spPr>
        <p:txBody>
          <a:bodyPr wrap="square" lIns="0" tIns="0" rIns="0" bIns="0" rtlCol="0" anchor="t"/>
          <a:lstStyle/>
          <a:p>
            <a:pPr indent="0" marL="0">
              <a:buNone/>
            </a:pPr>
            <a:r>
              <a:rPr lang="en-US" sz="1800" b="1" dirty="0">
                <a:solidFill>
                  <a:schemeClr val="tx2"/>
                </a:solidFill>
              </a:rPr>
              <a:t>Improvements identified</a:t>
            </a:r>
            <a:endParaRPr lang="en-US" sz="1800" dirty="0"/>
          </a:p>
        </p:txBody>
      </p:sp>
      <p:pic>
        <p:nvPicPr>
          <p:cNvPr id="21" name="Image 6" descr="Warning icon">    </p:cNvPr>
          <p:cNvPicPr>
            <a:picLocks noChangeAspect="1"/>
          </p:cNvPicPr>
          <p:nvPr/>
        </p:nvPicPr>
        <p:blipFill>
          <a:blip r:embed="rId7"/>
          <a:stretch>
            <a:fillRect/>
          </a:stretch>
        </p:blipFill>
        <p:spPr>
          <a:xfrm>
            <a:off x="6492240" y="2121408"/>
            <a:ext cx="292608" cy="292608"/>
          </a:xfrm>
          <a:prstGeom prst="rect">
            <a:avLst/>
          </a:prstGeom>
        </p:spPr>
      </p:pic>
      <p:sp>
        <p:nvSpPr>
          <p:cNvPr id="22" name="Text 13"/>
          <p:cNvSpPr txBox="1"/>
          <p:nvPr/>
        </p:nvSpPr>
        <p:spPr>
          <a:xfrm>
            <a:off x="6949440" y="2057400"/>
            <a:ext cx="4480560" cy="420624"/>
          </a:xfrm>
          <a:prstGeom prst="rect">
            <a:avLst/>
          </a:prstGeom>
          <a:noFill/>
          <a:ln/>
        </p:spPr>
        <p:txBody>
          <a:bodyPr wrap="square" lIns="0" tIns="0" rIns="0" bIns="0" rtlCol="0" anchor="ctr"/>
          <a:lstStyle/>
          <a:p>
            <a:pPr indent="0" marL="0">
              <a:buNone/>
            </a:pPr>
            <a:r>
              <a:rPr lang="en-US" sz="1400" dirty="0">
                <a:solidFill>
                  <a:schemeClr val="tx1"/>
                </a:solidFill>
              </a:rPr>
              <a:t>Duplicate sample courses: seed data loaded twice</a:t>
            </a:r>
            <a:endParaRPr lang="en-US" sz="1400" dirty="0"/>
          </a:p>
        </p:txBody>
      </p:sp>
      <p:pic>
        <p:nvPicPr>
          <p:cNvPr id="23" name="Image 7" descr="Warning icon">    </p:cNvPr>
          <p:cNvPicPr>
            <a:picLocks noChangeAspect="1"/>
          </p:cNvPicPr>
          <p:nvPr/>
        </p:nvPicPr>
        <p:blipFill>
          <a:blip r:embed="rId8"/>
          <a:stretch>
            <a:fillRect/>
          </a:stretch>
        </p:blipFill>
        <p:spPr>
          <a:xfrm>
            <a:off x="6492240" y="2670048"/>
            <a:ext cx="292608" cy="292608"/>
          </a:xfrm>
          <a:prstGeom prst="rect">
            <a:avLst/>
          </a:prstGeom>
        </p:spPr>
      </p:pic>
      <p:sp>
        <p:nvSpPr>
          <p:cNvPr id="24" name="Text 14"/>
          <p:cNvSpPr txBox="1"/>
          <p:nvPr/>
        </p:nvSpPr>
        <p:spPr>
          <a:xfrm>
            <a:off x="6949440" y="2606040"/>
            <a:ext cx="4480560" cy="420624"/>
          </a:xfrm>
          <a:prstGeom prst="rect">
            <a:avLst/>
          </a:prstGeom>
          <a:noFill/>
          <a:ln/>
        </p:spPr>
        <p:txBody>
          <a:bodyPr wrap="square" lIns="0" tIns="0" rIns="0" bIns="0" rtlCol="0" anchor="ctr"/>
          <a:lstStyle/>
          <a:p>
            <a:pPr indent="0" marL="0">
              <a:buNone/>
            </a:pPr>
            <a:r>
              <a:rPr lang="en-US" sz="1400" dirty="0">
                <a:solidFill>
                  <a:schemeClr val="tx1"/>
                </a:solidFill>
              </a:rPr>
              <a:t>Login checks input only, not stored accounts</a:t>
            </a:r>
            <a:endParaRPr lang="en-US" sz="1400" dirty="0"/>
          </a:p>
        </p:txBody>
      </p:sp>
      <p:pic>
        <p:nvPicPr>
          <p:cNvPr id="25" name="Image 8" descr="Warning icon">    </p:cNvPr>
          <p:cNvPicPr>
            <a:picLocks noChangeAspect="1"/>
          </p:cNvPicPr>
          <p:nvPr/>
        </p:nvPicPr>
        <p:blipFill>
          <a:blip r:embed="rId9"/>
          <a:stretch>
            <a:fillRect/>
          </a:stretch>
        </p:blipFill>
        <p:spPr>
          <a:xfrm>
            <a:off x="6492240" y="3218688"/>
            <a:ext cx="292608" cy="292608"/>
          </a:xfrm>
          <a:prstGeom prst="rect">
            <a:avLst/>
          </a:prstGeom>
        </p:spPr>
      </p:pic>
      <p:sp>
        <p:nvSpPr>
          <p:cNvPr id="26" name="Text 15"/>
          <p:cNvSpPr txBox="1"/>
          <p:nvPr/>
        </p:nvSpPr>
        <p:spPr>
          <a:xfrm>
            <a:off x="6949440" y="3154680"/>
            <a:ext cx="4480560" cy="420624"/>
          </a:xfrm>
          <a:prstGeom prst="rect">
            <a:avLst/>
          </a:prstGeom>
          <a:noFill/>
          <a:ln/>
        </p:spPr>
        <p:txBody>
          <a:bodyPr wrap="square" lIns="0" tIns="0" rIns="0" bIns="0" rtlCol="0" anchor="ctr"/>
          <a:lstStyle/>
          <a:p>
            <a:pPr indent="0" marL="0">
              <a:buNone/>
            </a:pPr>
            <a:r>
              <a:rPr lang="en-US" sz="1400" dirty="0">
                <a:solidFill>
                  <a:schemeClr val="tx1"/>
                </a:solidFill>
              </a:rPr>
              <a:t>Dashboard enrollment count capped at eight</a:t>
            </a:r>
            <a:endParaRPr lang="en-US" sz="1400" dirty="0"/>
          </a:p>
        </p:txBody>
      </p:sp>
      <p:pic>
        <p:nvPicPr>
          <p:cNvPr id="27" name="Image 9" descr="Warning icon">    </p:cNvPr>
          <p:cNvPicPr>
            <a:picLocks noChangeAspect="1"/>
          </p:cNvPicPr>
          <p:nvPr/>
        </p:nvPicPr>
        <p:blipFill>
          <a:blip r:embed="rId10"/>
          <a:stretch>
            <a:fillRect/>
          </a:stretch>
        </p:blipFill>
        <p:spPr>
          <a:xfrm>
            <a:off x="6492240" y="3767328"/>
            <a:ext cx="292608" cy="292608"/>
          </a:xfrm>
          <a:prstGeom prst="rect">
            <a:avLst/>
          </a:prstGeom>
        </p:spPr>
      </p:pic>
      <p:sp>
        <p:nvSpPr>
          <p:cNvPr id="28" name="Text 16"/>
          <p:cNvSpPr txBox="1"/>
          <p:nvPr/>
        </p:nvSpPr>
        <p:spPr>
          <a:xfrm>
            <a:off x="6949440" y="3703320"/>
            <a:ext cx="4480560" cy="420624"/>
          </a:xfrm>
          <a:prstGeom prst="rect">
            <a:avLst/>
          </a:prstGeom>
          <a:noFill/>
          <a:ln/>
        </p:spPr>
        <p:txBody>
          <a:bodyPr wrap="square" lIns="0" tIns="0" rIns="0" bIns="0" rtlCol="0" anchor="ctr"/>
          <a:lstStyle/>
          <a:p>
            <a:pPr indent="0" marL="0">
              <a:buNone/>
            </a:pPr>
            <a:r>
              <a:rPr lang="en-US" sz="1400" dirty="0">
                <a:solidFill>
                  <a:schemeClr val="tx1"/>
                </a:solidFill>
              </a:rPr>
              <a:t>Category and course are chosen independently</a:t>
            </a:r>
            <a:endParaRPr lang="en-US" sz="1400" dirty="0"/>
          </a:p>
        </p:txBody>
      </p:sp>
      <p:pic>
        <p:nvPicPr>
          <p:cNvPr id="29" name="Image 10" descr="Warning icon">    </p:cNvPr>
          <p:cNvPicPr>
            <a:picLocks noChangeAspect="1"/>
          </p:cNvPicPr>
          <p:nvPr/>
        </p:nvPicPr>
        <p:blipFill>
          <a:blip r:embed="rId11"/>
          <a:stretch>
            <a:fillRect/>
          </a:stretch>
        </p:blipFill>
        <p:spPr>
          <a:xfrm>
            <a:off x="6492240" y="4315968"/>
            <a:ext cx="292608" cy="292608"/>
          </a:xfrm>
          <a:prstGeom prst="rect">
            <a:avLst/>
          </a:prstGeom>
        </p:spPr>
      </p:pic>
      <p:sp>
        <p:nvSpPr>
          <p:cNvPr id="30" name="Text 17"/>
          <p:cNvSpPr txBox="1"/>
          <p:nvPr/>
        </p:nvSpPr>
        <p:spPr>
          <a:xfrm>
            <a:off x="6949440" y="4251960"/>
            <a:ext cx="4480560" cy="420624"/>
          </a:xfrm>
          <a:prstGeom prst="rect">
            <a:avLst/>
          </a:prstGeom>
          <a:noFill/>
          <a:ln/>
        </p:spPr>
        <p:txBody>
          <a:bodyPr wrap="square" lIns="0" tIns="0" rIns="0" bIns="0" rtlCol="0" anchor="ctr"/>
          <a:lstStyle/>
          <a:p>
            <a:pPr indent="0" marL="0">
              <a:buNone/>
            </a:pPr>
            <a:r>
              <a:rPr lang="en-US" sz="1400" dirty="0">
                <a:solidFill>
                  <a:schemeClr val="tx1"/>
                </a:solidFill>
              </a:rPr>
              <a:t>Seat count is not reduced after enrollment</a:t>
            </a:r>
            <a:endParaRPr lang="en-US" sz="1400" dirty="0"/>
          </a:p>
        </p:txBody>
      </p:sp>
      <p:pic>
        <p:nvPicPr>
          <p:cNvPr id="31" name="Image 11" descr="Warning icon">    </p:cNvPr>
          <p:cNvPicPr>
            <a:picLocks noChangeAspect="1"/>
          </p:cNvPicPr>
          <p:nvPr/>
        </p:nvPicPr>
        <p:blipFill>
          <a:blip r:embed="rId12"/>
          <a:stretch>
            <a:fillRect/>
          </a:stretch>
        </p:blipFill>
        <p:spPr>
          <a:xfrm>
            <a:off x="6492240" y="4864608"/>
            <a:ext cx="292608" cy="292608"/>
          </a:xfrm>
          <a:prstGeom prst="rect">
            <a:avLst/>
          </a:prstGeom>
        </p:spPr>
      </p:pic>
      <p:sp>
        <p:nvSpPr>
          <p:cNvPr id="32" name="Text 18"/>
          <p:cNvSpPr txBox="1"/>
          <p:nvPr/>
        </p:nvSpPr>
        <p:spPr>
          <a:xfrm>
            <a:off x="6949440" y="4800600"/>
            <a:ext cx="4480560" cy="420624"/>
          </a:xfrm>
          <a:prstGeom prst="rect">
            <a:avLst/>
          </a:prstGeom>
          <a:noFill/>
          <a:ln/>
        </p:spPr>
        <p:txBody>
          <a:bodyPr wrap="square" lIns="0" tIns="0" rIns="0" bIns="0" rtlCol="0" anchor="ctr"/>
          <a:lstStyle/>
          <a:p>
            <a:pPr indent="0" marL="0">
              <a:buNone/>
            </a:pPr>
            <a:r>
              <a:rPr lang="en-US" sz="1400" dirty="0">
                <a:solidFill>
                  <a:schemeClr val="tx1"/>
                </a:solidFill>
              </a:rPr>
              <a:t>Database credentials are hard-coded in source</a:t>
            </a:r>
            <a:endParaRPr lang="en-US" sz="1400" dirty="0"/>
          </a:p>
        </p:txBody>
      </p:sp>
      <p:sp>
        <p:nvSpPr>
          <p:cNvPr id="33" name="Result banner"/>
          <p:cNvSpPr/>
          <p:nvPr/>
        </p:nvSpPr>
        <p:spPr>
          <a:xfrm>
            <a:off x="548640" y="5669280"/>
            <a:ext cx="11064240" cy="502920"/>
          </a:xfrm>
          <a:prstGeom prst="roundRect">
            <a:avLst>
              <a:gd name="adj" fmla="val 21818"/>
            </a:avLst>
          </a:prstGeom>
          <a:solidFill>
            <a:schemeClr val="tx2"/>
          </a:solidFill>
          <a:ln/>
        </p:spPr>
      </p:sp>
      <p:sp>
        <p:nvSpPr>
          <p:cNvPr id="34" name="Text 20"/>
          <p:cNvSpPr txBox="1"/>
          <p:nvPr/>
        </p:nvSpPr>
        <p:spPr>
          <a:xfrm>
            <a:off x="548640" y="5669280"/>
            <a:ext cx="11064240" cy="502920"/>
          </a:xfrm>
          <a:prstGeom prst="rect">
            <a:avLst/>
          </a:prstGeom>
          <a:noFill/>
          <a:ln/>
        </p:spPr>
        <p:txBody>
          <a:bodyPr wrap="square" lIns="0" tIns="0" rIns="0" bIns="0" rtlCol="0" anchor="ctr"/>
          <a:lstStyle/>
          <a:p>
            <a:pPr algn="ctr" indent="0" marL="0">
              <a:buNone/>
            </a:pPr>
            <a:r>
              <a:rPr lang="en-US" sz="1500" b="1" dirty="0">
                <a:solidFill>
                  <a:schemeClr val="bg1"/>
                </a:solidFill>
              </a:rPr>
              <a:t>Result: less manual effort, more accurate enrollment records and one convenient platform</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Future Enhancements</a:t>
            </a:r>
            <a:endParaRPr lang="en-US" sz="3400" dirty="0"/>
          </a:p>
        </p:txBody>
      </p:sp>
      <p:sp>
        <p:nvSpPr>
          <p:cNvPr id="3" name="Future Security and Access"/>
          <p:cNvSpPr/>
          <p:nvPr/>
        </p:nvSpPr>
        <p:spPr>
          <a:xfrm>
            <a:off x="548640" y="1371600"/>
            <a:ext cx="54406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4" name="Icon circle FaUserShield"/>
          <p:cNvSpPr/>
          <p:nvPr/>
        </p:nvSpPr>
        <p:spPr>
          <a:xfrm>
            <a:off x="777240" y="1600200"/>
            <a:ext cx="548640" cy="548640"/>
          </a:xfrm>
          <a:prstGeom prst="ellipse">
            <a:avLst/>
          </a:prstGeom>
          <a:solidFill>
            <a:schemeClr val="accent1"/>
          </a:solidFill>
          <a:ln/>
        </p:spPr>
      </p:sp>
      <p:pic>
        <p:nvPicPr>
          <p:cNvPr id="5" name="Image 0" descr="UserShield icon">    </p:cNvPr>
          <p:cNvPicPr>
            <a:picLocks noChangeAspect="1"/>
          </p:cNvPicPr>
          <p:nvPr/>
        </p:nvPicPr>
        <p:blipFill>
          <a:blip r:embed="rId1"/>
          <a:stretch>
            <a:fillRect/>
          </a:stretch>
        </p:blipFill>
        <p:spPr>
          <a:xfrm>
            <a:off x="919886" y="1742846"/>
            <a:ext cx="263347" cy="263347"/>
          </a:xfrm>
          <a:prstGeom prst="rect">
            <a:avLst/>
          </a:prstGeom>
        </p:spPr>
      </p:pic>
      <p:sp>
        <p:nvSpPr>
          <p:cNvPr id="6" name="Text 3"/>
          <p:cNvSpPr txBox="1"/>
          <p:nvPr/>
        </p:nvSpPr>
        <p:spPr>
          <a:xfrm>
            <a:off x="1508760" y="160020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Security and Access</a:t>
            </a:r>
            <a:endParaRPr lang="en-US" sz="1900" dirty="0"/>
          </a:p>
        </p:txBody>
      </p:sp>
      <p:sp>
        <p:nvSpPr>
          <p:cNvPr id="7" name="Text 4"/>
          <p:cNvSpPr txBox="1"/>
          <p:nvPr/>
        </p:nvSpPr>
        <p:spPr>
          <a:xfrm>
            <a:off x="822960" y="233172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Password hashing with session or JWT login</a:t>
            </a:r>
            <a:endParaRPr lang="en-US" sz="1400" dirty="0"/>
          </a:p>
          <a:p>
            <a:pPr marL="342900" indent="-342900">
              <a:spcAft>
                <a:spcPts val="500"/>
              </a:spcAft>
              <a:buSzPct val="100000"/>
              <a:buChar char="•"/>
            </a:pPr>
            <a:r>
              <a:rPr lang="en-US" sz="1400" dirty="0">
                <a:solidFill>
                  <a:schemeClr val="tx1"/>
                </a:solidFill>
              </a:rPr>
              <a:t>Role-based access for learners and admins</a:t>
            </a:r>
            <a:endParaRPr lang="en-US" sz="1400" dirty="0"/>
          </a:p>
          <a:p>
            <a:pPr marL="342900" indent="-342900">
              <a:spcAft>
                <a:spcPts val="500"/>
              </a:spcAft>
              <a:buSzPct val="100000"/>
              <a:buChar char="•"/>
            </a:pPr>
            <a:r>
              <a:rPr lang="en-US" sz="1400" dirty="0">
                <a:solidFill>
                  <a:schemeClr val="tx1"/>
                </a:solidFill>
              </a:rPr>
              <a:t>Database settings in environment variables</a:t>
            </a:r>
            <a:endParaRPr lang="en-US" sz="1400" dirty="0"/>
          </a:p>
        </p:txBody>
      </p:sp>
      <p:sp>
        <p:nvSpPr>
          <p:cNvPr id="8" name="Future Enrollment Features"/>
          <p:cNvSpPr/>
          <p:nvPr/>
        </p:nvSpPr>
        <p:spPr>
          <a:xfrm>
            <a:off x="6172200" y="1371600"/>
            <a:ext cx="54406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9" name="Icon circle FaClipboardList"/>
          <p:cNvSpPr/>
          <p:nvPr/>
        </p:nvSpPr>
        <p:spPr>
          <a:xfrm>
            <a:off x="6400800" y="1600200"/>
            <a:ext cx="548640" cy="548640"/>
          </a:xfrm>
          <a:prstGeom prst="ellipse">
            <a:avLst/>
          </a:prstGeom>
          <a:solidFill>
            <a:schemeClr val="accent1"/>
          </a:solidFill>
          <a:ln/>
        </p:spPr>
      </p:sp>
      <p:pic>
        <p:nvPicPr>
          <p:cNvPr id="10" name="Image 1" descr="ClipboardList icon">    </p:cNvPr>
          <p:cNvPicPr>
            <a:picLocks noChangeAspect="1"/>
          </p:cNvPicPr>
          <p:nvPr/>
        </p:nvPicPr>
        <p:blipFill>
          <a:blip r:embed="rId2"/>
          <a:stretch>
            <a:fillRect/>
          </a:stretch>
        </p:blipFill>
        <p:spPr>
          <a:xfrm>
            <a:off x="6543446" y="1742846"/>
            <a:ext cx="263347" cy="263347"/>
          </a:xfrm>
          <a:prstGeom prst="rect">
            <a:avLst/>
          </a:prstGeom>
        </p:spPr>
      </p:pic>
      <p:sp>
        <p:nvSpPr>
          <p:cNvPr id="11" name="Text 7"/>
          <p:cNvSpPr txBox="1"/>
          <p:nvPr/>
        </p:nvSpPr>
        <p:spPr>
          <a:xfrm>
            <a:off x="7132320" y="160020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Enrollment Features</a:t>
            </a:r>
            <a:endParaRPr lang="en-US" sz="1900" dirty="0"/>
          </a:p>
        </p:txBody>
      </p:sp>
      <p:sp>
        <p:nvSpPr>
          <p:cNvPr id="12" name="Text 8"/>
          <p:cNvSpPr txBox="1"/>
          <p:nvPr/>
        </p:nvSpPr>
        <p:spPr>
          <a:xfrm>
            <a:off x="6446520" y="233172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Admin panel to manage courses and approvals</a:t>
            </a:r>
            <a:endParaRPr lang="en-US" sz="1400" dirty="0"/>
          </a:p>
          <a:p>
            <a:pPr marL="342900" indent="-342900">
              <a:spcAft>
                <a:spcPts val="500"/>
              </a:spcAft>
              <a:buSzPct val="100000"/>
              <a:buChar char="•"/>
            </a:pPr>
            <a:r>
              <a:rPr lang="en-US" sz="1400" dirty="0">
                <a:solidFill>
                  <a:schemeClr val="tx1"/>
                </a:solidFill>
              </a:rPr>
              <a:t>Seat management with a waiting list</a:t>
            </a:r>
            <a:endParaRPr lang="en-US" sz="1400" dirty="0"/>
          </a:p>
          <a:p>
            <a:pPr marL="342900" indent="-342900">
              <a:spcAft>
                <a:spcPts val="500"/>
              </a:spcAft>
              <a:buSzPct val="100000"/>
              <a:buChar char="•"/>
            </a:pPr>
            <a:r>
              <a:rPr lang="en-US" sz="1400" dirty="0">
                <a:solidFill>
                  <a:schemeClr val="tx1"/>
                </a:solidFill>
              </a:rPr>
              <a:t>Duplicate prevention, dependent dropdowns</a:t>
            </a:r>
            <a:endParaRPr lang="en-US" sz="1400" dirty="0"/>
          </a:p>
        </p:txBody>
      </p:sp>
      <p:sp>
        <p:nvSpPr>
          <p:cNvPr id="13" name="Future Engagement and Insight"/>
          <p:cNvSpPr/>
          <p:nvPr/>
        </p:nvSpPr>
        <p:spPr>
          <a:xfrm>
            <a:off x="548640" y="3749040"/>
            <a:ext cx="54406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4" name="Icon circle FaBell"/>
          <p:cNvSpPr/>
          <p:nvPr/>
        </p:nvSpPr>
        <p:spPr>
          <a:xfrm>
            <a:off x="777240" y="3977640"/>
            <a:ext cx="548640" cy="548640"/>
          </a:xfrm>
          <a:prstGeom prst="ellipse">
            <a:avLst/>
          </a:prstGeom>
          <a:solidFill>
            <a:schemeClr val="accent1"/>
          </a:solidFill>
          <a:ln/>
        </p:spPr>
      </p:sp>
      <p:pic>
        <p:nvPicPr>
          <p:cNvPr id="15" name="Image 2" descr="Bell icon">    </p:cNvPr>
          <p:cNvPicPr>
            <a:picLocks noChangeAspect="1"/>
          </p:cNvPicPr>
          <p:nvPr/>
        </p:nvPicPr>
        <p:blipFill>
          <a:blip r:embed="rId3"/>
          <a:stretch>
            <a:fillRect/>
          </a:stretch>
        </p:blipFill>
        <p:spPr>
          <a:xfrm>
            <a:off x="919886" y="4120286"/>
            <a:ext cx="263347" cy="263347"/>
          </a:xfrm>
          <a:prstGeom prst="rect">
            <a:avLst/>
          </a:prstGeom>
        </p:spPr>
      </p:pic>
      <p:sp>
        <p:nvSpPr>
          <p:cNvPr id="16" name="Text 11"/>
          <p:cNvSpPr txBox="1"/>
          <p:nvPr/>
        </p:nvSpPr>
        <p:spPr>
          <a:xfrm>
            <a:off x="1508760" y="397764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Engagement and Insight</a:t>
            </a:r>
            <a:endParaRPr lang="en-US" sz="1900" dirty="0"/>
          </a:p>
        </p:txBody>
      </p:sp>
      <p:sp>
        <p:nvSpPr>
          <p:cNvPr id="17" name="Text 12"/>
          <p:cNvSpPr txBox="1"/>
          <p:nvPr/>
        </p:nvSpPr>
        <p:spPr>
          <a:xfrm>
            <a:off x="822960" y="470916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Email and SMS confirmations</a:t>
            </a:r>
            <a:endParaRPr lang="en-US" sz="1400" dirty="0"/>
          </a:p>
          <a:p>
            <a:pPr marL="342900" indent="-342900">
              <a:spcAft>
                <a:spcPts val="500"/>
              </a:spcAft>
              <a:buSzPct val="100000"/>
              <a:buChar char="•"/>
            </a:pPr>
            <a:r>
              <a:rPr lang="en-US" sz="1400" dirty="0">
                <a:solidFill>
                  <a:schemeClr val="tx1"/>
                </a:solidFill>
              </a:rPr>
              <a:t>Razorpay or Stripe payment gateway</a:t>
            </a:r>
            <a:endParaRPr lang="en-US" sz="1400" dirty="0"/>
          </a:p>
          <a:p>
            <a:pPr marL="342900" indent="-342900">
              <a:spcAft>
                <a:spcPts val="500"/>
              </a:spcAft>
              <a:buSzPct val="100000"/>
              <a:buChar char="•"/>
            </a:pPr>
            <a:r>
              <a:rPr lang="en-US" sz="1400" dirty="0">
                <a:solidFill>
                  <a:schemeClr val="tx1"/>
                </a:solidFill>
              </a:rPr>
              <a:t>Search, pagination, analytics with CSV/PDF export</a:t>
            </a:r>
            <a:endParaRPr lang="en-US" sz="1400" dirty="0"/>
          </a:p>
        </p:txBody>
      </p:sp>
      <p:sp>
        <p:nvSpPr>
          <p:cNvPr id="18" name="Future Engineering and Deployment"/>
          <p:cNvSpPr/>
          <p:nvPr/>
        </p:nvSpPr>
        <p:spPr>
          <a:xfrm>
            <a:off x="6172200" y="3749040"/>
            <a:ext cx="5440680" cy="2240280"/>
          </a:xfrm>
          <a:prstGeom prst="roundRect">
            <a:avLst>
              <a:gd name="adj" fmla="val 4898"/>
            </a:avLst>
          </a:prstGeom>
          <a:solidFill>
            <a:schemeClr val="bg2"/>
          </a:solidFill>
          <a:ln/>
          <a:effectLst>
            <a:outerShdw sx="100000" sy="100000" kx="0" ky="0" algn="bl" rotWithShape="0" blurRad="101600" dist="25400" dir="5400000">
              <a:srgbClr val="000000">
                <a:alpha val="12000"/>
              </a:srgbClr>
            </a:outerShdw>
          </a:effectLst>
        </p:spPr>
      </p:sp>
      <p:sp>
        <p:nvSpPr>
          <p:cNvPr id="19" name="Icon circle FaCloud"/>
          <p:cNvSpPr/>
          <p:nvPr/>
        </p:nvSpPr>
        <p:spPr>
          <a:xfrm>
            <a:off x="6400800" y="3977640"/>
            <a:ext cx="548640" cy="548640"/>
          </a:xfrm>
          <a:prstGeom prst="ellipse">
            <a:avLst/>
          </a:prstGeom>
          <a:solidFill>
            <a:schemeClr val="accent1"/>
          </a:solidFill>
          <a:ln/>
        </p:spPr>
      </p:sp>
      <p:pic>
        <p:nvPicPr>
          <p:cNvPr id="20" name="Image 3" descr="Cloud icon">    </p:cNvPr>
          <p:cNvPicPr>
            <a:picLocks noChangeAspect="1"/>
          </p:cNvPicPr>
          <p:nvPr/>
        </p:nvPicPr>
        <p:blipFill>
          <a:blip r:embed="rId4"/>
          <a:stretch>
            <a:fillRect/>
          </a:stretch>
        </p:blipFill>
        <p:spPr>
          <a:xfrm>
            <a:off x="6543446" y="4120286"/>
            <a:ext cx="263347" cy="263347"/>
          </a:xfrm>
          <a:prstGeom prst="rect">
            <a:avLst/>
          </a:prstGeom>
        </p:spPr>
      </p:pic>
      <p:sp>
        <p:nvSpPr>
          <p:cNvPr id="21" name="Text 15"/>
          <p:cNvSpPr txBox="1"/>
          <p:nvPr/>
        </p:nvSpPr>
        <p:spPr>
          <a:xfrm>
            <a:off x="7132320" y="3977640"/>
            <a:ext cx="4297680" cy="548640"/>
          </a:xfrm>
          <a:prstGeom prst="rect">
            <a:avLst/>
          </a:prstGeom>
          <a:noFill/>
          <a:ln/>
        </p:spPr>
        <p:txBody>
          <a:bodyPr wrap="square" lIns="0" tIns="0" rIns="0" bIns="0" rtlCol="0" anchor="ctr"/>
          <a:lstStyle/>
          <a:p>
            <a:pPr indent="0" marL="0">
              <a:buNone/>
            </a:pPr>
            <a:r>
              <a:rPr lang="en-US" sz="1900" b="1" dirty="0">
                <a:solidFill>
                  <a:schemeClr val="tx2"/>
                </a:solidFill>
              </a:rPr>
              <a:t>Engineering and Deployment</a:t>
            </a:r>
            <a:endParaRPr lang="en-US" sz="1900" dirty="0"/>
          </a:p>
        </p:txBody>
      </p:sp>
      <p:sp>
        <p:nvSpPr>
          <p:cNvPr id="22" name="Text 16"/>
          <p:cNvSpPr txBox="1"/>
          <p:nvPr/>
        </p:nvSpPr>
        <p:spPr>
          <a:xfrm>
            <a:off x="6446520" y="470916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Pytest route tests with the FastAPI client</a:t>
            </a:r>
            <a:endParaRPr lang="en-US" sz="1400" dirty="0"/>
          </a:p>
          <a:p>
            <a:pPr marL="342900" indent="-342900">
              <a:spcAft>
                <a:spcPts val="500"/>
              </a:spcAft>
              <a:buSzPct val="100000"/>
              <a:buChar char="•"/>
            </a:pPr>
            <a:r>
              <a:rPr lang="en-US" sz="1400" dirty="0">
                <a:solidFill>
                  <a:schemeClr val="tx1"/>
                </a:solidFill>
              </a:rPr>
              <a:t>Docker and cloud deployment (AWS, Azure, GCP)</a:t>
            </a:r>
            <a:endParaRPr lang="en-US" sz="1400" dirty="0"/>
          </a:p>
          <a:p>
            <a:pPr marL="342900" indent="-342900">
              <a:spcAft>
                <a:spcPts val="500"/>
              </a:spcAft>
              <a:buSzPct val="100000"/>
              <a:buChar char="•"/>
            </a:pPr>
            <a:r>
              <a:rPr lang="en-US" sz="1400" dirty="0">
                <a:solidFill>
                  <a:schemeClr val="tx1"/>
                </a:solidFill>
              </a:rPr>
              <a:t>Android and iOS mobile application</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Conclusion and Key Learnings</a:t>
            </a:r>
            <a:endParaRPr lang="en-US" sz="3400" dirty="0"/>
          </a:p>
        </p:txBody>
      </p:sp>
      <p:sp>
        <p:nvSpPr>
          <p:cNvPr id="3" name="Conclusion panel"/>
          <p:cNvSpPr/>
          <p:nvPr/>
        </p:nvSpPr>
        <p:spPr>
          <a:xfrm>
            <a:off x="548640" y="1371600"/>
            <a:ext cx="5669280" cy="4754880"/>
          </a:xfrm>
          <a:prstGeom prst="roundRect">
            <a:avLst>
              <a:gd name="adj" fmla="val 2308"/>
            </a:avLst>
          </a:prstGeom>
          <a:solidFill>
            <a:schemeClr val="tx2"/>
          </a:solidFill>
          <a:ln/>
        </p:spPr>
      </p:sp>
      <p:sp>
        <p:nvSpPr>
          <p:cNvPr id="4" name="Text 2"/>
          <p:cNvSpPr txBox="1"/>
          <p:nvPr/>
        </p:nvSpPr>
        <p:spPr>
          <a:xfrm>
            <a:off x="868680" y="1645920"/>
            <a:ext cx="5029200" cy="411480"/>
          </a:xfrm>
          <a:prstGeom prst="rect">
            <a:avLst/>
          </a:prstGeom>
          <a:noFill/>
          <a:ln/>
        </p:spPr>
        <p:txBody>
          <a:bodyPr wrap="square" lIns="0" tIns="0" rIns="0" bIns="0" rtlCol="0" anchor="t"/>
          <a:lstStyle/>
          <a:p>
            <a:pPr indent="0" marL="0">
              <a:buNone/>
            </a:pPr>
            <a:r>
              <a:rPr lang="en-US" sz="2400" b="1" dirty="0">
                <a:solidFill>
                  <a:schemeClr val="bg1"/>
                </a:solidFill>
              </a:rPr>
              <a:t>Conclusion</a:t>
            </a:r>
            <a:endParaRPr lang="en-US" sz="2400" dirty="0"/>
          </a:p>
        </p:txBody>
      </p:sp>
      <p:sp>
        <p:nvSpPr>
          <p:cNvPr id="5" name="Text 3"/>
          <p:cNvSpPr txBox="1"/>
          <p:nvPr/>
        </p:nvSpPr>
        <p:spPr>
          <a:xfrm>
            <a:off x="868680" y="2286000"/>
            <a:ext cx="5029200" cy="35661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Replaced paper-based registration with a centralized digital platform</a:t>
            </a:r>
            <a:endParaRPr lang="en-US" sz="1700" dirty="0"/>
          </a:p>
          <a:p>
            <a:pPr marL="342900" indent="-342900">
              <a:spcAft>
                <a:spcPts val="1200"/>
              </a:spcAft>
              <a:buSzPct val="100000"/>
              <a:buChar char="•"/>
            </a:pPr>
            <a:r>
              <a:rPr lang="en-US" sz="1700" dirty="0">
                <a:solidFill>
                  <a:schemeClr val="bg1"/>
                </a:solidFill>
              </a:rPr>
              <a:t>Category browsing, catalog filter, enrollment, login, dashboard and automatic database setup were built and tested</a:t>
            </a:r>
            <a:endParaRPr lang="en-US" sz="1700" dirty="0"/>
          </a:p>
          <a:p>
            <a:pPr marL="342900" indent="-342900">
              <a:spcAft>
                <a:spcPts val="1200"/>
              </a:spcAft>
              <a:buSzPct val="100000"/>
              <a:buChar char="•"/>
            </a:pPr>
            <a:r>
              <a:rPr lang="en-US" sz="1700" dirty="0">
                <a:solidFill>
                  <a:schemeClr val="bg1"/>
                </a:solidFill>
              </a:rPr>
              <a:t>A solid foundation for a complete enrollment management solution</a:t>
            </a:r>
            <a:endParaRPr lang="en-US" sz="1700" dirty="0"/>
          </a:p>
        </p:txBody>
      </p:sp>
      <p:sp>
        <p:nvSpPr>
          <p:cNvPr id="6" name="Text 4"/>
          <p:cNvSpPr txBox="1"/>
          <p:nvPr/>
        </p:nvSpPr>
        <p:spPr>
          <a:xfrm>
            <a:off x="6492240" y="1371600"/>
            <a:ext cx="5120640" cy="365760"/>
          </a:xfrm>
          <a:prstGeom prst="rect">
            <a:avLst/>
          </a:prstGeom>
          <a:noFill/>
          <a:ln/>
        </p:spPr>
        <p:txBody>
          <a:bodyPr wrap="square" lIns="0" tIns="0" rIns="0" bIns="0" rtlCol="0" anchor="t"/>
          <a:lstStyle/>
          <a:p>
            <a:pPr indent="0" marL="0">
              <a:buNone/>
            </a:pPr>
            <a:r>
              <a:rPr lang="en-US" sz="2000" b="1" dirty="0">
                <a:solidFill>
                  <a:schemeClr val="tx2"/>
                </a:solidFill>
              </a:rPr>
              <a:t>What I Learned</a:t>
            </a:r>
            <a:endParaRPr lang="en-US" sz="2000" dirty="0"/>
          </a:p>
        </p:txBody>
      </p:sp>
      <p:sp>
        <p:nvSpPr>
          <p:cNvPr id="7" name="Skill Python web development"/>
          <p:cNvSpPr/>
          <p:nvPr/>
        </p:nvSpPr>
        <p:spPr>
          <a:xfrm>
            <a:off x="6492240" y="187452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8" name="Icon circle FaPython"/>
          <p:cNvSpPr/>
          <p:nvPr/>
        </p:nvSpPr>
        <p:spPr>
          <a:xfrm>
            <a:off x="6675120" y="2057400"/>
            <a:ext cx="502920" cy="502920"/>
          </a:xfrm>
          <a:prstGeom prst="ellipse">
            <a:avLst/>
          </a:prstGeom>
          <a:solidFill>
            <a:schemeClr val="accent1"/>
          </a:solidFill>
          <a:ln/>
        </p:spPr>
      </p:sp>
      <p:pic>
        <p:nvPicPr>
          <p:cNvPr id="9" name="Image 0" descr="Python icon">    </p:cNvPr>
          <p:cNvPicPr>
            <a:picLocks noChangeAspect="1"/>
          </p:cNvPicPr>
          <p:nvPr/>
        </p:nvPicPr>
        <p:blipFill>
          <a:blip r:embed="rId1"/>
          <a:stretch>
            <a:fillRect/>
          </a:stretch>
        </p:blipFill>
        <p:spPr>
          <a:xfrm>
            <a:off x="6805879" y="2188159"/>
            <a:ext cx="241402" cy="241402"/>
          </a:xfrm>
          <a:prstGeom prst="rect">
            <a:avLst/>
          </a:prstGeom>
        </p:spPr>
      </p:pic>
      <p:sp>
        <p:nvSpPr>
          <p:cNvPr id="10" name="Text 7"/>
          <p:cNvSpPr txBox="1"/>
          <p:nvPr/>
        </p:nvSpPr>
        <p:spPr>
          <a:xfrm>
            <a:off x="6675120" y="2651760"/>
            <a:ext cx="2194560" cy="457200"/>
          </a:xfrm>
          <a:prstGeom prst="rect">
            <a:avLst/>
          </a:prstGeom>
          <a:noFill/>
          <a:ln/>
        </p:spPr>
        <p:txBody>
          <a:bodyPr wrap="square" lIns="0" tIns="0" rIns="0" bIns="0" rtlCol="0" anchor="t"/>
          <a:lstStyle/>
          <a:p>
            <a:pPr indent="0" marL="0">
              <a:buNone/>
            </a:pPr>
            <a:r>
              <a:rPr lang="en-US" sz="1500" b="1" dirty="0">
                <a:solidFill>
                  <a:schemeClr val="tx2"/>
                </a:solidFill>
              </a:rPr>
              <a:t>Python web development</a:t>
            </a:r>
            <a:endParaRPr lang="en-US" sz="1500" dirty="0"/>
          </a:p>
        </p:txBody>
      </p:sp>
      <p:sp>
        <p:nvSpPr>
          <p:cNvPr id="11" name="Skill Database design and SQL"/>
          <p:cNvSpPr/>
          <p:nvPr/>
        </p:nvSpPr>
        <p:spPr>
          <a:xfrm>
            <a:off x="9144000" y="187452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12" name="Icon circle FaDatabase"/>
          <p:cNvSpPr/>
          <p:nvPr/>
        </p:nvSpPr>
        <p:spPr>
          <a:xfrm>
            <a:off x="9326880" y="2057400"/>
            <a:ext cx="502920" cy="502920"/>
          </a:xfrm>
          <a:prstGeom prst="ellipse">
            <a:avLst/>
          </a:prstGeom>
          <a:solidFill>
            <a:schemeClr val="accent1"/>
          </a:solidFill>
          <a:ln/>
        </p:spPr>
      </p:sp>
      <p:pic>
        <p:nvPicPr>
          <p:cNvPr id="13" name="Image 1" descr="Database icon">    </p:cNvPr>
          <p:cNvPicPr>
            <a:picLocks noChangeAspect="1"/>
          </p:cNvPicPr>
          <p:nvPr/>
        </p:nvPicPr>
        <p:blipFill>
          <a:blip r:embed="rId2"/>
          <a:stretch>
            <a:fillRect/>
          </a:stretch>
        </p:blipFill>
        <p:spPr>
          <a:xfrm>
            <a:off x="9457639" y="2188159"/>
            <a:ext cx="241402" cy="241402"/>
          </a:xfrm>
          <a:prstGeom prst="rect">
            <a:avLst/>
          </a:prstGeom>
        </p:spPr>
      </p:pic>
      <p:sp>
        <p:nvSpPr>
          <p:cNvPr id="14" name="Text 10"/>
          <p:cNvSpPr txBox="1"/>
          <p:nvPr/>
        </p:nvSpPr>
        <p:spPr>
          <a:xfrm>
            <a:off x="9326880" y="2651760"/>
            <a:ext cx="2194560" cy="457200"/>
          </a:xfrm>
          <a:prstGeom prst="rect">
            <a:avLst/>
          </a:prstGeom>
          <a:noFill/>
          <a:ln/>
        </p:spPr>
        <p:txBody>
          <a:bodyPr wrap="square" lIns="0" tIns="0" rIns="0" bIns="0" rtlCol="0" anchor="t"/>
          <a:lstStyle/>
          <a:p>
            <a:pPr indent="0" marL="0">
              <a:buNone/>
            </a:pPr>
            <a:r>
              <a:rPr lang="en-US" sz="1500" b="1" dirty="0">
                <a:solidFill>
                  <a:schemeClr val="tx2"/>
                </a:solidFill>
              </a:rPr>
              <a:t>Database design and SQL</a:t>
            </a:r>
            <a:endParaRPr lang="en-US" sz="1500" dirty="0"/>
          </a:p>
        </p:txBody>
      </p:sp>
      <p:sp>
        <p:nvSpPr>
          <p:cNvPr id="15" name="Skill Forms and validation"/>
          <p:cNvSpPr/>
          <p:nvPr/>
        </p:nvSpPr>
        <p:spPr>
          <a:xfrm>
            <a:off x="6492240" y="329184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16" name="Icon circle FaWpforms"/>
          <p:cNvSpPr/>
          <p:nvPr/>
        </p:nvSpPr>
        <p:spPr>
          <a:xfrm>
            <a:off x="6675120" y="3474720"/>
            <a:ext cx="502920" cy="502920"/>
          </a:xfrm>
          <a:prstGeom prst="ellipse">
            <a:avLst/>
          </a:prstGeom>
          <a:solidFill>
            <a:schemeClr val="accent1"/>
          </a:solidFill>
          <a:ln/>
        </p:spPr>
      </p:sp>
      <p:pic>
        <p:nvPicPr>
          <p:cNvPr id="17" name="Image 2" descr="Wpforms icon">    </p:cNvPr>
          <p:cNvPicPr>
            <a:picLocks noChangeAspect="1"/>
          </p:cNvPicPr>
          <p:nvPr/>
        </p:nvPicPr>
        <p:blipFill>
          <a:blip r:embed="rId3"/>
          <a:stretch>
            <a:fillRect/>
          </a:stretch>
        </p:blipFill>
        <p:spPr>
          <a:xfrm>
            <a:off x="6805879" y="3605479"/>
            <a:ext cx="241402" cy="241402"/>
          </a:xfrm>
          <a:prstGeom prst="rect">
            <a:avLst/>
          </a:prstGeom>
        </p:spPr>
      </p:pic>
      <p:sp>
        <p:nvSpPr>
          <p:cNvPr id="18" name="Text 13"/>
          <p:cNvSpPr txBox="1"/>
          <p:nvPr/>
        </p:nvSpPr>
        <p:spPr>
          <a:xfrm>
            <a:off x="6675120" y="4069080"/>
            <a:ext cx="2194560" cy="457200"/>
          </a:xfrm>
          <a:prstGeom prst="rect">
            <a:avLst/>
          </a:prstGeom>
          <a:noFill/>
          <a:ln/>
        </p:spPr>
        <p:txBody>
          <a:bodyPr wrap="square" lIns="0" tIns="0" rIns="0" bIns="0" rtlCol="0" anchor="t"/>
          <a:lstStyle/>
          <a:p>
            <a:pPr indent="0" marL="0">
              <a:buNone/>
            </a:pPr>
            <a:r>
              <a:rPr lang="en-US" sz="1500" b="1" dirty="0">
                <a:solidFill>
                  <a:schemeClr val="tx2"/>
                </a:solidFill>
              </a:rPr>
              <a:t>Forms and validation</a:t>
            </a:r>
            <a:endParaRPr lang="en-US" sz="1500" dirty="0"/>
          </a:p>
        </p:txBody>
      </p:sp>
      <p:sp>
        <p:nvSpPr>
          <p:cNvPr id="19" name="Skill Jinja2 template rendering"/>
          <p:cNvSpPr/>
          <p:nvPr/>
        </p:nvSpPr>
        <p:spPr>
          <a:xfrm>
            <a:off x="9144000" y="329184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20" name="Icon circle FaCode"/>
          <p:cNvSpPr/>
          <p:nvPr/>
        </p:nvSpPr>
        <p:spPr>
          <a:xfrm>
            <a:off x="9326880" y="3474720"/>
            <a:ext cx="502920" cy="502920"/>
          </a:xfrm>
          <a:prstGeom prst="ellipse">
            <a:avLst/>
          </a:prstGeom>
          <a:solidFill>
            <a:schemeClr val="accent1"/>
          </a:solidFill>
          <a:ln/>
        </p:spPr>
      </p:sp>
      <p:pic>
        <p:nvPicPr>
          <p:cNvPr id="21" name="Image 3" descr="Code icon">    </p:cNvPr>
          <p:cNvPicPr>
            <a:picLocks noChangeAspect="1"/>
          </p:cNvPicPr>
          <p:nvPr/>
        </p:nvPicPr>
        <p:blipFill>
          <a:blip r:embed="rId4"/>
          <a:stretch>
            <a:fillRect/>
          </a:stretch>
        </p:blipFill>
        <p:spPr>
          <a:xfrm>
            <a:off x="9457639" y="3605479"/>
            <a:ext cx="241402" cy="241402"/>
          </a:xfrm>
          <a:prstGeom prst="rect">
            <a:avLst/>
          </a:prstGeom>
        </p:spPr>
      </p:pic>
      <p:sp>
        <p:nvSpPr>
          <p:cNvPr id="22" name="Text 16"/>
          <p:cNvSpPr txBox="1"/>
          <p:nvPr/>
        </p:nvSpPr>
        <p:spPr>
          <a:xfrm>
            <a:off x="9326880" y="4069080"/>
            <a:ext cx="2194560" cy="457200"/>
          </a:xfrm>
          <a:prstGeom prst="rect">
            <a:avLst/>
          </a:prstGeom>
          <a:noFill/>
          <a:ln/>
        </p:spPr>
        <p:txBody>
          <a:bodyPr wrap="square" lIns="0" tIns="0" rIns="0" bIns="0" rtlCol="0" anchor="t"/>
          <a:lstStyle/>
          <a:p>
            <a:pPr indent="0" marL="0">
              <a:buNone/>
            </a:pPr>
            <a:r>
              <a:rPr lang="en-US" sz="1500" b="1" dirty="0">
                <a:solidFill>
                  <a:schemeClr val="tx2"/>
                </a:solidFill>
              </a:rPr>
              <a:t>Jinja2 template rendering</a:t>
            </a:r>
            <a:endParaRPr lang="en-US" sz="1500" dirty="0"/>
          </a:p>
        </p:txBody>
      </p:sp>
      <p:sp>
        <p:nvSpPr>
          <p:cNvPr id="23" name="Skill Responsive UI design"/>
          <p:cNvSpPr/>
          <p:nvPr/>
        </p:nvSpPr>
        <p:spPr>
          <a:xfrm>
            <a:off x="6492240" y="470916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24" name="Icon circle FaMobileAlt"/>
          <p:cNvSpPr/>
          <p:nvPr/>
        </p:nvSpPr>
        <p:spPr>
          <a:xfrm>
            <a:off x="6675120" y="4892040"/>
            <a:ext cx="502920" cy="502920"/>
          </a:xfrm>
          <a:prstGeom prst="ellipse">
            <a:avLst/>
          </a:prstGeom>
          <a:solidFill>
            <a:schemeClr val="accent1"/>
          </a:solidFill>
          <a:ln/>
        </p:spPr>
      </p:sp>
      <p:pic>
        <p:nvPicPr>
          <p:cNvPr id="25" name="Image 4" descr="MobileAlt icon">    </p:cNvPr>
          <p:cNvPicPr>
            <a:picLocks noChangeAspect="1"/>
          </p:cNvPicPr>
          <p:nvPr/>
        </p:nvPicPr>
        <p:blipFill>
          <a:blip r:embed="rId5"/>
          <a:stretch>
            <a:fillRect/>
          </a:stretch>
        </p:blipFill>
        <p:spPr>
          <a:xfrm>
            <a:off x="6805879" y="5022799"/>
            <a:ext cx="241402" cy="241402"/>
          </a:xfrm>
          <a:prstGeom prst="rect">
            <a:avLst/>
          </a:prstGeom>
        </p:spPr>
      </p:pic>
      <p:sp>
        <p:nvSpPr>
          <p:cNvPr id="26" name="Text 19"/>
          <p:cNvSpPr txBox="1"/>
          <p:nvPr/>
        </p:nvSpPr>
        <p:spPr>
          <a:xfrm>
            <a:off x="6675120" y="5486400"/>
            <a:ext cx="2194560" cy="457200"/>
          </a:xfrm>
          <a:prstGeom prst="rect">
            <a:avLst/>
          </a:prstGeom>
          <a:noFill/>
          <a:ln/>
        </p:spPr>
        <p:txBody>
          <a:bodyPr wrap="square" lIns="0" tIns="0" rIns="0" bIns="0" rtlCol="0" anchor="t"/>
          <a:lstStyle/>
          <a:p>
            <a:pPr indent="0" marL="0">
              <a:buNone/>
            </a:pPr>
            <a:r>
              <a:rPr lang="en-US" sz="1500" b="1" dirty="0">
                <a:solidFill>
                  <a:schemeClr val="tx2"/>
                </a:solidFill>
              </a:rPr>
              <a:t>Responsive UI design</a:t>
            </a:r>
            <a:endParaRPr lang="en-US" sz="1500" dirty="0"/>
          </a:p>
        </p:txBody>
      </p:sp>
      <p:sp>
        <p:nvSpPr>
          <p:cNvPr id="27" name="Skill Testing and the SDLC"/>
          <p:cNvSpPr/>
          <p:nvPr/>
        </p:nvSpPr>
        <p:spPr>
          <a:xfrm>
            <a:off x="9144000" y="4709160"/>
            <a:ext cx="2468880" cy="1325880"/>
          </a:xfrm>
          <a:prstGeom prst="roundRect">
            <a:avLst>
              <a:gd name="adj" fmla="val 8276"/>
            </a:avLst>
          </a:prstGeom>
          <a:solidFill>
            <a:schemeClr val="bg2"/>
          </a:solidFill>
          <a:ln/>
          <a:effectLst>
            <a:outerShdw sx="100000" sy="100000" kx="0" ky="0" algn="bl" rotWithShape="0" blurRad="101600" dist="25400" dir="5400000">
              <a:srgbClr val="000000">
                <a:alpha val="12000"/>
              </a:srgbClr>
            </a:outerShdw>
          </a:effectLst>
        </p:spPr>
      </p:sp>
      <p:sp>
        <p:nvSpPr>
          <p:cNvPr id="28" name="Icon circle FaBug"/>
          <p:cNvSpPr/>
          <p:nvPr/>
        </p:nvSpPr>
        <p:spPr>
          <a:xfrm>
            <a:off x="9326880" y="4892040"/>
            <a:ext cx="502920" cy="502920"/>
          </a:xfrm>
          <a:prstGeom prst="ellipse">
            <a:avLst/>
          </a:prstGeom>
          <a:solidFill>
            <a:schemeClr val="accent1"/>
          </a:solidFill>
          <a:ln/>
        </p:spPr>
      </p:sp>
      <p:pic>
        <p:nvPicPr>
          <p:cNvPr id="29" name="Image 5" descr="Bug icon">    </p:cNvPr>
          <p:cNvPicPr>
            <a:picLocks noChangeAspect="1"/>
          </p:cNvPicPr>
          <p:nvPr/>
        </p:nvPicPr>
        <p:blipFill>
          <a:blip r:embed="rId6"/>
          <a:stretch>
            <a:fillRect/>
          </a:stretch>
        </p:blipFill>
        <p:spPr>
          <a:xfrm>
            <a:off x="9457639" y="5022799"/>
            <a:ext cx="241402" cy="241402"/>
          </a:xfrm>
          <a:prstGeom prst="rect">
            <a:avLst/>
          </a:prstGeom>
        </p:spPr>
      </p:pic>
      <p:sp>
        <p:nvSpPr>
          <p:cNvPr id="30" name="Text 22"/>
          <p:cNvSpPr txBox="1"/>
          <p:nvPr/>
        </p:nvSpPr>
        <p:spPr>
          <a:xfrm>
            <a:off x="9326880" y="5486400"/>
            <a:ext cx="2194560" cy="457200"/>
          </a:xfrm>
          <a:prstGeom prst="rect">
            <a:avLst/>
          </a:prstGeom>
          <a:noFill/>
          <a:ln/>
        </p:spPr>
        <p:txBody>
          <a:bodyPr wrap="square" lIns="0" tIns="0" rIns="0" bIns="0" rtlCol="0" anchor="t"/>
          <a:lstStyle/>
          <a:p>
            <a:pPr indent="0" marL="0">
              <a:buNone/>
            </a:pPr>
            <a:r>
              <a:rPr lang="en-US" sz="1500" b="1" dirty="0">
                <a:solidFill>
                  <a:schemeClr val="tx2"/>
                </a:solidFill>
              </a:rPr>
              <a:t>Testing and the SDLC</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Icon circle FaQuestionCircle"/>
          <p:cNvSpPr/>
          <p:nvPr/>
        </p:nvSpPr>
        <p:spPr>
          <a:xfrm>
            <a:off x="5669280" y="1325880"/>
            <a:ext cx="850392" cy="850392"/>
          </a:xfrm>
          <a:prstGeom prst="ellipse">
            <a:avLst/>
          </a:prstGeom>
          <a:solidFill>
            <a:schemeClr val="accent2"/>
          </a:solidFill>
          <a:ln/>
        </p:spPr>
      </p:sp>
      <p:pic>
        <p:nvPicPr>
          <p:cNvPr id="3" name="Image 0" descr="QuestionCircle icon">    </p:cNvPr>
          <p:cNvPicPr>
            <a:picLocks noChangeAspect="1"/>
          </p:cNvPicPr>
          <p:nvPr/>
        </p:nvPicPr>
        <p:blipFill>
          <a:blip r:embed="rId1"/>
          <a:stretch>
            <a:fillRect/>
          </a:stretch>
        </p:blipFill>
        <p:spPr>
          <a:xfrm>
            <a:off x="5890382" y="1546982"/>
            <a:ext cx="408188" cy="408188"/>
          </a:xfrm>
          <a:prstGeom prst="rect">
            <a:avLst/>
          </a:prstGeom>
        </p:spPr>
      </p:pic>
      <p:sp>
        <p:nvSpPr>
          <p:cNvPr id="4" name="Text 1"/>
          <p:cNvSpPr/>
          <p:nvPr>
            <p:ph idx="101" type="title" hasCustomPrompt="1"/>
          </p:nvPr>
        </p:nvSpPr>
        <p:spPr>
          <a:xfrm>
            <a:off x="914400" y="2468880"/>
            <a:ext cx="10362895" cy="1188720"/>
          </a:xfrm>
          <a:prstGeom prst="rect">
            <a:avLst/>
          </a:prstGeom>
          <a:noFill/>
          <a:ln/>
        </p:spPr>
        <p:txBody>
          <a:bodyPr wrap="square" lIns="0" tIns="0" rIns="0" bIns="0" rtlCol="0" anchor="ctr"/>
          <a:lstStyle/>
          <a:p>
            <a:pPr algn="ctr" indent="0" marL="0">
              <a:buNone/>
            </a:pPr>
            <a:r>
              <a:rPr lang="en-US" sz="5600" b="1" dirty="0">
                <a:solidFill>
                  <a:schemeClr val="bg1"/>
                </a:solidFill>
              </a:rPr>
              <a:t>Thank You</a:t>
            </a:r>
            <a:endParaRPr lang="en-US" sz="5600" dirty="0"/>
          </a:p>
        </p:txBody>
      </p:sp>
      <p:sp>
        <p:nvSpPr>
          <p:cNvPr id="5" name="Text 1"/>
          <p:cNvSpPr/>
          <p:nvPr>
            <p:ph idx="102" type="body" hasCustomPrompt="1"/>
          </p:nvPr>
        </p:nvSpPr>
        <p:spPr>
          <a:xfrm>
            <a:off x="914400" y="3749040"/>
            <a:ext cx="10362895" cy="548640"/>
          </a:xfrm>
          <a:prstGeom prst="rect">
            <a:avLst/>
          </a:prstGeom>
          <a:noFill/>
          <a:ln/>
        </p:spPr>
        <p:txBody>
          <a:bodyPr wrap="square" lIns="0" tIns="0" rIns="0" bIns="0" rtlCol="0" anchor="t"/>
          <a:lstStyle/>
          <a:p>
            <a:pPr algn="ctr" indent="0" marL="0">
              <a:buNone/>
            </a:pPr>
            <a:r>
              <a:rPr lang="en-US" sz="2400" dirty="0">
                <a:solidFill>
                  <a:schemeClr val="bg2"/>
                </a:solidFill>
              </a:rPr>
              <a:t>Questions and Discussion</a:t>
            </a:r>
            <a:endParaRPr lang="en-US" sz="2400" dirty="0"/>
          </a:p>
        </p:txBody>
      </p:sp>
      <p:sp>
        <p:nvSpPr>
          <p:cNvPr id="6" name="Text 3"/>
          <p:cNvSpPr txBox="1"/>
          <p:nvPr/>
        </p:nvSpPr>
        <p:spPr>
          <a:xfrm>
            <a:off x="914400" y="4937760"/>
            <a:ext cx="10362895" cy="365760"/>
          </a:xfrm>
          <a:prstGeom prst="rect">
            <a:avLst/>
          </a:prstGeom>
          <a:noFill/>
          <a:ln/>
        </p:spPr>
        <p:txBody>
          <a:bodyPr wrap="square" lIns="0" tIns="0" rIns="0" bIns="0" rtlCol="0" anchor="t"/>
          <a:lstStyle/>
          <a:p>
            <a:pPr algn="ctr" indent="0" marL="0">
              <a:buNone/>
            </a:pPr>
            <a:r>
              <a:rPr lang="en-US" sz="1600" dirty="0">
                <a:solidFill>
                  <a:schemeClr val="bg2"/>
                </a:solidFill>
              </a:rPr>
              <a:t>Niraimathi M  |  Summer Internship Review  |  Astonish InfoTech Private Limited</a:t>
            </a:r>
            <a:endParaRPr lang="en-US" sz="1600" dirty="0"/>
          </a:p>
        </p:txBody>
      </p:sp>
    </p:spTree>
  </p:cSld>
  <p:clrMapOvr>
    <a:masterClrMapping/>
  </p:clrMapOvr>
</p:sld>
</file>

<file path=ppt/theme/theme1.xml><?xml version="1.0" encoding="utf-8"?>
<a:theme xmlns:a="http://schemas.openxmlformats.org/drawingml/2006/main" name="Anna Maroon">
  <a:themeElements>
    <a:clrScheme name="Anna Maroon">
      <a:dk1>
        <a:srgbClr val="1F1417"/>
      </a:dk1>
      <a:lt1>
        <a:srgbClr val="FFFFFF"/>
      </a:lt1>
      <a:dk2>
        <a:srgbClr val="6B1A2A"/>
      </a:dk2>
      <a:lt2>
        <a:srgbClr val="F6F1F1"/>
      </a:lt2>
      <a:accent1>
        <a:srgbClr val="8E2436"/>
      </a:accent1>
      <a:accent2>
        <a:srgbClr val="D9A441"/>
      </a:accent2>
      <a:accent3>
        <a:srgbClr val="2F6F73"/>
      </a:accent3>
      <a:accent4>
        <a:srgbClr val="5B6770"/>
      </a:accent4>
      <a:accent5>
        <a:srgbClr val="B5495B"/>
      </a:accent5>
      <a:accent6>
        <a:srgbClr val="3E7D5A"/>
      </a:accent6>
      <a:hlink>
        <a:srgbClr val="8E2436"/>
      </a:hlink>
      <a:folHlink>
        <a:srgbClr val="5B6770"/>
      </a:folHlink>
    </a:clrScheme>
    <a:fontScheme name="Anna Maro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Course Enrollment System - Summer Internship Review</dc:title>
  <dc:subject>PptxGenJS Presentation</dc:subject>
  <dc:creator>Niraimathi M</dc:creator>
  <cp:lastModifiedBy>Niraimathi M</cp:lastModifiedBy>
  <cp:revision>1</cp:revision>
  <dcterms:created xsi:type="dcterms:W3CDTF">2026-10-20T04:18:53Z</dcterms:created>
  <dcterms:modified xsi:type="dcterms:W3CDTF">2026-10-20T04:18:53Z</dcterms:modified>
</cp:coreProperties>
</file>